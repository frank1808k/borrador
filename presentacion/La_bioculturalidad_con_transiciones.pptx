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Saludo. Presentarse como docente de la Universidad Tecnológica del Chocó y líder del grupo GIDSMA. La espiral de semillas anuncia el tema: la vida, la cultura y el territorio entrelazados.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pregunta. Amefrica Ladina es la categoría de Lélia González para nombrar la experiencia afro e indígena de las Américas. El mapa muestra América Latina y el Caribe, con Colombia resaltada. Datos del mapa: Natural Earth.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territorio desde donde se habla, con la pregunta de la canción de ChocQuibTown. El Chocó aparece resaltado en el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Sentencia T-622 de 2016 sobre el río Atrato marca el punto de partida: frente al modelo occidental, otras formas de relación con la naturaleza y otros saberes.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aérea del Atrato. El concepto que recorre toda la conferencia: derechos bioculturales.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momentos de la conferencia.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bloque: las voces afrodescendientes que la región no ha querido escuchar.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Pluralismo jurídico «boquipompo»: reconocido en el discurso, pero no en la práctica. La respuesta: interculturalidad crítica, enfrentar el racismo estructural y reconocer los territorios como derechos.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amefricanidad, categoría de Lélia González: el pueblo de la diáspora como sujeto de su propia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Nombrar a las mujeres: ellas sostienen la defensa del territorio y han sido borradas de la historia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comunidades cuidan la biodiversidad del planeta sin reconocimiento ni protección: guardianes invisibles y sin escudo.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justicia propia de las comunidades negras debe reconocerse como parte de la justicia constitucional, no como algo marginal.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bebidas tradicionales del Pacífico como saber ancestral y patrimonio colectivo de las comunidades. [Confirmar el nombre de la bebida y la norma que la reconoce, si se quiere mencionar.]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organizaciones de parteras, con el acompañamiento de Ilex Acción Jurídica, frente a las autoridades de salud nacionales y departamentales.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bloque. «Lo que se hereda no se hurta»: la bioculturalidad como herencia y como resistencia.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río Atrato: la existencia individual y la existencia en colectivo se unen en la bioculturalidad. La Sentencia T-622 de 2016 reconoció al río Atrato como sujeto de derechos.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relaciones que se superponen: interrelación, interconexión e interdependencia, entre la naturaleza, la biodiversidad y las formas de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la Corte Constitucional en la sentencia del río Atrato.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clave: naturaleza y cultura son interdependientes; no se pueden comprender por separado.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elementos de la bioculturalidad: de la unidad entre naturaleza y especie humana hasta lo colectivo.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el ubuntu y el muntu, la bioculturalidad reúne la familia, los sistemas y formas de vida, el territorio y la integridad étnica, cultural, social y espiritual.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bioculturalidad se protege como derecho humano, como derecho fundamental, como derecho a la cultura y como derechos bioculturales, todo dentro del Estado social de derecho.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abierta al auditorio sobre los modelos productivos propios y la conservación desde los territorios.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preguntas, una por clic. Dejar que el auditorio responda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 bloque. El dicho «medí tu cuarta y párate en ella»: conocer el propio lugar y defenderlo.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rasgos de la naturaleza jurídica de estos derechos. Existen antes de que el derecho escrito los reconozca y no caben en las categorías tradicionales.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contenido de los derechos no se lee solo en la norma: lo determinan el contexto histórico, el cultural y el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territorio como casa grande y útero mayor: el lugar que da y sostiene la vida. Dejar la imagen del río en silencio unos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contexto cultural: una cosmovisión propia y valores espirituales y culturales que dan sentido al territorio.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la lectura exegética, un análisis integral y holístico que incluya el bloque de constitucionalidad.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 los vacíos de la legislación especial, el principio de progresividad permite ampliar la protección; la categoría: derecho sui generis, prejurídico y fundamental.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Cuarto bloque: la ruta de la juntanza. Las trenzas como memoria y tejido colectivo.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«Soy porque somos»: lo comunitario por encima de lo individual. Leer la interseccionalidad desde el contexto y construir una ética del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pasos hacia un constitucionalismo de la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Enlaces completos: Hinestroza Cuesta (2018), bdigital.uexternado.edu.co; Hinestroza Cuesta (2023), redccal.com/wp-content/uploads/2023/02/Constitucionalismo-2023-23-Feb-2.pdf; Mejía (2021), ri.unam.mx.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Agradecer. Cerrar con la espiral de semillas: lo que se siembra en colectivo vuelve a crecer.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127621"/>
            <a:ext cx="10566466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879402"/>
            <a:ext cx="10566433" cy="41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127621"/>
            <a:ext cx="10566466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879402"/>
            <a:ext cx="10566433" cy="41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lexaccionjuridica.org/la-lucha-historica-y-poco-nombrada-de-las-mujeres-afrodescendientes/" TargetMode="External"/><Relationship Id="rId2" Type="http://schemas.openxmlformats.org/officeDocument/2006/relationships/hyperlink" Target="https://doi.org/10.15446/ts.v22n1.78887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spiral de semillas, tierra y hojas sobre arena">    </p:cNvPr>
          <p:cNvPicPr>
            <a:picLocks noChangeAspect="1"/>
          </p:cNvPicPr>
          <p:nvPr/>
        </p:nvPicPr>
        <p:blipFill>
          <a:blip r:embed="rId1"/>
          <a:srcRect l="2593" r="2593" t="0" b="0"/>
          <a:stretch/>
        </p:blipFill>
        <p:spPr>
          <a:xfrm>
            <a:off x="7315150" y="0"/>
            <a:ext cx="487676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150" y="0"/>
            <a:ext cx="101534" cy="6858000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4" name="Text 1"/>
          <p:cNvSpPr/>
          <p:nvPr/>
        </p:nvSpPr>
        <p:spPr>
          <a:xfrm>
            <a:off x="812767" y="2505025"/>
            <a:ext cx="614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JUNTANZAS · DERECHOS · MEMORIA · SABERES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767" y="2921496"/>
            <a:ext cx="6148070" cy="66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spc="-10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bioculturalidad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12767" y="3764690"/>
            <a:ext cx="6148070" cy="69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Entre juntanzas, derechos, memoria y saberes ancestrales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12767" y="5019229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8" name="Text 5"/>
          <p:cNvSpPr/>
          <p:nvPr/>
        </p:nvSpPr>
        <p:spPr>
          <a:xfrm>
            <a:off x="812767" y="5273146"/>
            <a:ext cx="6148070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Lisneider Hinestroza Cuesta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2767" y="5618592"/>
            <a:ext cx="61480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Docente · Líder del Grupo de Investigación «Derecho, Sociedad y Medio Ambiente» (GIDSMA)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Universidad Tecnológica del Chocó «Diego Luis Córdoba»</a:t>
            </a:r>
            <a:endParaRPr lang="en-US" sz="1200" dirty="0"/>
          </a:p>
        </p:txBody>
      </p:sp>
      <p:pic>
        <p:nvPicPr>
          <p:cNvPr id="10" name="Image 1" descr="Sello de la Universidad Tecnológica del Chocó">    </p:cNvPr>
          <p:cNvPicPr>
            <a:picLocks noChangeAspect="1"/>
          </p:cNvPicPr>
          <p:nvPr/>
        </p:nvPicPr>
        <p:blipFill>
          <a:blip r:embed="rId2"/>
          <a:srcRect l="-906" r="-906" t="0" b="0"/>
          <a:stretch/>
        </p:blipFill>
        <p:spPr>
          <a:xfrm>
            <a:off x="812767" y="508000"/>
            <a:ext cx="660383" cy="660383"/>
          </a:xfrm>
          <a:prstGeom prst="rect">
            <a:avLst/>
          </a:prstGeom>
        </p:spPr>
      </p:pic>
      <p:pic>
        <p:nvPicPr>
          <p:cNvPr id="11" name="Image 2" descr="Logo del grupo de investigación GIDSM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25534" y="508000"/>
            <a:ext cx="660383" cy="660383"/>
          </a:xfrm>
          <a:prstGeom prst="rect">
            <a:avLst/>
          </a:prstGeom>
        </p:spPr>
      </p:pic>
      <p:sp>
        <p:nvSpPr>
          <p:cNvPr id="12" name="Texto PT 12"/>
          <p:cNvSpPr/>
          <p:nvPr/>
        </p:nvSpPr>
        <p:spPr>
          <a:xfrm>
            <a:off x="812767" y="4536678"/>
            <a:ext cx="614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15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bioculturalidade: entre juntanzas, direitos, memória e saberes ancestrais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5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pa de América Latina y el Caribe con Colombia resaltada en naranja">    </p:cNvPr>
          <p:cNvPicPr>
            <a:picLocks noChangeAspect="1"/>
          </p:cNvPicPr>
          <p:nvPr/>
        </p:nvPicPr>
        <p:blipFill>
          <a:blip r:embed="rId1"/>
          <a:srcRect l="-39" r="-39" t="0" b="0"/>
          <a:stretch/>
        </p:blipFill>
        <p:spPr>
          <a:xfrm>
            <a:off x="7747000" y="762000"/>
            <a:ext cx="3810000" cy="4965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67" y="20870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PREGUNTA DE PARTIDA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767" y="2605153"/>
            <a:ext cx="6540500" cy="183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i="0" spc="-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¿Quiénes tejen y cómo se tejen nuevos mundos en Améfrica Ladina?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12767" y="4720166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07000" cy="6858000"/>
          </a:xfrm>
          <a:prstGeom prst="rect">
            <a:avLst/>
          </a:prstGeom>
          <a:solidFill>
            <a:srgbClr val="E8ECE6"/>
          </a:solidFill>
          <a:ln/>
        </p:spPr>
      </p:sp>
      <p:pic>
        <p:nvPicPr>
          <p:cNvPr id="3" name="Image 0" descr="Mapa de Colombia con el departamento del Chocó resaltado en naranja sobre la costa del Pacífico">    </p:cNvPr>
          <p:cNvPicPr>
            <a:picLocks noChangeAspect="1"/>
          </p:cNvPicPr>
          <p:nvPr/>
        </p:nvPicPr>
        <p:blipFill>
          <a:blip r:embed="rId1"/>
          <a:srcRect l="0" r="0" t="-179" b="-179"/>
          <a:stretch/>
        </p:blipFill>
        <p:spPr>
          <a:xfrm>
            <a:off x="571500" y="952500"/>
            <a:ext cx="4064000" cy="495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9000" y="2187111"/>
            <a:ext cx="5572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CHOCQUIBTOWN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5969000" y="2603582"/>
            <a:ext cx="5572540" cy="55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i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¿De dónde vengo yo?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969000" y="3340116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7" name="Text 4"/>
          <p:cNvSpPr/>
          <p:nvPr/>
        </p:nvSpPr>
        <p:spPr>
          <a:xfrm>
            <a:off x="5969000" y="3594033"/>
            <a:ext cx="5572540" cy="685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 Chocó, en el Pacífico colombiano: territorio de ríos, selva y comunidades negras.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69000" y="4457485"/>
            <a:ext cx="5572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Fuente del mapa: www.google.com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lecón de Quibdó y la catedral vistos desde el río Atrato">    </p:cNvPr>
          <p:cNvPicPr>
            <a:picLocks noChangeAspect="1"/>
          </p:cNvPicPr>
          <p:nvPr/>
        </p:nvPicPr>
        <p:blipFill>
          <a:blip r:embed="rId1"/>
          <a:srcRect l="6790" r="6790" t="0" b="0"/>
          <a:stretch/>
        </p:blipFill>
        <p:spPr>
          <a:xfrm>
            <a:off x="0" y="0"/>
            <a:ext cx="444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57775" y="809625"/>
            <a:ext cx="632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SENTENCIA T-622 DE 2016 · M.P. JORGE IVÁN PALACIO PALACIO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5057775" y="1123950"/>
            <a:ext cx="6324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 formas de mirar la naturaleza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057775" y="2171700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6" name="Text 3"/>
          <p:cNvSpPr/>
          <p:nvPr/>
        </p:nvSpPr>
        <p:spPr>
          <a:xfrm>
            <a:off x="5054534" y="3048000"/>
            <a:ext cx="2857500" cy="934641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203200" tIns="203200" rIns="129667" bIns="1778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Cambio occidental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12033" y="3048000"/>
            <a:ext cx="609534" cy="934641"/>
          </a:xfrm>
          <a:prstGeom prst="rect">
            <a:avLst/>
          </a:prstGeom>
          <a:solidFill>
            <a:srgbClr val="FC8400"/>
          </a:solidFill>
          <a:ln/>
        </p:spPr>
        <p:txBody>
          <a:bodyPr wrap="square" lIns="25400" tIns="203200" rIns="25400" bIns="17780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21567" y="3048000"/>
            <a:ext cx="2857500" cy="934641"/>
          </a:xfrm>
          <a:prstGeom prst="rect">
            <a:avLst/>
          </a:prstGeom>
          <a:solidFill>
            <a:srgbClr val="0C5837"/>
          </a:solidFill>
          <a:ln/>
        </p:spPr>
        <p:txBody>
          <a:bodyPr wrap="square" lIns="203200" tIns="203200" rIns="129667" bIns="1778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Nuevas formas de relación con la naturaleza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54534" y="4445000"/>
            <a:ext cx="2857500" cy="934641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203200" tIns="203200" rIns="129667" bIns="1778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Epistemologías eurocéntricas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12033" y="4445000"/>
            <a:ext cx="609534" cy="934641"/>
          </a:xfrm>
          <a:prstGeom prst="rect">
            <a:avLst/>
          </a:prstGeom>
          <a:solidFill>
            <a:srgbClr val="FC8400"/>
          </a:solidFill>
          <a:ln/>
        </p:spPr>
        <p:txBody>
          <a:bodyPr wrap="square" lIns="25400" tIns="203200" rIns="25400" bIns="17780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21567" y="4445000"/>
            <a:ext cx="2857500" cy="934641"/>
          </a:xfrm>
          <a:prstGeom prst="rect">
            <a:avLst/>
          </a:prstGeom>
          <a:solidFill>
            <a:srgbClr val="0C5837"/>
          </a:solidFill>
          <a:ln/>
        </p:spPr>
        <p:txBody>
          <a:bodyPr wrap="square" lIns="203200" tIns="203200" rIns="129667" bIns="1778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Epistemologías del sur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ta aérea del río Atrato serpenteando junto a Quibdó">    </p:cNvPr>
          <p:cNvPicPr>
            <a:picLocks noChangeAspect="1"/>
          </p:cNvPicPr>
          <p:nvPr/>
        </p:nvPicPr>
        <p:blipFill>
          <a:blip r:embed="rId1"/>
          <a:srcRect l="0" r="0" t="5825" b="58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171B">
                  <a:alpha val="92000"/>
                </a:srgbClr>
              </a:gs>
              <a:gs pos="50000">
                <a:srgbClr val="0E171B">
                  <a:alpha val="50000"/>
                </a:srgbClr>
              </a:gs>
              <a:gs pos="100000">
                <a:srgbClr val="0E171B">
                  <a:alpha val="500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4551824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RÍO ATRATO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767" y="4917529"/>
            <a:ext cx="1088346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0" spc="-10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bioculturales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767" y="5831911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0D4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Fuente de la imagen: www.google.com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RUTA DE LA CONFERENCIA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33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82434"/>
            <a:ext cx="5181616" cy="1470091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6" name="Shape 4"/>
          <p:cNvSpPr/>
          <p:nvPr/>
        </p:nvSpPr>
        <p:spPr>
          <a:xfrm>
            <a:off x="812767" y="2107834"/>
            <a:ext cx="5181616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767" y="2384059"/>
            <a:ext cx="417000" cy="939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36117" y="2384059"/>
            <a:ext cx="4227394" cy="564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voz sin voz desde hace mucho tiempo en toda la región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7534" y="2082434"/>
            <a:ext cx="5181699" cy="1470091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534" y="2107834"/>
            <a:ext cx="5181699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1534" y="2384059"/>
            <a:ext cx="291819" cy="939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086600" y="2384059"/>
            <a:ext cx="4162425" cy="834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bioculturalidad: filosofía de la resistencia de la vida, social, política, ambiental y espiritual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767" y="3755678"/>
            <a:ext cx="5181616" cy="1470091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67" y="3781078"/>
            <a:ext cx="5181616" cy="0"/>
          </a:xfrm>
          <a:prstGeom prst="line">
            <a:avLst/>
          </a:prstGeom>
          <a:noFill/>
          <a:ln w="50800">
            <a:solidFill>
              <a:srgbClr val="1560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767" y="4057303"/>
            <a:ext cx="509273" cy="939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5608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728391" y="4057303"/>
            <a:ext cx="4132352" cy="564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¿Quién decide los derechos y cuáles derechos?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97534" y="3755678"/>
            <a:ext cx="5181699" cy="1470091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7534" y="3781078"/>
            <a:ext cx="5181699" cy="0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1534" y="4057303"/>
            <a:ext cx="585986" cy="4826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5608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143006" y="4057303"/>
            <a:ext cx="2382937" cy="29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ruta de la juntanza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54933" y="6238295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5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ujeres y niños lavando ropa a la orilla del río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5837">
                  <a:alpha val="96000"/>
                </a:srgbClr>
              </a:gs>
              <a:gs pos="50000">
                <a:srgbClr val="0C5837">
                  <a:alpha val="85000"/>
                </a:srgbClr>
              </a:gs>
              <a:gs pos="100000">
                <a:srgbClr val="0C5837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2842583"/>
            <a:ext cx="108834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767" y="4010968"/>
            <a:ext cx="7194550" cy="119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voz sin voz desde hace mucho tiempo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12767" y="5336611"/>
            <a:ext cx="65405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 toda la región</a:t>
            </a:r>
            <a:endParaRPr lang="en-US" sz="1800" dirty="0"/>
          </a:p>
        </p:txBody>
      </p:sp>
      <p:sp>
        <p:nvSpPr>
          <p:cNvPr id="7" name="Texto PT 7"/>
          <p:cNvSpPr/>
          <p:nvPr/>
        </p:nvSpPr>
        <p:spPr>
          <a:xfrm>
            <a:off x="812767" y="5746781"/>
            <a:ext cx="654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1400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Uma voz sem voz há muito tempo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VOZ SIN VOZ DESDE HACE MUCHO TIEMPO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agendas pendientes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33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06532"/>
            <a:ext cx="5181534" cy="1828767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6" name="Shape 4"/>
          <p:cNvSpPr/>
          <p:nvPr/>
        </p:nvSpPr>
        <p:spPr>
          <a:xfrm>
            <a:off x="812767" y="2031932"/>
            <a:ext cx="5181534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767" y="2308157"/>
            <a:ext cx="481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STORINI · WOLKMER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767" y="2623012"/>
            <a:ext cx="4813740" cy="28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¿Pluralismo jurídico «boquipompo» en la región?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534" y="2006532"/>
            <a:ext cx="5181534" cy="1828767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534" y="2031932"/>
            <a:ext cx="5181534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1534" y="2308157"/>
            <a:ext cx="481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WALSH (2001)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51534" y="2623012"/>
            <a:ext cx="481374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Más allá del multiculturalismo, la interculturalidad siempre; en especial, la interculturalidad crítica.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67" y="3987766"/>
            <a:ext cx="5181534" cy="1828767"/>
          </a:xfrm>
          <a:prstGeom prst="rect">
            <a:avLst/>
          </a:prstGeom>
          <a:solidFill>
            <a:srgbClr val="0C5837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767" y="4241763"/>
            <a:ext cx="481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RACISMO ESTRUCTURAL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767" y="4556621"/>
            <a:ext cx="4813740" cy="745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«agendas pendientes» de los afrodescendientes en América Latina, entre ellas resolver el racismo estructural y sistémico, deben abordarse para materializar sus derechos.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7534" y="3987766"/>
            <a:ext cx="5181534" cy="1828767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7534" y="4013166"/>
            <a:ext cx="5181534" cy="0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1534" y="4289388"/>
            <a:ext cx="481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TERRITORIO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1534" y="4604246"/>
            <a:ext cx="4813740" cy="745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ordenación, planeación, aprovechamiento y administración de los territorios afrodescendientes deben mirarse como derechos humanos y derechos garantes.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118401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AMEFRICANIDAD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38167" y="2585721"/>
            <a:ext cx="0" cy="1950641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65159" y="2585721"/>
            <a:ext cx="1052049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«La amefricanidad puede entenderse como una epistemología afrocéntrica que afirma el proceso histórico y cultural de la diáspora africana en las Américas pre y poscoloniales, e inscribe al sujeto diaspórico como </a:t>
            </a:r>
            <a:r>
              <a:rPr lang="en-US" sz="2000" b="1" i="1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agente de su propia historia</a:t>
            </a:r>
            <a:r>
              <a:rPr lang="en-US" sz="2000" i="1" dirty="0">
                <a:solidFill>
                  <a:srgbClr val="1A1A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referenciada en una experiencia de organización social y lucha colectiva.»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65159" y="4287490"/>
            <a:ext cx="10520496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Santos (2020)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1810990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LAS MUJERES AFRODESCENDIENTES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2329073"/>
            <a:ext cx="10203180" cy="217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Son </a:t>
            </a:r>
            <a:r>
              <a:rPr lang="en-US" sz="2600" b="1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pilares de la defensa</a:t>
            </a:r>
            <a:r>
              <a:rPr lang="en-US" sz="2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los derechos de su población, sus realidades y territorios. Pero su labor ha sido invisibilizada por el machismo, incluso dentro de las organizaciones, y por una historia oficial que nombra a los hombres y omite los nombres y legados de ellas.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767" y="4900910"/>
            <a:ext cx="406383" cy="25383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1371534" y="4780273"/>
            <a:ext cx="2545854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6E6E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Ilex Acción Jurídica (2021)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VOZ SIN VOZ DESDE HACE MUCHO TIEMPO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¿Qué gobernanza?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33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82434"/>
            <a:ext cx="5181616" cy="1787839"/>
          </a:xfrm>
          <a:prstGeom prst="rect">
            <a:avLst/>
          </a:prstGeom>
          <a:solidFill>
            <a:srgbClr val="0C5837"/>
          </a:solidFill>
          <a:ln/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534" y="2387203"/>
            <a:ext cx="406383" cy="4063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534" y="2895116"/>
            <a:ext cx="4709245" cy="69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Gobernanza que reconoce diferencias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197534" y="2082434"/>
            <a:ext cx="5181699" cy="1787839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2301" y="2387203"/>
            <a:ext cx="406383" cy="4063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2301" y="2895116"/>
            <a:ext cx="4709330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a la gobernanza neoliberal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838167" y="4225807"/>
            <a:ext cx="0" cy="685767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14392" y="4225807"/>
            <a:ext cx="10572786" cy="711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pueblos afrodescendientes no pueden seguir siendo «guardianes invisibles y sin escudo» de la biodiversidad del planeta.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309068"/>
            <a:ext cx="65929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PLURALISMO JURÍDICO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2725539"/>
            <a:ext cx="6592960" cy="66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justicia propia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767" y="3568731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812767" y="3822650"/>
            <a:ext cx="659296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2F2F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reconocimiento de la justicia ancestral del pueblo negro </a:t>
            </a:r>
            <a:r>
              <a:rPr lang="en-US" sz="2200" b="1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también es justicia constitucional.</a:t>
            </a:r>
            <a:endParaRPr lang="en-US" sz="2200" dirty="0"/>
          </a:p>
        </p:txBody>
      </p:sp>
      <p:pic>
        <p:nvPicPr>
          <p:cNvPr id="6" name="Image 0" descr="Fotografía de un documento comunitario impreso con los logos de la UTCH y GIDSMA">    </p:cNvPr>
          <p:cNvPicPr>
            <a:picLocks noChangeAspect="1"/>
          </p:cNvPicPr>
          <p:nvPr/>
        </p:nvPicPr>
        <p:blipFill>
          <a:blip r:embed="rId1"/>
          <a:srcRect l="222" r="222" t="0" b="0"/>
          <a:stretch/>
        </p:blipFill>
        <p:spPr>
          <a:xfrm rot="120000">
            <a:off x="7823233" y="1142998"/>
            <a:ext cx="3556000" cy="4572000"/>
          </a:xfrm>
          <a:prstGeom prst="roundRect">
            <a:avLst>
              <a:gd name="adj" fmla="val 714"/>
            </a:avLst>
          </a:prstGeom>
          <a:effectLst>
            <a:outerShdw sx="100000" sy="100000" kx="0" ky="0" algn="bl" rotWithShape="0" blurRad="304800" dist="1016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SABERES ANCESTRALES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Patrimonio colectivo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33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pic>
        <p:nvPicPr>
          <p:cNvPr id="5" name="Image 0" descr="Mujer afrodescendiente levanta una botella en una manifestación, con el texto «Declararlo como patrimonio colectivo»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812767" y="2031665"/>
            <a:ext cx="6908767" cy="3505150"/>
          </a:xfrm>
          <a:prstGeom prst="roundRect">
            <a:avLst>
              <a:gd name="adj" fmla="val 725"/>
            </a:avLst>
          </a:prstGeom>
        </p:spPr>
      </p:pic>
      <p:pic>
        <p:nvPicPr>
          <p:cNvPr id="6" name="Image 1" descr="Botellas de bebidas tradicionales sobre una mesa de madera">    </p:cNvPr>
          <p:cNvPicPr>
            <a:picLocks noChangeAspect="1"/>
          </p:cNvPicPr>
          <p:nvPr/>
        </p:nvPicPr>
        <p:blipFill>
          <a:blip r:embed="rId2"/>
          <a:srcRect l="3751" r="3751" t="0" b="0"/>
          <a:stretch/>
        </p:blipFill>
        <p:spPr>
          <a:xfrm>
            <a:off x="7907817" y="2031665"/>
            <a:ext cx="3473400" cy="1676383"/>
          </a:xfrm>
          <a:prstGeom prst="roundRect">
            <a:avLst>
              <a:gd name="adj" fmla="val 1515"/>
            </a:avLst>
          </a:prstGeom>
        </p:spPr>
      </p:pic>
      <p:pic>
        <p:nvPicPr>
          <p:cNvPr id="7" name="Image 2" descr="Vendedora con turbante entre estantes de botellas de bebidas tradicionales">    </p:cNvPr>
          <p:cNvPicPr>
            <a:picLocks noChangeAspect="1"/>
          </p:cNvPicPr>
          <p:nvPr/>
        </p:nvPicPr>
        <p:blipFill>
          <a:blip r:embed="rId3"/>
          <a:srcRect l="0" r="0" t="14711" b="14711"/>
          <a:stretch/>
        </p:blipFill>
        <p:spPr>
          <a:xfrm>
            <a:off x="7907817" y="3860434"/>
            <a:ext cx="3473400" cy="1676383"/>
          </a:xfrm>
          <a:prstGeom prst="roundRect">
            <a:avLst>
              <a:gd name="adj" fmla="val 1515"/>
            </a:avLst>
          </a:prstGeom>
        </p:spPr>
      </p:pic>
      <p:sp>
        <p:nvSpPr>
          <p:cNvPr id="8" name="Text 3"/>
          <p:cNvSpPr/>
          <p:nvPr/>
        </p:nvSpPr>
        <p:spPr>
          <a:xfrm>
            <a:off x="812767" y="6238292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Fuente: imágenes tomadas de www.google.com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PARTERÍA TRADICIONAL DEL PACÍFICO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Quiénes se juntaron en la defensa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33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31665"/>
            <a:ext cx="5207000" cy="3429000"/>
          </a:xfrm>
          <a:prstGeom prst="rect">
            <a:avLst/>
          </a:prstGeom>
          <a:solidFill>
            <a:srgbClr val="F0F0F0"/>
          </a:solidFill>
          <a:ln/>
        </p:spPr>
      </p:sp>
      <p:pic>
        <p:nvPicPr>
          <p:cNvPr id="6" name="Image 0" descr="Noticia de El Tiempo: «Piden a la Corte revisar tutela para proteger a las parteras del Chocó»">    </p:cNvPr>
          <p:cNvPicPr>
            <a:picLocks noChangeAspect="1"/>
          </p:cNvPicPr>
          <p:nvPr/>
        </p:nvPicPr>
        <p:blipFill>
          <a:blip r:embed="rId1"/>
          <a:srcRect l="0" r="0" t="-8462" b="-8462"/>
          <a:stretch/>
        </p:blipFill>
        <p:spPr>
          <a:xfrm>
            <a:off x="819117" y="2038015"/>
            <a:ext cx="5194300" cy="3416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942" y="2034840"/>
            <a:ext cx="5200650" cy="3422650"/>
          </a:xfrm>
          <a:prstGeom prst="rect">
            <a:avLst/>
          </a:prstGeom>
          <a:noFill/>
          <a:ln w="6350">
            <a:solidFill>
              <a:srgbClr val="E3E6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6150" y="2031665"/>
            <a:ext cx="4953083" cy="493944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189442" tIns="127000" rIns="14063" bIns="10160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Asociación de Parteras Unidas del Pacífico (Asoparupa)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45200" y="2031665"/>
            <a:ext cx="0" cy="493944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6150" y="2652613"/>
            <a:ext cx="4953083" cy="733888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189442" tIns="127000" rIns="14063" bIns="10160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Asociación de la Red Interétnica de Parteras y Parteros del Chocó (Asorediparchoco)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45200" y="2652613"/>
            <a:ext cx="0" cy="733888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150" y="3513497"/>
            <a:ext cx="4953083" cy="493944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189442" tIns="127000" rIns="14063" bIns="10160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Ilex Acción Jurídica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45200" y="3513497"/>
            <a:ext cx="0" cy="493944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6150" y="4134445"/>
            <a:ext cx="4953083" cy="7338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189442" tIns="127000" rIns="14063" bIns="10160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Ministerio de Salud, Secretaría de Salud del Chocó y Secretaría Departamental del Valle del Cauca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45200" y="4134445"/>
            <a:ext cx="0" cy="733888"/>
          </a:xfrm>
          <a:prstGeom prst="line">
            <a:avLst/>
          </a:prstGeom>
          <a:noFill/>
          <a:ln w="38100">
            <a:solidFill>
              <a:srgbClr val="5857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767" y="6238292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Fuente: El Tiempo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5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erta elevada de madera junto a palmeras y una casa">    </p:cNvPr>
          <p:cNvPicPr>
            <a:picLocks noChangeAspect="1"/>
          </p:cNvPicPr>
          <p:nvPr/>
        </p:nvPicPr>
        <p:blipFill>
          <a:blip r:embed="rId1"/>
          <a:srcRect l="0" r="0" t="28906" b="289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5837">
                  <a:alpha val="96000"/>
                </a:srgbClr>
              </a:gs>
              <a:gs pos="50000">
                <a:srgbClr val="0C5837">
                  <a:alpha val="85000"/>
                </a:srgbClr>
              </a:gs>
              <a:gs pos="100000">
                <a:srgbClr val="0C5837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2441327"/>
            <a:ext cx="1088346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 QUE SE HEREDA NO SE HURTA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767" y="2842580"/>
            <a:ext cx="108834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767" y="4010968"/>
            <a:ext cx="7194550" cy="119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bioculturalidad: filosofía de la resistencia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2767" y="5336611"/>
            <a:ext cx="65405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 la vida, social, política, ambiental y espiritual</a:t>
            </a:r>
            <a:endParaRPr lang="en-US" sz="1800" dirty="0"/>
          </a:p>
        </p:txBody>
      </p:sp>
      <p:sp>
        <p:nvSpPr>
          <p:cNvPr id="8" name="Texto PT 8"/>
          <p:cNvSpPr/>
          <p:nvPr/>
        </p:nvSpPr>
        <p:spPr>
          <a:xfrm>
            <a:off x="812767" y="5746781"/>
            <a:ext cx="654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1400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bioculturalidade: filosofia da resistência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ío Atrato entre la selva bajo un cielo nubl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171B">
                  <a:alpha val="75000"/>
                </a:srgbClr>
              </a:gs>
              <a:gs pos="45000">
                <a:srgbClr val="0E171B">
                  <a:alpha val="20000"/>
                </a:srgbClr>
              </a:gs>
              <a:gs pos="100000">
                <a:srgbClr val="0E171B">
                  <a:alpha val="85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RÍO ATRATO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767" y="1229233"/>
            <a:ext cx="108834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río también es sujeto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767" y="4572000"/>
            <a:ext cx="3302000" cy="708505"/>
          </a:xfrm>
          <a:prstGeom prst="roundRect">
            <a:avLst>
              <a:gd name="adj" fmla="val 3585"/>
            </a:avLst>
          </a:prstGeom>
          <a:solidFill>
            <a:srgbClr val="FFFFFF">
              <a:alpha val="92000"/>
            </a:srgbClr>
          </a:solidFill>
          <a:ln/>
        </p:spPr>
        <p:txBody>
          <a:bodyPr wrap="square" lIns="152275" tIns="195761" rIns="152276" bIns="170261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Existencia individual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45000" y="4572000"/>
            <a:ext cx="3302000" cy="708505"/>
          </a:xfrm>
          <a:prstGeom prst="roundRect">
            <a:avLst>
              <a:gd name="adj" fmla="val 3585"/>
            </a:avLst>
          </a:prstGeom>
          <a:solidFill>
            <a:srgbClr val="FFFFFF">
              <a:alpha val="92000"/>
            </a:srgbClr>
          </a:solidFill>
          <a:ln/>
        </p:spPr>
        <p:txBody>
          <a:bodyPr wrap="square" lIns="152275" tIns="195761" rIns="152275" bIns="170261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Existencia en colectivo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77150" y="4572000"/>
            <a:ext cx="3302000" cy="708505"/>
          </a:xfrm>
          <a:prstGeom prst="roundRect">
            <a:avLst>
              <a:gd name="adj" fmla="val 3585"/>
            </a:avLst>
          </a:prstGeom>
          <a:solidFill>
            <a:srgbClr val="FC8400"/>
          </a:solidFill>
          <a:ln/>
        </p:spPr>
        <p:txBody>
          <a:bodyPr wrap="square" lIns="152275" tIns="195761" rIns="152275" bIns="170261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Bioculturalidad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CONCEPTO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Bioculturalidad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2730500" y="1905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0C5837">
              <a:alpha val="9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Interrelación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89500" y="1905000"/>
            <a:ext cx="2413000" cy="2413000"/>
          </a:xfrm>
          <a:prstGeom prst="roundRect">
            <a:avLst>
              <a:gd name="adj" fmla="val 50000"/>
            </a:avLst>
          </a:prstGeom>
          <a:solidFill>
            <a:srgbClr val="156082">
              <a:alpha val="88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Interconexión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0" y="1905000"/>
            <a:ext cx="2413000" cy="2413000"/>
          </a:xfrm>
          <a:custGeom>
            <a:avLst/>
            <a:gdLst/>
            <a:ahLst/>
            <a:cxnLst/>
            <a:rect l="l" t="t" r="r" b="b"/>
            <a:pathLst>
              <a:path w="2413000" h="2413000">
                <a:moveTo>
                  <a:pt x="1206500" y="0"/>
                </a:moveTo>
                <a:lnTo>
                  <a:pt x="1206500" y="0"/>
                </a:lnTo>
                <a:arcTo hR="1206500" wR="1206500" stAng="16200000" swAng="5400000"/>
                <a:lnTo>
                  <a:pt x="2413000" y="1206500"/>
                </a:lnTo>
                <a:arcTo hR="1206500" wR="1206500" stAng="0" swAng="5400000"/>
                <a:lnTo>
                  <a:pt x="1206500" y="2413000"/>
                </a:lnTo>
                <a:arcTo hR="1206500" wR="1206500" stAng="5400000" swAng="5400000"/>
                <a:lnTo>
                  <a:pt x="0" y="1206500"/>
                </a:lnTo>
                <a:arcTo hR="1206500" wR="1206500" stAng="10800000" swAng="5400000"/>
                <a:close/>
              </a:path>
            </a:pathLst>
          </a:custGeom>
          <a:solidFill>
            <a:srgbClr val="FC8400">
              <a:alpha val="88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Interdependencia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23814" y="4699000"/>
            <a:ext cx="1292655" cy="469718"/>
          </a:xfrm>
          <a:prstGeom prst="roundRect">
            <a:avLst>
              <a:gd name="adj" fmla="val 50000"/>
            </a:avLst>
          </a:prstGeom>
          <a:solidFill>
            <a:srgbClr val="EEF3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Naturaleza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43469" y="4699000"/>
            <a:ext cx="1536733" cy="469718"/>
          </a:xfrm>
          <a:prstGeom prst="roundRect">
            <a:avLst>
              <a:gd name="adj" fmla="val 50000"/>
            </a:avLst>
          </a:prstGeom>
          <a:solidFill>
            <a:srgbClr val="EEF3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Biodiversidad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07202" y="4699000"/>
            <a:ext cx="1565176" cy="469718"/>
          </a:xfrm>
          <a:prstGeom prst="roundRect">
            <a:avLst>
              <a:gd name="adj" fmla="val 50000"/>
            </a:avLst>
          </a:prstGeom>
          <a:solidFill>
            <a:srgbClr val="EEF3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 de vida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99378" y="4699000"/>
            <a:ext cx="1439995" cy="469718"/>
          </a:xfrm>
          <a:prstGeom prst="roundRect">
            <a:avLst>
              <a:gd name="adj" fmla="val 50000"/>
            </a:avLst>
          </a:prstGeom>
          <a:solidFill>
            <a:srgbClr val="EEF3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Coexistencia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373" y="4699000"/>
            <a:ext cx="1801730" cy="469718"/>
          </a:xfrm>
          <a:prstGeom prst="roundRect">
            <a:avLst>
              <a:gd name="adj" fmla="val 50000"/>
            </a:avLst>
          </a:prstGeom>
          <a:solidFill>
            <a:srgbClr val="EEF3E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Influencia mutua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erta elevada de madera con tierra preparada para sembrar">    </p:cNvPr>
          <p:cNvPicPr>
            <a:picLocks noChangeAspect="1"/>
          </p:cNvPicPr>
          <p:nvPr/>
        </p:nvPicPr>
        <p:blipFill>
          <a:blip r:embed="rId1"/>
          <a:srcRect l="10494" r="10494" t="0" b="0"/>
          <a:stretch/>
        </p:blipFill>
        <p:spPr>
          <a:xfrm>
            <a:off x="0" y="0"/>
            <a:ext cx="4064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534" y="6238292"/>
            <a:ext cx="6906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Corte Constitucional, Sentencia T-622 de 2016. M.P. Jorge Iván Palacio Palacio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267200" y="1743075"/>
            <a:ext cx="732472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bioculturales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267200" y="1428750"/>
            <a:ext cx="7324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QUÉ SON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67200" y="2314575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7" name="Text 4"/>
          <p:cNvSpPr/>
          <p:nvPr/>
        </p:nvSpPr>
        <p:spPr>
          <a:xfrm>
            <a:off x="4267200" y="2590800"/>
            <a:ext cx="7323912" cy="1590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de las comunidades étnicas a </a:t>
            </a:r>
            <a:r>
              <a:rPr lang="en-US" sz="1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administrar y ejercer tutela de manera autónoma sobre sus territorios</a:t>
            </a:r>
            <a:r>
              <a:rPr lang="en-US" sz="17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según sus propias leyes y costumbres, y sobre los recursos naturales de su hábitat, donde se desarrollan su cultura, sus tradiciones y su forma de vida, con base en su </a:t>
            </a: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especial relación con el medio ambiente y la biodiversidad</a:t>
            </a:r>
            <a:r>
              <a:rPr lang="en-US" sz="17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5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087972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NATURALEZA Y CULTURA NO SE SEPARAN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2555292"/>
            <a:ext cx="10203180" cy="171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35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«Estos derechos resultan del reconocimiento de la profunda e intrínseca conexión que existe entre la naturaleza, sus recursos y la cultura de las comunidades étnicas e indígenas que los habitan, los cuales son interdependientes entre sí y no pueden comprenderse aisladamente.»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12767" y="4623916"/>
            <a:ext cx="406383" cy="25383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1371534" y="4503291"/>
            <a:ext cx="2360612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Sentencia T-622 de 2016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BIOCULTURALIDAD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 que la compone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31665"/>
            <a:ext cx="2527267" cy="13372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767" y="2050715"/>
            <a:ext cx="2527267" cy="0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917" y="2271861"/>
            <a:ext cx="2184595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5917" y="2703537"/>
            <a:ext cx="2184595" cy="48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Unidad entre naturaleza y especie humana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92417" y="2031665"/>
            <a:ext cx="2527350" cy="13372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417" y="2050715"/>
            <a:ext cx="2527350" cy="0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5567" y="2271861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95567" y="2703537"/>
            <a:ext cx="2184680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Múltiples modos de vida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150" y="2031665"/>
            <a:ext cx="2527350" cy="13372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150" y="2050715"/>
            <a:ext cx="2527350" cy="0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5301" y="2271861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75301" y="2703537"/>
            <a:ext cx="2184680" cy="48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Concepto diferenciado de territorio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51883" y="2031665"/>
            <a:ext cx="2527350" cy="13372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1883" y="2050715"/>
            <a:ext cx="2527350" cy="0"/>
          </a:xfrm>
          <a:prstGeom prst="line">
            <a:avLst/>
          </a:prstGeom>
          <a:noFill/>
          <a:ln w="38100">
            <a:solidFill>
              <a:srgbClr val="0C58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5033" y="2271861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5033" y="2703537"/>
            <a:ext cx="2184680" cy="48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Diversidad de culturas, prácticas y lenguajes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767" y="3521273"/>
            <a:ext cx="2527267" cy="156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67" y="3540323"/>
            <a:ext cx="2527267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5917" y="3761457"/>
            <a:ext cx="2184595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5917" y="4193146"/>
            <a:ext cx="2184595" cy="7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Conservación y uso sostenible de la biodiversidad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92417" y="3521273"/>
            <a:ext cx="2527350" cy="156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92417" y="3540323"/>
            <a:ext cx="252735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5567" y="3761457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95567" y="4193146"/>
            <a:ext cx="2184680" cy="48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Significados espirituales y culturales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150" y="3521273"/>
            <a:ext cx="2527350" cy="156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150" y="3540323"/>
            <a:ext cx="252735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5301" y="3761457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75301" y="4193146"/>
            <a:ext cx="2184680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Visión holística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51883" y="3521273"/>
            <a:ext cx="2527350" cy="156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851883" y="3540323"/>
            <a:ext cx="252735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5033" y="3761457"/>
            <a:ext cx="218468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55033" y="4193146"/>
            <a:ext cx="2184680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 colectivo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4447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MENA Y MENESES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444754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ubuntu y el muntu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pic>
        <p:nvPicPr>
          <p:cNvPr id="5" name="Image 0" descr="Comunidad reunida a la orilla del río lavando y conversando">    </p:cNvPr>
          <p:cNvPicPr>
            <a:picLocks noChangeAspect="1"/>
          </p:cNvPicPr>
          <p:nvPr/>
        </p:nvPicPr>
        <p:blipFill>
          <a:blip r:embed="rId1"/>
          <a:srcRect l="0" r="0" t="2941" b="2941"/>
          <a:stretch/>
        </p:blipFill>
        <p:spPr>
          <a:xfrm>
            <a:off x="812767" y="2794000"/>
            <a:ext cx="4318000" cy="3048000"/>
          </a:xfrm>
          <a:prstGeom prst="roundRect">
            <a:avLst>
              <a:gd name="adj" fmla="val 833"/>
            </a:avLst>
          </a:prstGeom>
        </p:spPr>
      </p:pic>
      <p:sp>
        <p:nvSpPr>
          <p:cNvPr id="6" name="Text 3"/>
          <p:cNvSpPr/>
          <p:nvPr/>
        </p:nvSpPr>
        <p:spPr>
          <a:xfrm>
            <a:off x="5588000" y="1270000"/>
            <a:ext cx="2794000" cy="2095500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228534" tIns="228600" rIns="863666" bIns="22860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Familia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85150" y="1270000"/>
            <a:ext cx="2794000" cy="2095500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734126" tIns="228600" rIns="228534" bIns="228600" rtlCol="0" anchor="t">
            <a:normAutofit/>
          </a:bodyPr>
          <a:lstStyle/>
          <a:p>
            <a:pPr algn="r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Sistemas y formas de vida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88000" y="3568650"/>
            <a:ext cx="2794000" cy="2095500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228534" tIns="228600" rIns="863666" bIns="228600" rtlCol="0" anchor="b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Territorio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85150" y="3568650"/>
            <a:ext cx="2794000" cy="2095500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603316" tIns="228600" rIns="228534" bIns="228600" rtlCol="0" anchor="b">
            <a:normAutofit/>
          </a:bodyPr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Integridad étnica, cultural, social y espiritual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05633" y="2489126"/>
            <a:ext cx="1955800" cy="1955800"/>
          </a:xfrm>
          <a:prstGeom prst="roundRect">
            <a:avLst>
              <a:gd name="adj" fmla="val 50000"/>
            </a:avLst>
          </a:prstGeom>
          <a:solidFill>
            <a:srgbClr val="FC8400"/>
          </a:solidFill>
          <a:ln w="76200">
            <a:solidFill>
              <a:srgbClr val="FFFFFF"/>
            </a:solidFill>
            <a:prstDash val="solid"/>
          </a:ln>
        </p:spPr>
        <p:txBody>
          <a:bodyPr wrap="none" lIns="158579" tIns="0" rIns="158579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Bioculturalidad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BIOCULTURALIDAD Y DERECHOS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derecho en varias dimensiones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25467" y="1993602"/>
            <a:ext cx="10541066" cy="3835698"/>
          </a:xfrm>
          <a:prstGeom prst="rect">
            <a:avLst/>
          </a:prstGeom>
          <a:noFill/>
          <a:ln w="25400">
            <a:solidFill>
              <a:srgbClr val="0C5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7934" y="2256061"/>
            <a:ext cx="10316617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 SOCIAL DE DERECHO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87934" y="4550829"/>
            <a:ext cx="2389684" cy="1016000"/>
          </a:xfrm>
          <a:prstGeom prst="rect">
            <a:avLst/>
          </a:prstGeom>
          <a:solidFill>
            <a:srgbClr val="D6E6EE"/>
          </a:solidFill>
          <a:ln/>
        </p:spPr>
        <p:txBody>
          <a:bodyPr wrap="square" lIns="152383" tIns="152400" rIns="89836" bIns="152400" rtlCol="0" anchor="b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 humano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30001" y="4042829"/>
            <a:ext cx="2389766" cy="1524000"/>
          </a:xfrm>
          <a:prstGeom prst="rect">
            <a:avLst/>
          </a:prstGeom>
          <a:solidFill>
            <a:srgbClr val="8FB8CB"/>
          </a:solidFill>
          <a:ln/>
        </p:spPr>
        <p:txBody>
          <a:bodyPr wrap="square" lIns="152383" tIns="152400" rIns="89834" bIns="152400" rtlCol="0" anchor="b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 fundamental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150" y="3534829"/>
            <a:ext cx="2389766" cy="2032000"/>
          </a:xfrm>
          <a:prstGeom prst="rect">
            <a:avLst/>
          </a:prstGeom>
          <a:solidFill>
            <a:srgbClr val="156082"/>
          </a:solidFill>
          <a:ln/>
        </p:spPr>
        <p:txBody>
          <a:bodyPr wrap="square" lIns="152383" tIns="152400" rIns="89834" bIns="152400" rtlCol="0" anchor="b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 a la cultura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14300" y="3026829"/>
            <a:ext cx="2389766" cy="2540000"/>
          </a:xfrm>
          <a:prstGeom prst="rect">
            <a:avLst/>
          </a:prstGeom>
          <a:solidFill>
            <a:srgbClr val="0C5837"/>
          </a:solidFill>
          <a:ln/>
        </p:spPr>
        <p:txBody>
          <a:bodyPr wrap="square" lIns="152384" tIns="152400" rIns="89833" bIns="152400" rtlCol="0" anchor="b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bioculturales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4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REFLEXIONAR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9810750" cy="1305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¿Cómo diseñar e implementar modelos productivos propios frente a los modelos de desarrollo que han adoptado la mayoría de los Estados de la región?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67" y="2763317"/>
            <a:ext cx="5181616" cy="1127786"/>
          </a:xfrm>
          <a:prstGeom prst="rect">
            <a:avLst/>
          </a:prstGeom>
          <a:solidFill>
            <a:srgbClr val="1A272D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782367"/>
            <a:ext cx="5181616" cy="0"/>
          </a:xfrm>
          <a:prstGeom prst="line">
            <a:avLst/>
          </a:prstGeom>
          <a:noFill/>
          <a:ln w="38100">
            <a:solidFill>
              <a:srgbClr val="5CC28A"/>
            </a:solidFill>
            <a:prstDash val="solid"/>
          </a:ln>
        </p:spPr>
      </p:sp>
      <p:pic>
        <p:nvPicPr>
          <p:cNvPr id="6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767" y="3054362"/>
            <a:ext cx="355534" cy="3555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4684" y="3054362"/>
            <a:ext cx="429067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2F2F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Estrategias efectivas y equitativas de conservación de la biodiversidad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97534" y="2763317"/>
            <a:ext cx="5181699" cy="1127786"/>
          </a:xfrm>
          <a:prstGeom prst="rect">
            <a:avLst/>
          </a:prstGeom>
          <a:solidFill>
            <a:srgbClr val="1A272D"/>
          </a:solidFill>
          <a:ln/>
        </p:spPr>
      </p:sp>
      <p:sp>
        <p:nvSpPr>
          <p:cNvPr id="9" name="Shape 6"/>
          <p:cNvSpPr/>
          <p:nvPr/>
        </p:nvSpPr>
        <p:spPr>
          <a:xfrm>
            <a:off x="6197534" y="2782367"/>
            <a:ext cx="5181699" cy="0"/>
          </a:xfrm>
          <a:prstGeom prst="line">
            <a:avLst/>
          </a:prstGeom>
          <a:noFill/>
          <a:ln w="38100">
            <a:solidFill>
              <a:srgbClr val="FC8400"/>
            </a:solidFill>
            <a:prstDash val="solid"/>
          </a:ln>
        </p:spPr>
      </p:sp>
      <p:pic>
        <p:nvPicPr>
          <p:cNvPr id="10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534" y="3054362"/>
            <a:ext cx="355534" cy="3555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59451" y="3054362"/>
            <a:ext cx="42907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2F2F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Planes de conservación diseñados en territorios de pueblos afrodescendientes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REFLEXIONAR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397000"/>
            <a:ext cx="10566383" cy="1234281"/>
          </a:xfrm>
          <a:prstGeom prst="rect">
            <a:avLst/>
          </a:prstGeom>
          <a:solidFill>
            <a:srgbClr val="1A272D"/>
          </a:solidFill>
          <a:ln/>
        </p:spPr>
        <p:txBody>
          <a:bodyPr wrap="square" lIns="352392" tIns="254000" rIns="7490" bIns="22860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¿Cuál es el lugar y el rol de las comunidades en los incentivos de conservación de la biodiversidad para prevenir y mitigar el cambio climático?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38167" y="1397000"/>
            <a:ext cx="0" cy="1234281"/>
          </a:xfrm>
          <a:prstGeom prst="line">
            <a:avLst/>
          </a:prstGeom>
          <a:noFill/>
          <a:ln w="50800">
            <a:solidFill>
              <a:srgbClr val="5CC2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67" y="3302000"/>
            <a:ext cx="10566383" cy="871141"/>
          </a:xfrm>
          <a:prstGeom prst="rect">
            <a:avLst/>
          </a:prstGeom>
          <a:solidFill>
            <a:srgbClr val="1A272D"/>
          </a:solidFill>
          <a:ln/>
        </p:spPr>
        <p:txBody>
          <a:bodyPr wrap="square" lIns="352392" tIns="254000" rIns="7490" bIns="22860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¿La biodiversidad es el mayor activo?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8167" y="3302000"/>
            <a:ext cx="0" cy="871141"/>
          </a:xfrm>
          <a:prstGeom prst="line">
            <a:avLst/>
          </a:prstGeom>
          <a:noFill/>
          <a:ln w="50800">
            <a:solidFill>
              <a:srgbClr val="FCC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67" y="4445000"/>
            <a:ext cx="10566383" cy="871141"/>
          </a:xfrm>
          <a:prstGeom prst="rect">
            <a:avLst/>
          </a:prstGeom>
          <a:solidFill>
            <a:srgbClr val="1A272D"/>
          </a:solidFill>
          <a:ln/>
        </p:spPr>
        <p:txBody>
          <a:bodyPr wrap="square" lIns="352392" tIns="254000" rIns="7490" bIns="22860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¿Cuál desarrollo? ¿Un desarrollo bajo el sueño de los recursos naturales?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8167" y="4445000"/>
            <a:ext cx="0" cy="871141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6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lecón de Quibdó y la catedral vistos desde el río Atrato">    </p:cNvPr>
          <p:cNvPicPr>
            <a:picLocks noChangeAspect="1"/>
          </p:cNvPicPr>
          <p:nvPr/>
        </p:nvPicPr>
        <p:blipFill>
          <a:blip r:embed="rId1"/>
          <a:srcRect l="0" r="0" t="28906" b="289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56082">
                  <a:alpha val="96000"/>
                </a:srgbClr>
              </a:gs>
              <a:gs pos="50000">
                <a:srgbClr val="156082">
                  <a:alpha val="85000"/>
                </a:srgbClr>
              </a:gs>
              <a:gs pos="100000">
                <a:srgbClr val="156082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2370138"/>
            <a:ext cx="10883460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i="1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«Medí tu cuarta y párate en ella»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767" y="2842580"/>
            <a:ext cx="108834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767" y="4010968"/>
            <a:ext cx="7194550" cy="1198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naturaleza de los derechos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2767" y="5336604"/>
            <a:ext cx="65405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D6E6E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¿Quién decide los derechos y cuáles derechos?</a:t>
            </a:r>
            <a:endParaRPr lang="en-US" sz="1800" dirty="0"/>
          </a:p>
        </p:txBody>
      </p:sp>
      <p:sp>
        <p:nvSpPr>
          <p:cNvPr id="8" name="Texto PT 8"/>
          <p:cNvSpPr/>
          <p:nvPr/>
        </p:nvSpPr>
        <p:spPr>
          <a:xfrm>
            <a:off x="812767" y="5746774"/>
            <a:ext cx="654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1400" dirty="0">
                <a:solidFill>
                  <a:srgbClr val="D6E6E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natureza dos direitos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NATURALEZA JURÍDICA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derechos relacionados con el territorio son…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159000"/>
            <a:ext cx="1993883" cy="2667000"/>
          </a:xfrm>
          <a:prstGeom prst="rect">
            <a:avLst/>
          </a:prstGeom>
          <a:solidFill>
            <a:srgbClr val="0C5837"/>
          </a:solidFill>
          <a:ln/>
        </p:spPr>
      </p:sp>
      <p:sp>
        <p:nvSpPr>
          <p:cNvPr id="6" name="Text 4"/>
          <p:cNvSpPr/>
          <p:nvPr/>
        </p:nvSpPr>
        <p:spPr>
          <a:xfrm>
            <a:off x="1015917" y="2362150"/>
            <a:ext cx="1638383" cy="38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5917" y="2844763"/>
            <a:ext cx="1638383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con existencia prejurídica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52750" y="2159000"/>
            <a:ext cx="1993883" cy="2667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9" name="Text 7"/>
          <p:cNvSpPr/>
          <p:nvPr/>
        </p:nvSpPr>
        <p:spPr>
          <a:xfrm>
            <a:off x="3155900" y="2362150"/>
            <a:ext cx="1638383" cy="38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5900" y="2844763"/>
            <a:ext cx="1638383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sui generis frente a las categorías tradicionales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92650" y="2159000"/>
            <a:ext cx="1993883" cy="2667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2" name="Text 10"/>
          <p:cNvSpPr/>
          <p:nvPr/>
        </p:nvSpPr>
        <p:spPr>
          <a:xfrm>
            <a:off x="5295801" y="2362150"/>
            <a:ext cx="1638383" cy="38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95801" y="2844763"/>
            <a:ext cx="1638383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vectores, derechos garantes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232633" y="2159000"/>
            <a:ext cx="1993883" cy="2667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5" name="Text 13"/>
          <p:cNvSpPr/>
          <p:nvPr/>
        </p:nvSpPr>
        <p:spPr>
          <a:xfrm>
            <a:off x="7435783" y="2362150"/>
            <a:ext cx="1638383" cy="38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35783" y="2844763"/>
            <a:ext cx="163838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fundamentales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72533" y="2159000"/>
            <a:ext cx="2006534" cy="2667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8" name="Text 16"/>
          <p:cNvSpPr/>
          <p:nvPr/>
        </p:nvSpPr>
        <p:spPr>
          <a:xfrm>
            <a:off x="9575684" y="2362150"/>
            <a:ext cx="1651033" cy="38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575684" y="2844763"/>
            <a:ext cx="165103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colectivos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DERECHOS DEL PUEBLO AFRODESCENDIENTE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Aspectos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812767" y="2667074"/>
            <a:ext cx="4572000" cy="761835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301625" tIns="203200" rIns="133509" bIns="17780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contexto histórico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167" y="2667074"/>
            <a:ext cx="0" cy="761835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67" y="3555913"/>
            <a:ext cx="4572000" cy="761835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301625" tIns="203200" rIns="133509" bIns="17780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contexto cultural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167" y="3555913"/>
            <a:ext cx="0" cy="761835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67" y="4444752"/>
            <a:ext cx="4572000" cy="761835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301625" tIns="203200" rIns="133509" bIns="17780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contexto legal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8167" y="4444752"/>
            <a:ext cx="0" cy="761835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89534" y="3682826"/>
            <a:ext cx="1016000" cy="50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010301" y="3044106"/>
            <a:ext cx="4368932" cy="1785441"/>
          </a:xfrm>
          <a:prstGeom prst="rect">
            <a:avLst/>
          </a:prstGeom>
          <a:solidFill>
            <a:srgbClr val="0C5837"/>
          </a:solidFill>
          <a:ln/>
        </p:spPr>
      </p:sp>
      <p:sp>
        <p:nvSpPr>
          <p:cNvPr id="13" name="Text 10"/>
          <p:cNvSpPr/>
          <p:nvPr/>
        </p:nvSpPr>
        <p:spPr>
          <a:xfrm>
            <a:off x="7365834" y="3399644"/>
            <a:ext cx="3767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JUNTOS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65834" y="3714502"/>
            <a:ext cx="3767600" cy="78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Determinan el contenido de los derechos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ío Atrato entre la selva bajo un cielo nubl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171B">
                  <a:alpha val="90000"/>
                </a:srgbClr>
              </a:gs>
              <a:gs pos="55000">
                <a:srgbClr val="0E171B">
                  <a:alpha val="45000"/>
                </a:srgbClr>
              </a:gs>
              <a:gs pos="100000">
                <a:srgbClr val="0E171B">
                  <a:alpha val="10000"/>
                </a:srgbClr>
              </a:gs>
            </a:gsLst>
            <a:lin ang="16200000" scaled="0"/>
          </a:gradFill>
          <a:ln/>
        </p:spPr>
      </p:sp>
      <p:sp>
        <p:nvSpPr>
          <p:cNvPr id="4" name="Text 1"/>
          <p:cNvSpPr/>
          <p:nvPr>
            <p:ph type="title"/>
          </p:nvPr>
        </p:nvSpPr>
        <p:spPr>
          <a:xfrm>
            <a:off x="812767" y="3429000"/>
            <a:ext cx="9810750" cy="147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0" i="1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«La casa grande, el útero mayor»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812767" y="5207000"/>
            <a:ext cx="406383" cy="25383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6" name="Text 3"/>
          <p:cNvSpPr/>
          <p:nvPr/>
        </p:nvSpPr>
        <p:spPr>
          <a:xfrm>
            <a:off x="1371534" y="5067263"/>
            <a:ext cx="784860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Francia Márquez Mina</a:t>
            </a:r>
            <a:endParaRPr lang="en-US" sz="2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ASPECTOS CLAVE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contexto cultural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082428"/>
            <a:ext cx="5181616" cy="20996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767" y="2107828"/>
            <a:ext cx="5181616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pic>
        <p:nvPicPr>
          <p:cNvPr id="7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8301" y="2485591"/>
            <a:ext cx="457150" cy="457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8301" y="3095129"/>
            <a:ext cx="460466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Cosmovisión tradicional diferenciada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7534" y="2082428"/>
            <a:ext cx="5181699" cy="20996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197534" y="2107828"/>
            <a:ext cx="5181699" cy="0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  <p:pic>
        <p:nvPicPr>
          <p:cNvPr id="11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3067" y="2485591"/>
            <a:ext cx="457150" cy="457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67" y="3095129"/>
            <a:ext cx="46047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Valores espirituales y culturales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ASPECTOS CLAVE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contexto legal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Text 3"/>
          <p:cNvSpPr/>
          <p:nvPr/>
        </p:nvSpPr>
        <p:spPr>
          <a:xfrm>
            <a:off x="812767" y="2082428"/>
            <a:ext cx="9810750" cy="779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análisis del contenido jurídico de estos derechos </a:t>
            </a:r>
            <a:r>
              <a:rPr lang="en-US" sz="2200" b="1" dirty="0">
                <a:solidFill>
                  <a:srgbClr val="C81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puede partir de la simple revisión formal y exegética</a:t>
            </a:r>
            <a:r>
              <a:rPr lang="en-US" sz="22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 texto normativo.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767" y="3192190"/>
            <a:ext cx="5181616" cy="914383"/>
          </a:xfrm>
          <a:prstGeom prst="rect">
            <a:avLst/>
          </a:prstGeom>
          <a:solidFill>
            <a:srgbClr val="0C5837"/>
          </a:solidFill>
          <a:ln/>
        </p:spPr>
      </p:sp>
      <p:pic>
        <p:nvPicPr>
          <p:cNvPr id="7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767" y="3446190"/>
            <a:ext cx="406383" cy="4063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5534" y="3480507"/>
            <a:ext cx="3395166" cy="363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integral y holístico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197534" y="3192190"/>
            <a:ext cx="5181699" cy="914383"/>
          </a:xfrm>
          <a:prstGeom prst="rect">
            <a:avLst/>
          </a:prstGeom>
          <a:solidFill>
            <a:srgbClr val="156082"/>
          </a:solidFill>
          <a:ln/>
        </p:spPr>
      </p:sp>
      <p:pic>
        <p:nvPicPr>
          <p:cNvPr id="10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534" y="3446190"/>
            <a:ext cx="406383" cy="4063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10301" y="3480507"/>
            <a:ext cx="3715841" cy="363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Bloque de constitucionalidad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454933" y="6238292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ASPECTOS CLAVE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Contenido de los derechos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159000"/>
            <a:ext cx="3384517" cy="33020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812767" y="2184400"/>
            <a:ext cx="3384517" cy="0"/>
          </a:xfrm>
          <a:prstGeom prst="line">
            <a:avLst/>
          </a:prstGeom>
          <a:noFill/>
          <a:ln w="50800">
            <a:solidFill>
              <a:srgbClr val="C8102E"/>
            </a:solidFill>
            <a:prstDash val="solid"/>
          </a:ln>
        </p:spPr>
      </p:sp>
      <p:pic>
        <p:nvPicPr>
          <p:cNvPr id="7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767" y="2460625"/>
            <a:ext cx="355534" cy="3555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767" y="2943151"/>
            <a:ext cx="29628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6767" y="3283471"/>
            <a:ext cx="2962812" cy="84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Carencias normativas y restricciones de la legislación especial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0517" y="2159000"/>
            <a:ext cx="3384517" cy="3302000"/>
          </a:xfrm>
          <a:prstGeom prst="rect">
            <a:avLst/>
          </a:prstGeom>
          <a:solidFill>
            <a:srgbClr val="EEF3EF"/>
          </a:solidFill>
          <a:ln/>
        </p:spPr>
      </p:sp>
      <p:sp>
        <p:nvSpPr>
          <p:cNvPr id="11" name="Shape 8"/>
          <p:cNvSpPr/>
          <p:nvPr/>
        </p:nvSpPr>
        <p:spPr>
          <a:xfrm>
            <a:off x="4400517" y="2184400"/>
            <a:ext cx="3384517" cy="0"/>
          </a:xfrm>
          <a:prstGeom prst="line">
            <a:avLst/>
          </a:prstGeom>
          <a:noFill/>
          <a:ln w="50800">
            <a:solidFill>
              <a:srgbClr val="0C5837"/>
            </a:solidFill>
            <a:prstDash val="solid"/>
          </a:ln>
        </p:spPr>
      </p:sp>
      <p:pic>
        <p:nvPicPr>
          <p:cNvPr id="12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4517" y="2460625"/>
            <a:ext cx="355534" cy="3555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517" y="2943151"/>
            <a:ext cx="29628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HERRAMIENTA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54517" y="3283471"/>
            <a:ext cx="2962812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Principio de progresividad: extender el ámbito de protección de los derechos y flexibilizar medidas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88267" y="2159000"/>
            <a:ext cx="3390883" cy="3302000"/>
          </a:xfrm>
          <a:prstGeom prst="rect">
            <a:avLst/>
          </a:prstGeom>
          <a:solidFill>
            <a:srgbClr val="0C5837"/>
          </a:solidFill>
          <a:ln/>
        </p:spPr>
      </p:sp>
      <p:pic>
        <p:nvPicPr>
          <p:cNvPr id="16" name="Image 2" descr="Verifi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2267" y="2413000"/>
            <a:ext cx="355534" cy="3555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2267" y="2895526"/>
            <a:ext cx="2969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CATEGORÍA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42267" y="3235846"/>
            <a:ext cx="2969370" cy="84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Derecho sui generis, de existencia prejurídica y fundamental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454933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5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ña con trenzas tradicionales vista de espaldas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5837"/>
              </a:gs>
              <a:gs pos="46000">
                <a:srgbClr val="0C5837"/>
              </a:gs>
              <a:gs pos="70000">
                <a:srgbClr val="0C5837">
                  <a:alpha val="10000"/>
                </a:srgbClr>
              </a:gs>
              <a:gs pos="100000">
                <a:srgbClr val="0C5837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812767" y="3382243"/>
            <a:ext cx="10883460" cy="38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¡Amanecerá y veremos!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2767" y="3890169"/>
            <a:ext cx="1088346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767" y="5058544"/>
            <a:ext cx="5886450" cy="612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spc="-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ruta de la juntanza</a:t>
            </a:r>
            <a:endParaRPr lang="en-US" sz="4400" dirty="0"/>
          </a:p>
        </p:txBody>
      </p:sp>
      <p:sp>
        <p:nvSpPr>
          <p:cNvPr id="7" name="Texto PT 7"/>
          <p:cNvSpPr/>
          <p:nvPr/>
        </p:nvSpPr>
        <p:spPr>
          <a:xfrm>
            <a:off x="812767" y="5746775"/>
            <a:ext cx="108834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1400" dirty="0">
                <a:solidFill>
                  <a:srgbClr val="D9EC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caminho da juntanza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sa rodeada de palmeras, plantas y huerta en el Pacífico">    </p:cNvPr>
          <p:cNvPicPr>
            <a:picLocks noChangeAspect="1"/>
          </p:cNvPicPr>
          <p:nvPr/>
        </p:nvPicPr>
        <p:blipFill>
          <a:blip r:embed="rId1"/>
          <a:srcRect l="25694" r="25694" t="0" b="0"/>
          <a:stretch/>
        </p:blipFill>
        <p:spPr>
          <a:xfrm>
            <a:off x="7747000" y="0"/>
            <a:ext cx="444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67" y="812750"/>
            <a:ext cx="65142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RUTA DE LA JUNTANZA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767" y="1127621"/>
            <a:ext cx="651427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valor de lo comunitario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6" name="Text 3"/>
          <p:cNvSpPr/>
          <p:nvPr/>
        </p:nvSpPr>
        <p:spPr>
          <a:xfrm>
            <a:off x="812767" y="1980902"/>
            <a:ext cx="651427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i="1" dirty="0">
                <a:solidFill>
                  <a:srgbClr val="0C583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«Soy porque somos»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12767" y="2737842"/>
            <a:ext cx="6324534" cy="579107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250825" tIns="152400" rIns="27085" bIns="1270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interseccionalidad desde el contexto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8167" y="2737842"/>
            <a:ext cx="0" cy="579107"/>
          </a:xfrm>
          <a:prstGeom prst="line">
            <a:avLst/>
          </a:prstGeom>
          <a:noFill/>
          <a:ln w="50800">
            <a:solidFill>
              <a:srgbClr val="1560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767" y="3443957"/>
            <a:ext cx="6324534" cy="579107"/>
          </a:xfrm>
          <a:prstGeom prst="rect">
            <a:avLst/>
          </a:prstGeom>
          <a:solidFill>
            <a:srgbClr val="EEF3EF"/>
          </a:solidFill>
          <a:ln/>
        </p:spPr>
        <p:txBody>
          <a:bodyPr wrap="square" lIns="250825" tIns="152400" rIns="27085" bIns="12700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Ética de la sociedad del cuidado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167" y="3443957"/>
            <a:ext cx="0" cy="579107"/>
          </a:xfrm>
          <a:prstGeom prst="line">
            <a:avLst/>
          </a:prstGeom>
          <a:noFill/>
          <a:ln w="50800">
            <a:solidFill>
              <a:srgbClr val="FC840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50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RUTA DE LA JUNTANZA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«Constitucionalismo de la diferencia»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12767" y="2604757"/>
            <a:ext cx="10566466" cy="0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67" y="2095153"/>
            <a:ext cx="457183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22301" y="2162125"/>
            <a:ext cx="10255640" cy="28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Diálogo intercultural horizontal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767" y="3234945"/>
            <a:ext cx="10566466" cy="0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67" y="2725365"/>
            <a:ext cx="457183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22301" y="2792338"/>
            <a:ext cx="10255640" cy="28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Principios constitucionales esenciales:</a:t>
            </a:r>
            <a:r>
              <a:rPr lang="en-US" sz="15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diversidad e interculturalidad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67" y="3865157"/>
            <a:ext cx="10566466" cy="0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67" y="3355578"/>
            <a:ext cx="457183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22301" y="3422551"/>
            <a:ext cx="10255640" cy="28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Enfoque interseccional y enfoque antirracista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67" y="4618567"/>
            <a:ext cx="10566466" cy="0"/>
          </a:xfrm>
          <a:prstGeom prst="line">
            <a:avLst/>
          </a:prstGeom>
          <a:noFill/>
          <a:ln w="12700">
            <a:solidFill>
              <a:srgbClr val="E3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67" y="4047381"/>
            <a:ext cx="457183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22301" y="3985766"/>
            <a:ext cx="1025564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Reconocer la asimetría institucional y social:</a:t>
            </a:r>
            <a:r>
              <a:rPr lang="en-US" sz="15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racismo estructural y acciones decididas para reconocer, proteger y garantizar los derechos de la población afrodescendiente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767" y="4739184"/>
            <a:ext cx="457183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84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22301" y="4806156"/>
            <a:ext cx="10255640" cy="28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Reconocer e incorporar una verdadera plurietnicidad:</a:t>
            </a:r>
            <a:r>
              <a:rPr lang="en-US" sz="15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acto complejo de deconstrucción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4933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50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C583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21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Bibliografía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676127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5" name="Shape 3"/>
          <p:cNvSpPr/>
          <p:nvPr/>
        </p:nvSpPr>
        <p:spPr>
          <a:xfrm>
            <a:off x="825467" y="1980902"/>
            <a:ext cx="0" cy="426641"/>
          </a:xfrm>
          <a:prstGeom prst="line">
            <a:avLst/>
          </a:prstGeom>
          <a:noFill/>
          <a:ln w="25400">
            <a:solidFill>
              <a:srgbClr val="0C5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6334" y="1980902"/>
            <a:ext cx="107046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Cuesta, L. (2018). </a:t>
            </a:r>
            <a:r>
              <a:rPr lang="en-US" sz="1200" i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Entre mito y realidad: el derecho a la propiedad colectiva de las comunidades negras en Colombia. Apuesta teórica de un derecho sui géneris.</a:t>
            </a: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Universidad Externado de Colombia.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5467" y="2534543"/>
            <a:ext cx="0" cy="426641"/>
          </a:xfrm>
          <a:prstGeom prst="line">
            <a:avLst/>
          </a:prstGeom>
          <a:noFill/>
          <a:ln w="25400">
            <a:solidFill>
              <a:srgbClr val="0C5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6334" y="2534543"/>
            <a:ext cx="107046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Cuesta, L. (2023). Descolonizar el constitucionalismo de Abya Yala: la agenda pendiente, los derechos de los afrodescendientes. En CODHES (Ed.), </a:t>
            </a:r>
            <a:r>
              <a:rPr lang="en-US" sz="1200" i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Constitucionalismo de la resistencia y la integración desde y para Abya Yala</a:t>
            </a: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(pp. 56-69). ISBN 978-958-8881-80-5.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5467" y="3088184"/>
            <a:ext cx="0" cy="213320"/>
          </a:xfrm>
          <a:prstGeom prst="line">
            <a:avLst/>
          </a:prstGeom>
          <a:noFill/>
          <a:ln w="25400">
            <a:solidFill>
              <a:srgbClr val="C9CF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6334" y="3088184"/>
            <a:ext cx="107046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Ilex Acción Jurídica (2021). </a:t>
            </a:r>
            <a:r>
              <a:rPr lang="en-US" sz="1200" i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lucha histórica y poco nombrada de las mujeres afrodescendientes.</a:t>
            </a: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u="sng" dirty="0">
                <a:solidFill>
                  <a:srgbClr val="00549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ilexaccionjuridica.org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467" y="3428504"/>
            <a:ext cx="0" cy="426641"/>
          </a:xfrm>
          <a:prstGeom prst="line">
            <a:avLst/>
          </a:prstGeom>
          <a:noFill/>
          <a:ln w="25400">
            <a:solidFill>
              <a:srgbClr val="C9C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6334" y="3428504"/>
            <a:ext cx="107046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León Díaz, R. E. (2020). El enfoque diferencial étnico-racial para personas, colectivos, comunidades y pueblos negros, afrocolombianos, raizales y palenqueros. </a:t>
            </a:r>
            <a:r>
              <a:rPr lang="en-US" sz="1200" i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Trabajo Social</a:t>
            </a: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22(1), 33-63. </a:t>
            </a:r>
            <a:r>
              <a:rPr lang="en-US" sz="1200" u="sng" dirty="0">
                <a:solidFill>
                  <a:srgbClr val="00549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doi.org/10.15446/ts.v22n1.78887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5467" y="3982145"/>
            <a:ext cx="0" cy="426641"/>
          </a:xfrm>
          <a:prstGeom prst="line">
            <a:avLst/>
          </a:prstGeom>
          <a:noFill/>
          <a:ln w="25400">
            <a:solidFill>
              <a:srgbClr val="C9CF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6334" y="3982145"/>
            <a:ext cx="107046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Mejía, B. A. (2021). ¿Es necesaria la interculturalidad para hablar de los derechos humanos en América Latina hoy? En A. L. Guerrero (Ed.), </a:t>
            </a:r>
            <a:r>
              <a:rPr lang="en-US" sz="1200" i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70 años de la Declaración Universal de los Derechos Humanos</a:t>
            </a: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(pp. 132-146). UNAM.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5467" y="4535785"/>
            <a:ext cx="0" cy="213320"/>
          </a:xfrm>
          <a:prstGeom prst="line">
            <a:avLst/>
          </a:prstGeom>
          <a:noFill/>
          <a:ln w="25400">
            <a:solidFill>
              <a:srgbClr val="C9C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6334" y="4535785"/>
            <a:ext cx="107046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Corte Constitucional de Colombia. Sentencia T-622 de 2016. M.P. Jorge Iván Palacio Palacio.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4933" y="623828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57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Hinestroza Cuesta · UTCH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spiral de semillas, tierra y hojas sobre arena">    </p:cNvPr>
          <p:cNvPicPr>
            <a:picLocks noChangeAspect="1"/>
          </p:cNvPicPr>
          <p:nvPr/>
        </p:nvPicPr>
        <p:blipFill>
          <a:blip r:embed="rId1"/>
          <a:srcRect l="0" r="0" t="28906" b="289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C5837">
                  <a:alpha val="96000"/>
                </a:srgbClr>
              </a:gs>
              <a:gs pos="45000">
                <a:srgbClr val="0C5837">
                  <a:alpha val="88000"/>
                </a:srgbClr>
              </a:gs>
              <a:gs pos="100000">
                <a:srgbClr val="0C5837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4" name="Text 1"/>
          <p:cNvSpPr/>
          <p:nvPr>
            <p:ph type="title"/>
          </p:nvPr>
        </p:nvSpPr>
        <p:spPr>
          <a:xfrm>
            <a:off x="812767" y="2794000"/>
            <a:ext cx="6540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spc="-150" kern="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Gracias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812767" y="4445000"/>
            <a:ext cx="762000" cy="50767"/>
          </a:xfrm>
          <a:prstGeom prst="rect">
            <a:avLst/>
          </a:prstGeom>
          <a:solidFill>
            <a:srgbClr val="FC8400"/>
          </a:solidFill>
          <a:ln/>
        </p:spPr>
      </p:sp>
      <p:sp>
        <p:nvSpPr>
          <p:cNvPr id="6" name="Text 3"/>
          <p:cNvSpPr/>
          <p:nvPr/>
        </p:nvSpPr>
        <p:spPr>
          <a:xfrm>
            <a:off x="812767" y="4699000"/>
            <a:ext cx="6540500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Lisneider Hinestroza Cuesta · Grupo GIDSMA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Universidad Tecnológica del Chocó «Diego Luis Córdoba»</a:t>
            </a:r>
            <a:endParaRPr lang="en-US" sz="1600" dirty="0"/>
          </a:p>
        </p:txBody>
      </p:sp>
      <p:sp>
        <p:nvSpPr>
          <p:cNvPr id="7" name="Texto PT 7"/>
          <p:cNvSpPr/>
          <p:nvPr/>
        </p:nvSpPr>
        <p:spPr>
          <a:xfrm>
            <a:off x="812767" y="3873500"/>
            <a:ext cx="654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i="1" lang="en-US" sz="2800" dirty="0">
                <a:solidFill>
                  <a:srgbClr val="FCCC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Obrigada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9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La bioculturalidad: entre juntanzas, derechos, memoria y saberes ancestrales">
  <a:themeElements>
    <a:clrScheme name="La bioculturalidad: entre juntanzas, derechos, memoria y saberes ancestrales">
      <a:dk1>
        <a:srgbClr val="1A1A1A"/>
      </a:dk1>
      <a:lt1>
        <a:srgbClr val="FFFFFF"/>
      </a:lt1>
      <a:dk2>
        <a:srgbClr val="535353"/>
      </a:dk2>
      <a:lt2>
        <a:srgbClr val="E8E8E8"/>
      </a:lt2>
      <a:accent1>
        <a:srgbClr val="0C5837"/>
      </a:accent1>
      <a:accent2>
        <a:srgbClr val="FC8400"/>
      </a:accent2>
      <a:accent3>
        <a:srgbClr val="FCCC00"/>
      </a:accent3>
      <a:accent4>
        <a:srgbClr val="156082"/>
      </a:accent4>
      <a:accent5>
        <a:srgbClr val="8FB8CB"/>
      </a:accent5>
      <a:accent6>
        <a:srgbClr val="C8102E"/>
      </a:accent6>
      <a:hlink>
        <a:srgbClr val="0563C1"/>
      </a:hlink>
      <a:folHlink>
        <a:srgbClr val="954F72"/>
      </a:folHlink>
    </a:clrScheme>
    <a:fontScheme name="La bioculturalidad: entre juntanzas, derechos, memoria y saberes ancestrales">
      <a:majorFont>
        <a:latin typeface="Source Sans 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bioculturalidad: entre juntanzas, derechos, memoria y saberes ancestrales</dc:title>
  <dc:subject/>
  <dc:creator/>
  <cp:lastModifiedBy/>
  <cp:revision>1</cp:revision>
  <dcterms:created xsi:type="dcterms:W3CDTF">2026-10-17T15:54:42Z</dcterms:created>
  <dcterms:modified xsi:type="dcterms:W3CDTF">2026-10-17T15:54:42Z</dcterms:modified>
</cp:coreProperties>
</file>