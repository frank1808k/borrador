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Saludo al tribunal. Presentarse como docente de la Universidad Tecnológica del Chocó y líder del grupo GIDSMA. La foto es el malecón de Quibdó sobre el río Atrato: el Pacífico colombiano, territorio mayoritariamente afrodescendiente, desde donde se piensa esta conferencia.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los cuatro bloques. El hilo conductor: la interseccionalidad no es solo una categoría académica, es un principio constitucional y un deber judicial.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 bloque. Partimos de los datos de la región para mostrar por qué género y raza no pueden analizarse por separado.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cifras aparecen una a una. Detenerse en el 13: en una región con 134 millones de personas afrodescendientes, la mayoría de las constituciones no condena expresamente la discriminación racial.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barras muestran la distancia mínima entre el ingreso promedio de las mujeres afrodescendientes (1,9 líneas de pobreza) y el umbral de vulnerabilidad de la CEPAL (1,8). Están a un paso de caer en la vulnerabilidad.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Mencionar que el propio Supremo Tribunal Federal del Brasil reconoció en 2017 las desigualdades estructurales de partida: el argumento también es brasileño.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enfoque diferencial étnico-racial pregunta por el lugar y el no lugar de las comunidades negras en las instituciones, incluidas las judiciales.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 un tribunal brasileño, partir de su propia Constitución: igualdad (caput e inciso I), sanción de toda discriminación (XLI) y el racismo como delito imprescriptible e inafianzable (XLII).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central del bloque: la igualdad formal no basta. Tratar igual a quienes han sido tratados desigualmente perpetúa la desigualdad.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Ley 12.711 de 2012 sobre el ingreso a las universidades e institutos federales. Plantear la pregunta al auditorio: ¿basta con la norma o hace falta verificar su implementación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objetivos del litigio estratégico con perspectiva de género. Subrayar el segundo: el caso es un medio para transformar 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la cita con pausa. El litigio parte de un caso, pero apunta a cambiar realidades.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litigio no es solo jurídico: combina estrategia legal, comunicaciones, organización comunitaria y protección.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Segundo bloque. «No es feminismo si no es interseccional»: la consigna resume el debate que vamos a recorrer.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definiciones institucionales. El diagrama: lo que importa no es cada círculo por separado, sino el centro, donde los factores se cruzan y producen una experiencia única.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algunos ejes de la rueda: género, origen, color de piel, clase, capacidad, lengua. El poder se ordena en todos a la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interseccionalidad nace de un caso judicial: es, desde su origen, una categoría jurídica.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mujeres negras fueron las últimas en ser contratadas y, por eso, las primeras en ser despedidas. El impacto fue directo y desproporcionado, pero la justicia no encontró discriminación.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tribunal miró cada categoría por separado. Para la raza, comparó con los hombres negros; para el sexo, con las mujeres blancas. Las mujeres negras no cabían en ninguna de las dos casillas.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círculos del tribunal se acercan y se cruzan: en el centro aparece quien el derecho no veía.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idea es anterior a la palabra. Destacar a Tarsila do Amaral, referente brasileña, ante este auditorio.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Subrayar la tarjeta central: las intelectuales negras brasileñas, como Lélia González y Sueli Carneiro, son parte fundamental de esta genealogía.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 bloque: del concepto al deber del juez.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núcleo del argumento ante el tribunal: el enfoque interseccional no es opcional, es parte del deber de valorar la prueba en contexto.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Nueve usos del enfoque interseccional según la JEP: para diagnosticar (azul), para interpretar (verde) y para transformar (naranja).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altas cortes colombianas que han desarrollado el enfoque interseccional.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pasajes de la Corte Suprema: el enfoque interseccional está atado al razonamiento probatorio.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Cuarto bloque: la categoría colombiana de sujeto de especial protección y cómo opera en casos de mujeres afrodescendientes.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protección es reforzada porque las discriminaciones convergen y se agravan; no se suman simplemente.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pertenencia a estos grupos incide en la intensidad con que el juez evalúa el perjuicio y justifica el trato preferencial.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emblemático: confluyen género, raza, discapacidad y violencia sexual.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sentencia une lo sustantivo (no discriminación, estereotipos, enfoque interseccional) con lo probatorio (primacía de la realidad y libertad probatoria).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sentencia continúa: la etnia, la raza, la clase, las capacidades, las creencias religiosas e incluso la espiritualidad se tienen en cuenta para determinar la condición única que generan en cada mujer.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caso T-410: cada factor añadido intensifica la violencia; por eso la protección debe ser reforzada.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[Completar con los hechos y la decisión de la T-128 de 2022.] Fuentes de las fotos: eltiempo.com (parteras del Chocó piden a la Corte revisar tutela) e infobae.com (las parteras del Pacífico en el plan de vacunación, 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línea jurisprudencial sigue viva: la T-110 de 2026 es reciente. Completar los magistrados ponentes de la SU-067 de 2023 y la T-510 de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Tesis de cierre: la interseccionalidad no es una opción metodológica del juez, sino un principio constitucional y una herramienta de interpretación obligatoria.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Agradecer al tribunal. Cerrar con la imagen de Quibdó: desde el Pacífico afrodescendiente colombiano.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7" y="1127621"/>
            <a:ext cx="10566466" cy="446980"/>
          </a:xfrm>
          <a:prstGeom prst="rect">
            <a:avLst/>
          </a:prstGeom>
          <a:noFill/>
          <a:ln/>
        </p:spPr>
        <p:txBody>
          <a:bodyPr wrap="square" lIns="0" tIns="0" rIns="0" bIns="0" rtlCol="0" anchor="t"/>
          <a:lstStyle>
            <a:lvl1pPr algn="l" indent="0" marL="0">
              <a:lnSpc>
                <a:spcPct val="115000"/>
              </a:lnSpc>
              <a:buNone/>
              <a:defRPr lang="en-US" sz="3200" dirty="0">
                <a:solidFill>
                  <a:srgbClr val="1A1A1A"/>
                </a:solidFill>
                <a:latin typeface="Source Sans 3" pitchFamily="34" charset="0"/>
                <a:ea typeface="Source Sans 3" pitchFamily="34" charset="-122"/>
                <a:cs typeface="Source Sans 3"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67" y="1879402"/>
            <a:ext cx="10566433" cy="4165798"/>
          </a:xfrm>
          <a:prstGeom prst="rect">
            <a:avLst/>
          </a:prstGeom>
          <a:noFill/>
          <a:ln/>
        </p:spPr>
        <p:txBody>
          <a:bodyPr wrap="square" lIns="0" tIns="0" rIns="0" bIns="0" rtlCol="0" anchor="t"/>
          <a:lstStyle>
            <a:lvl1pPr algn="l" indent="0" marL="0">
              <a:lnSpc>
                <a:spcPct val="140000"/>
              </a:lnSpc>
              <a:buNone/>
              <a:defRPr lang="en-US" sz="1600" dirty="0">
                <a:solidFill>
                  <a:srgbClr val="1A1A1A"/>
                </a:solidFill>
                <a:latin typeface="Source Sans 3" pitchFamily="34" charset="0"/>
                <a:ea typeface="Source Sans 3" pitchFamily="34" charset="-122"/>
                <a:cs typeface="Source Sans 3"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7" y="1127621"/>
            <a:ext cx="10566466" cy="446980"/>
          </a:xfrm>
          <a:prstGeom prst="rect">
            <a:avLst/>
          </a:prstGeom>
          <a:noFill/>
          <a:ln/>
        </p:spPr>
        <p:txBody>
          <a:bodyPr wrap="square" lIns="0" tIns="0" rIns="0" bIns="0" rtlCol="0" anchor="t"/>
          <a:lstStyle>
            <a:lvl1pPr algn="l" indent="0" marL="0">
              <a:lnSpc>
                <a:spcPct val="115000"/>
              </a:lnSpc>
              <a:buNone/>
              <a:defRPr lang="en-US" sz="3200" dirty="0">
                <a:solidFill>
                  <a:srgbClr val="1A1A1A"/>
                </a:solidFill>
                <a:latin typeface="Source Sans 3" pitchFamily="34" charset="0"/>
                <a:ea typeface="Source Sans 3" pitchFamily="34" charset="-122"/>
                <a:cs typeface="Source Sans 3"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67" y="1879402"/>
            <a:ext cx="10566433" cy="4165798"/>
          </a:xfrm>
          <a:prstGeom prst="rect">
            <a:avLst/>
          </a:prstGeom>
          <a:noFill/>
          <a:ln/>
        </p:spPr>
        <p:txBody>
          <a:bodyPr wrap="square" lIns="0" tIns="0" rIns="0" bIns="0" rtlCol="0" anchor="t"/>
          <a:lstStyle>
            <a:lvl1pPr algn="l" indent="0" marL="0">
              <a:lnSpc>
                <a:spcPct val="140000"/>
              </a:lnSpc>
              <a:buNone/>
              <a:defRPr lang="en-US" sz="1600" dirty="0">
                <a:solidFill>
                  <a:srgbClr val="1A1A1A"/>
                </a:solidFill>
                <a:latin typeface="Source Sans 3" pitchFamily="34" charset="0"/>
                <a:ea typeface="Source Sans 3" pitchFamily="34" charset="-122"/>
                <a:cs typeface="Source Sans 3"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2.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2.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eg"/><Relationship Id="rId2" Type="http://schemas.openxmlformats.org/officeDocument/2006/relationships/image" Target="../media/image-35-2.jpeg"/><Relationship Id="rId3" Type="http://schemas.openxmlformats.org/officeDocument/2006/relationships/slideLayout" Target="../slideLayouts/slideLayout2.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hyperlink" Target="https://doi.org/10.1016/j.df.2016.09.005" TargetMode="External"/><Relationship Id="rId2" Type="http://schemas.openxmlformats.org/officeDocument/2006/relationships/hyperlink" Target="https://doi.org/10.15446/ts.v22n1.78887" TargetMode="External"/><Relationship Id="rId3" Type="http://schemas.openxmlformats.org/officeDocument/2006/relationships/slideLayout" Target="../slideLayouts/slideLayout2.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e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Malecón de Quibdó y la Catedral de San Francisco de Asís vistos desde el río Atrato">    </p:cNvPr>
          <p:cNvPicPr>
            <a:picLocks noChangeAspect="1"/>
          </p:cNvPicPr>
          <p:nvPr/>
        </p:nvPicPr>
        <p:blipFill>
          <a:blip r:embed="rId1"/>
          <a:srcRect l="2593" r="2593" t="0" b="0"/>
          <a:stretch/>
        </p:blipFill>
        <p:spPr>
          <a:xfrm>
            <a:off x="7315150" y="0"/>
            <a:ext cx="4876767" cy="6858000"/>
          </a:xfrm>
          <a:prstGeom prst="rect">
            <a:avLst/>
          </a:prstGeom>
        </p:spPr>
      </p:pic>
      <p:sp>
        <p:nvSpPr>
          <p:cNvPr id="3" name="Shape 0"/>
          <p:cNvSpPr/>
          <p:nvPr/>
        </p:nvSpPr>
        <p:spPr>
          <a:xfrm>
            <a:off x="7315150" y="0"/>
            <a:ext cx="101534" cy="6858000"/>
          </a:xfrm>
          <a:prstGeom prst="rect">
            <a:avLst/>
          </a:prstGeom>
          <a:solidFill>
            <a:srgbClr val="FC8400"/>
          </a:solidFill>
          <a:ln/>
        </p:spPr>
      </p:sp>
      <p:sp>
        <p:nvSpPr>
          <p:cNvPr id="4" name="Text 1"/>
          <p:cNvSpPr/>
          <p:nvPr/>
        </p:nvSpPr>
        <p:spPr>
          <a:xfrm>
            <a:off x="812767" y="1778413"/>
            <a:ext cx="6017260"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C5837"/>
                </a:solidFill>
                <a:latin typeface="Source Sans 3" pitchFamily="34" charset="0"/>
                <a:ea typeface="Source Sans 3" pitchFamily="34" charset="-122"/>
                <a:cs typeface="Source Sans 3" pitchFamily="34" charset="-120"/>
              </a:rPr>
              <a:t>CONFERENCIA · TRIBUNAL DE BRASIL</a:t>
            </a:r>
            <a:endParaRPr lang="en-US" sz="1200" dirty="0"/>
          </a:p>
        </p:txBody>
      </p:sp>
      <p:sp>
        <p:nvSpPr>
          <p:cNvPr id="5" name="Text 2"/>
          <p:cNvSpPr/>
          <p:nvPr>
            <p:ph type="title"/>
          </p:nvPr>
        </p:nvSpPr>
        <p:spPr>
          <a:xfrm>
            <a:off x="812767" y="2194884"/>
            <a:ext cx="6017260" cy="2158934"/>
          </a:xfrm>
          <a:prstGeom prst="rect">
            <a:avLst/>
          </a:prstGeom>
          <a:noFill/>
          <a:ln/>
        </p:spPr>
        <p:txBody>
          <a:bodyPr wrap="square" lIns="0" tIns="0" rIns="0" bIns="0" rtlCol="0" anchor="t">
            <a:normAutofit/>
          </a:bodyPr>
          <a:lstStyle/>
          <a:p>
            <a:pPr algn="l" indent="0" marL="0">
              <a:lnSpc>
                <a:spcPts val="4200"/>
              </a:lnSpc>
              <a:buNone/>
            </a:pPr>
            <a:r>
              <a:rPr lang="en-US" sz="4000" b="1" i="0" spc="-50" kern="0" dirty="0">
                <a:solidFill>
                  <a:srgbClr val="1A1A1A"/>
                </a:solidFill>
                <a:latin typeface="Source Sans 3" pitchFamily="34" charset="0"/>
                <a:ea typeface="Source Sans 3" pitchFamily="34" charset="-122"/>
                <a:cs typeface="Source Sans 3" pitchFamily="34" charset="-120"/>
              </a:rPr>
              <a:t>La interseccionalidad como principio constitucional y deber judicial</a:t>
            </a:r>
            <a:endParaRPr lang="en-US" sz="4000" dirty="0"/>
          </a:p>
        </p:txBody>
      </p:sp>
      <p:sp>
        <p:nvSpPr>
          <p:cNvPr id="6" name="Shape 3"/>
          <p:cNvSpPr/>
          <p:nvPr/>
        </p:nvSpPr>
        <p:spPr>
          <a:xfrm>
            <a:off x="812767" y="4531568"/>
            <a:ext cx="762000" cy="50767"/>
          </a:xfrm>
          <a:prstGeom prst="rect">
            <a:avLst/>
          </a:prstGeom>
          <a:solidFill>
            <a:srgbClr val="FC8400"/>
          </a:solidFill>
          <a:ln/>
        </p:spPr>
      </p:sp>
      <p:sp>
        <p:nvSpPr>
          <p:cNvPr id="7" name="Text 4"/>
          <p:cNvSpPr/>
          <p:nvPr/>
        </p:nvSpPr>
        <p:spPr>
          <a:xfrm>
            <a:off x="812767" y="4785485"/>
            <a:ext cx="6017260" cy="309910"/>
          </a:xfrm>
          <a:prstGeom prst="rect">
            <a:avLst/>
          </a:prstGeom>
          <a:noFill/>
          <a:ln/>
        </p:spPr>
        <p:txBody>
          <a:bodyPr wrap="square" lIns="0" tIns="0" rIns="0" bIns="0" rtlCol="0" anchor="t">
            <a:normAutofit/>
          </a:bodyPr>
          <a:lstStyle/>
          <a:p>
            <a:pPr algn="l" indent="0" marL="0">
              <a:lnSpc>
                <a:spcPts val="2240"/>
              </a:lnSpc>
              <a:buNone/>
            </a:pPr>
            <a:r>
              <a:rPr lang="en-US" sz="1600" i="1" dirty="0">
                <a:solidFill>
                  <a:srgbClr val="585757"/>
                </a:solidFill>
                <a:latin typeface="Source Sans 3" pitchFamily="34" charset="0"/>
                <a:ea typeface="Source Sans 3" pitchFamily="34" charset="-122"/>
                <a:cs typeface="Source Sans 3" pitchFamily="34" charset="-120"/>
              </a:rPr>
              <a:t>A interseccionalidade como princípio constitucional e dever judicial</a:t>
            </a:r>
            <a:endParaRPr lang="en-US" sz="1600" dirty="0"/>
          </a:p>
        </p:txBody>
      </p:sp>
      <p:sp>
        <p:nvSpPr>
          <p:cNvPr id="8" name="Text 5"/>
          <p:cNvSpPr/>
          <p:nvPr/>
        </p:nvSpPr>
        <p:spPr>
          <a:xfrm>
            <a:off x="812767" y="5273146"/>
            <a:ext cx="6017260" cy="34546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A1A1A"/>
                </a:solidFill>
                <a:latin typeface="Source Sans 3" pitchFamily="34" charset="0"/>
                <a:ea typeface="Source Sans 3" pitchFamily="34" charset="-122"/>
                <a:cs typeface="Source Sans 3" pitchFamily="34" charset="-120"/>
              </a:rPr>
              <a:t>Lisneider Hinestroza Cuesta</a:t>
            </a:r>
            <a:endParaRPr lang="en-US" sz="1800" dirty="0"/>
          </a:p>
        </p:txBody>
      </p:sp>
      <p:sp>
        <p:nvSpPr>
          <p:cNvPr id="9" name="Text 6"/>
          <p:cNvSpPr/>
          <p:nvPr/>
        </p:nvSpPr>
        <p:spPr>
          <a:xfrm>
            <a:off x="812767" y="5618592"/>
            <a:ext cx="60172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Docente · Líder del Grupo de Investigación «Derecho, Sociedad y Medio Ambiente» (GIDSMA)</a:t>
            </a:r>
            <a:endParaRPr lang="en-US" sz="1200" dirty="0"/>
          </a:p>
          <a:p>
            <a:pPr algn="l"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Universidad Tecnológica del Chocó «Diego Luis Córdoba»</a:t>
            </a:r>
            <a:endParaRPr lang="en-US" sz="1200" dirty="0"/>
          </a:p>
        </p:txBody>
      </p:sp>
      <p:pic>
        <p:nvPicPr>
          <p:cNvPr id="10" name="Image 1" descr="Sello de la Universidad Tecnológica del Chocó">    </p:cNvPr>
          <p:cNvPicPr>
            <a:picLocks noChangeAspect="1"/>
          </p:cNvPicPr>
          <p:nvPr/>
        </p:nvPicPr>
        <p:blipFill>
          <a:blip r:embed="rId2"/>
          <a:srcRect l="-906" r="-906" t="0" b="0"/>
          <a:stretch/>
        </p:blipFill>
        <p:spPr>
          <a:xfrm>
            <a:off x="812767" y="508000"/>
            <a:ext cx="660383" cy="660383"/>
          </a:xfrm>
          <a:prstGeom prst="rect">
            <a:avLst/>
          </a:prstGeom>
        </p:spPr>
      </p:pic>
      <p:pic>
        <p:nvPicPr>
          <p:cNvPr id="11" name="Image 2" descr="Logo del grupo de investigación GIDSMA">    </p:cNvPr>
          <p:cNvPicPr>
            <a:picLocks noChangeAspect="1"/>
          </p:cNvPicPr>
          <p:nvPr/>
        </p:nvPicPr>
        <p:blipFill>
          <a:blip r:embed="rId3"/>
          <a:srcRect l="0" r="0" t="0" b="0"/>
          <a:stretch/>
        </p:blipFill>
        <p:spPr>
          <a:xfrm>
            <a:off x="1625534" y="508000"/>
            <a:ext cx="660383" cy="660383"/>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cond evt="onBegin" delay="0">
                          <p:tn val="2"/>
                        </p:cond>
                      </p:stCondLst>
                      <p:childTnLst>
                        <p:par>
                          <p:cTn id="10" fill="hold">
                            <p:stCondLst>
                              <p:cond delay="0"/>
                            </p:stCondLst>
                            <p:childTnLst>
                              <p:par>
                                <p:cTn id="5" presetID="10" presetClass="entr" presetSubtype="0" fill="hold" grpId="0" nodeType="afterEffect">
                                  <p:stCondLst>
                                    <p:cond delay="20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600"/>
                                        <p:tgtEl>
                                          <p:spTgt spid="10"/>
                                        </p:tgtEl>
                                      </p:cBhvr>
                                    </p:animEffect>
                                  </p:childTnLst>
                                </p:cTn>
                              </p:par>
                              <p:par>
                                <p:cTn id="8" presetID="10" presetClass="entr" presetSubtype="0" fill="hold" grpId="0" nodeType="withEffect">
                                  <p:stCondLst>
                                    <p:cond delay="20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7" y="812767"/>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RUTA DE LA CONFERENCIA</a:t>
            </a:r>
            <a:endParaRPr lang="en-US" sz="1200" dirty="0"/>
          </a:p>
        </p:txBody>
      </p:sp>
      <p:sp>
        <p:nvSpPr>
          <p:cNvPr id="3" name="Text 1"/>
          <p:cNvSpPr/>
          <p:nvPr>
            <p:ph type="title"/>
          </p:nvPr>
        </p:nvSpPr>
        <p:spPr>
          <a:xfrm>
            <a:off x="812767" y="112762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1A1A"/>
                </a:solidFill>
                <a:latin typeface="Source Sans 3" pitchFamily="34" charset="0"/>
                <a:ea typeface="Source Sans 3" pitchFamily="34" charset="-122"/>
                <a:cs typeface="Source Sans 3" pitchFamily="34" charset="-120"/>
              </a:rPr>
              <a:t>Contenido</a:t>
            </a:r>
            <a:endParaRPr lang="en-US" sz="3200" dirty="0"/>
          </a:p>
        </p:txBody>
      </p:sp>
      <p:sp>
        <p:nvSpPr>
          <p:cNvPr id="4" name="Shape 2"/>
          <p:cNvSpPr/>
          <p:nvPr/>
        </p:nvSpPr>
        <p:spPr>
          <a:xfrm>
            <a:off x="812767" y="1676135"/>
            <a:ext cx="762000" cy="50767"/>
          </a:xfrm>
          <a:prstGeom prst="rect">
            <a:avLst/>
          </a:prstGeom>
          <a:solidFill>
            <a:srgbClr val="FC8400"/>
          </a:solidFill>
          <a:ln/>
        </p:spPr>
      </p:sp>
      <p:sp>
        <p:nvSpPr>
          <p:cNvPr id="5" name="Shape 3"/>
          <p:cNvSpPr/>
          <p:nvPr/>
        </p:nvSpPr>
        <p:spPr>
          <a:xfrm>
            <a:off x="812767" y="2082436"/>
            <a:ext cx="5181616" cy="1470091"/>
          </a:xfrm>
          <a:prstGeom prst="rect">
            <a:avLst/>
          </a:prstGeom>
          <a:solidFill>
            <a:srgbClr val="F3F3F3"/>
          </a:solidFill>
          <a:ln/>
        </p:spPr>
      </p:sp>
      <p:sp>
        <p:nvSpPr>
          <p:cNvPr id="6" name="Shape 4"/>
          <p:cNvSpPr/>
          <p:nvPr/>
        </p:nvSpPr>
        <p:spPr>
          <a:xfrm>
            <a:off x="812767" y="2107836"/>
            <a:ext cx="5181616" cy="0"/>
          </a:xfrm>
          <a:prstGeom prst="line">
            <a:avLst/>
          </a:prstGeom>
          <a:noFill/>
          <a:ln w="50800">
            <a:solidFill>
              <a:srgbClr val="156082"/>
            </a:solidFill>
            <a:prstDash val="solid"/>
          </a:ln>
        </p:spPr>
      </p:sp>
      <p:sp>
        <p:nvSpPr>
          <p:cNvPr id="7" name="Text 5"/>
          <p:cNvSpPr/>
          <p:nvPr/>
        </p:nvSpPr>
        <p:spPr>
          <a:xfrm>
            <a:off x="1066767" y="2384061"/>
            <a:ext cx="304635" cy="939866"/>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56082"/>
                </a:solidFill>
                <a:latin typeface="Source Sans 3" pitchFamily="34" charset="0"/>
                <a:ea typeface="Source Sans 3" pitchFamily="34" charset="-122"/>
                <a:cs typeface="Source Sans 3" pitchFamily="34" charset="-120"/>
              </a:rPr>
              <a:t>01</a:t>
            </a:r>
            <a:endParaRPr lang="en-US" sz="3600" dirty="0"/>
          </a:p>
        </p:txBody>
      </p:sp>
      <p:sp>
        <p:nvSpPr>
          <p:cNvPr id="8" name="Text 6"/>
          <p:cNvSpPr/>
          <p:nvPr/>
        </p:nvSpPr>
        <p:spPr>
          <a:xfrm>
            <a:off x="1523752" y="2384061"/>
            <a:ext cx="4343130" cy="56498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1A1A1A"/>
                </a:solidFill>
                <a:latin typeface="Source Sans 3" pitchFamily="34" charset="0"/>
                <a:ea typeface="Source Sans 3" pitchFamily="34" charset="-122"/>
                <a:cs typeface="Source Sans 3" pitchFamily="34" charset="-120"/>
              </a:rPr>
              <a:t>Litigio estratégico en perspectiva de género y en contexto de diversidad étnica y cultural</a:t>
            </a:r>
            <a:endParaRPr lang="en-US" sz="1700" dirty="0"/>
          </a:p>
        </p:txBody>
      </p:sp>
      <p:sp>
        <p:nvSpPr>
          <p:cNvPr id="9" name="Shape 7"/>
          <p:cNvSpPr/>
          <p:nvPr/>
        </p:nvSpPr>
        <p:spPr>
          <a:xfrm>
            <a:off x="6197534" y="2082436"/>
            <a:ext cx="5181699" cy="1470091"/>
          </a:xfrm>
          <a:prstGeom prst="rect">
            <a:avLst/>
          </a:prstGeom>
          <a:solidFill>
            <a:srgbClr val="F3F3F3"/>
          </a:solidFill>
          <a:ln/>
        </p:spPr>
      </p:sp>
      <p:sp>
        <p:nvSpPr>
          <p:cNvPr id="10" name="Shape 8"/>
          <p:cNvSpPr/>
          <p:nvPr/>
        </p:nvSpPr>
        <p:spPr>
          <a:xfrm>
            <a:off x="6197534" y="2107836"/>
            <a:ext cx="5181699" cy="0"/>
          </a:xfrm>
          <a:prstGeom prst="line">
            <a:avLst/>
          </a:prstGeom>
          <a:noFill/>
          <a:ln w="50800">
            <a:solidFill>
              <a:srgbClr val="156082"/>
            </a:solidFill>
            <a:prstDash val="solid"/>
          </a:ln>
        </p:spPr>
      </p:sp>
      <p:sp>
        <p:nvSpPr>
          <p:cNvPr id="11" name="Text 9"/>
          <p:cNvSpPr/>
          <p:nvPr/>
        </p:nvSpPr>
        <p:spPr>
          <a:xfrm>
            <a:off x="6451534" y="2384061"/>
            <a:ext cx="474381" cy="939866"/>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56082"/>
                </a:solidFill>
                <a:latin typeface="Source Sans 3" pitchFamily="34" charset="0"/>
                <a:ea typeface="Source Sans 3" pitchFamily="34" charset="-122"/>
                <a:cs typeface="Source Sans 3" pitchFamily="34" charset="-120"/>
              </a:rPr>
              <a:t>02</a:t>
            </a:r>
            <a:endParaRPr lang="en-US" sz="3600" dirty="0"/>
          </a:p>
        </p:txBody>
      </p:sp>
      <p:sp>
        <p:nvSpPr>
          <p:cNvPr id="12" name="Text 10"/>
          <p:cNvSpPr/>
          <p:nvPr/>
        </p:nvSpPr>
        <p:spPr>
          <a:xfrm>
            <a:off x="7078266" y="2384061"/>
            <a:ext cx="4168376" cy="56498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1A1A1A"/>
                </a:solidFill>
                <a:latin typeface="Source Sans 3" pitchFamily="34" charset="0"/>
                <a:ea typeface="Source Sans 3" pitchFamily="34" charset="-122"/>
                <a:cs typeface="Source Sans 3" pitchFamily="34" charset="-120"/>
              </a:rPr>
              <a:t>Interseccionalidad: concepto, origen y genealogías</a:t>
            </a:r>
            <a:endParaRPr lang="en-US" sz="1700" dirty="0"/>
          </a:p>
        </p:txBody>
      </p:sp>
      <p:sp>
        <p:nvSpPr>
          <p:cNvPr id="13" name="Shape 11"/>
          <p:cNvSpPr/>
          <p:nvPr/>
        </p:nvSpPr>
        <p:spPr>
          <a:xfrm>
            <a:off x="812767" y="3755678"/>
            <a:ext cx="5181616" cy="1470091"/>
          </a:xfrm>
          <a:prstGeom prst="rect">
            <a:avLst/>
          </a:prstGeom>
          <a:solidFill>
            <a:srgbClr val="F3F3F3"/>
          </a:solidFill>
          <a:ln/>
        </p:spPr>
      </p:sp>
      <p:sp>
        <p:nvSpPr>
          <p:cNvPr id="14" name="Shape 12"/>
          <p:cNvSpPr/>
          <p:nvPr/>
        </p:nvSpPr>
        <p:spPr>
          <a:xfrm>
            <a:off x="812767" y="3781078"/>
            <a:ext cx="5181616" cy="0"/>
          </a:xfrm>
          <a:prstGeom prst="line">
            <a:avLst/>
          </a:prstGeom>
          <a:noFill/>
          <a:ln w="50800">
            <a:solidFill>
              <a:srgbClr val="0C5837"/>
            </a:solidFill>
            <a:prstDash val="solid"/>
          </a:ln>
        </p:spPr>
      </p:sp>
      <p:sp>
        <p:nvSpPr>
          <p:cNvPr id="15" name="Text 13"/>
          <p:cNvSpPr/>
          <p:nvPr/>
        </p:nvSpPr>
        <p:spPr>
          <a:xfrm>
            <a:off x="1066767" y="4057303"/>
            <a:ext cx="487859" cy="939866"/>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C5837"/>
                </a:solidFill>
                <a:latin typeface="Source Sans 3" pitchFamily="34" charset="0"/>
                <a:ea typeface="Source Sans 3" pitchFamily="34" charset="-122"/>
                <a:cs typeface="Source Sans 3" pitchFamily="34" charset="-120"/>
              </a:rPr>
              <a:t>03</a:t>
            </a:r>
            <a:endParaRPr lang="en-US" sz="3600" dirty="0"/>
          </a:p>
        </p:txBody>
      </p:sp>
      <p:sp>
        <p:nvSpPr>
          <p:cNvPr id="16" name="Text 14"/>
          <p:cNvSpPr/>
          <p:nvPr/>
        </p:nvSpPr>
        <p:spPr>
          <a:xfrm>
            <a:off x="1706976" y="4057303"/>
            <a:ext cx="4154410" cy="56498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1A1A1A"/>
                </a:solidFill>
                <a:latin typeface="Source Sans 3" pitchFamily="34" charset="0"/>
                <a:ea typeface="Source Sans 3" pitchFamily="34" charset="-122"/>
                <a:cs typeface="Source Sans 3" pitchFamily="34" charset="-120"/>
              </a:rPr>
              <a:t>La interseccionalidad en las decisiones judiciales</a:t>
            </a:r>
            <a:endParaRPr lang="en-US" sz="1700" dirty="0"/>
          </a:p>
        </p:txBody>
      </p:sp>
      <p:sp>
        <p:nvSpPr>
          <p:cNvPr id="17" name="Shape 15"/>
          <p:cNvSpPr/>
          <p:nvPr/>
        </p:nvSpPr>
        <p:spPr>
          <a:xfrm>
            <a:off x="6197534" y="3755678"/>
            <a:ext cx="5181699" cy="1470091"/>
          </a:xfrm>
          <a:prstGeom prst="rect">
            <a:avLst/>
          </a:prstGeom>
          <a:solidFill>
            <a:srgbClr val="F3F3F3"/>
          </a:solidFill>
          <a:ln/>
        </p:spPr>
      </p:sp>
      <p:sp>
        <p:nvSpPr>
          <p:cNvPr id="18" name="Shape 16"/>
          <p:cNvSpPr/>
          <p:nvPr/>
        </p:nvSpPr>
        <p:spPr>
          <a:xfrm>
            <a:off x="6197534" y="3781078"/>
            <a:ext cx="5181699" cy="0"/>
          </a:xfrm>
          <a:prstGeom prst="line">
            <a:avLst/>
          </a:prstGeom>
          <a:noFill/>
          <a:ln w="50800">
            <a:solidFill>
              <a:srgbClr val="0C5837"/>
            </a:solidFill>
            <a:prstDash val="solid"/>
          </a:ln>
        </p:spPr>
      </p:sp>
      <p:sp>
        <p:nvSpPr>
          <p:cNvPr id="19" name="Text 17"/>
          <p:cNvSpPr/>
          <p:nvPr/>
        </p:nvSpPr>
        <p:spPr>
          <a:xfrm>
            <a:off x="6451534" y="4057303"/>
            <a:ext cx="330597" cy="939866"/>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C5837"/>
                </a:solidFill>
                <a:latin typeface="Source Sans 3" pitchFamily="34" charset="0"/>
                <a:ea typeface="Source Sans 3" pitchFamily="34" charset="-122"/>
                <a:cs typeface="Source Sans 3" pitchFamily="34" charset="-120"/>
              </a:rPr>
              <a:t>04</a:t>
            </a:r>
            <a:endParaRPr lang="en-US" sz="3600" dirty="0"/>
          </a:p>
        </p:txBody>
      </p:sp>
      <p:sp>
        <p:nvSpPr>
          <p:cNvPr id="20" name="Text 18"/>
          <p:cNvSpPr/>
          <p:nvPr/>
        </p:nvSpPr>
        <p:spPr>
          <a:xfrm>
            <a:off x="6934481" y="4057303"/>
            <a:ext cx="4316475" cy="56498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1A1A1A"/>
                </a:solidFill>
                <a:latin typeface="Source Sans 3" pitchFamily="34" charset="0"/>
                <a:ea typeface="Source Sans 3" pitchFamily="34" charset="-122"/>
                <a:cs typeface="Source Sans 3" pitchFamily="34" charset="-120"/>
              </a:rPr>
              <a:t>Sujeto de especial protección constitucional y estándar de protección reforzada</a:t>
            </a:r>
            <a:endParaRPr lang="en-US" sz="1700" dirty="0"/>
          </a:p>
        </p:txBody>
      </p:sp>
      <p:sp>
        <p:nvSpPr>
          <p:cNvPr id="21" name="Text 19"/>
          <p:cNvSpPr/>
          <p:nvPr/>
        </p:nvSpPr>
        <p:spPr>
          <a:xfrm>
            <a:off x="7454933" y="6238295"/>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Hinestroza Cuesta · UTCH</a:t>
            </a:r>
            <a:endParaRPr lang="en-US" sz="12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583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6" r="-6" t="0" b="0"/>
          <a:stretch/>
        </p:blipFill>
        <p:spPr>
          <a:xfrm>
            <a:off x="7366000" y="0"/>
            <a:ext cx="4826000" cy="6858000"/>
          </a:xfrm>
          <a:prstGeom prst="rect">
            <a:avLst/>
          </a:prstGeom>
        </p:spPr>
      </p:pic>
      <p:sp>
        <p:nvSpPr>
          <p:cNvPr id="3" name="Text 0"/>
          <p:cNvSpPr/>
          <p:nvPr/>
        </p:nvSpPr>
        <p:spPr>
          <a:xfrm>
            <a:off x="812767" y="1596594"/>
            <a:ext cx="1088346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C8400"/>
                </a:solidFill>
                <a:latin typeface="Source Sans 3" pitchFamily="34" charset="0"/>
                <a:ea typeface="Source Sans 3" pitchFamily="34" charset="-122"/>
                <a:cs typeface="Source Sans 3" pitchFamily="34" charset="-120"/>
              </a:rPr>
              <a:t>01</a:t>
            </a:r>
            <a:endParaRPr lang="en-US" sz="8000" dirty="0"/>
          </a:p>
        </p:txBody>
      </p:sp>
      <p:sp>
        <p:nvSpPr>
          <p:cNvPr id="4" name="Text 1"/>
          <p:cNvSpPr/>
          <p:nvPr>
            <p:ph type="title"/>
          </p:nvPr>
        </p:nvSpPr>
        <p:spPr>
          <a:xfrm>
            <a:off x="812767" y="2815744"/>
            <a:ext cx="7194550" cy="1198662"/>
          </a:xfrm>
          <a:prstGeom prst="rect">
            <a:avLst/>
          </a:prstGeom>
          <a:noFill/>
          <a:ln/>
        </p:spPr>
        <p:txBody>
          <a:bodyPr wrap="square" lIns="0" tIns="0" rIns="0" bIns="0" rtlCol="0" anchor="t">
            <a:normAutofit/>
          </a:bodyPr>
          <a:lstStyle/>
          <a:p>
            <a:pPr algn="l" indent="0" marL="0">
              <a:lnSpc>
                <a:spcPts val="4620"/>
              </a:lnSpc>
              <a:buNone/>
            </a:pPr>
            <a:r>
              <a:rPr lang="en-US" sz="4400" b="1" i="0" spc="-50" kern="0" dirty="0">
                <a:solidFill>
                  <a:srgbClr val="FFFFFF"/>
                </a:solidFill>
                <a:latin typeface="Source Sans 3" pitchFamily="34" charset="0"/>
                <a:ea typeface="Source Sans 3" pitchFamily="34" charset="-122"/>
                <a:cs typeface="Source Sans 3" pitchFamily="34" charset="-120"/>
              </a:rPr>
              <a:t>Litigio estratégico en perspectiva de género</a:t>
            </a:r>
            <a:endParaRPr lang="en-US" sz="4400" dirty="0"/>
          </a:p>
        </p:txBody>
      </p:sp>
      <p:sp>
        <p:nvSpPr>
          <p:cNvPr id="5" name="Text 2"/>
          <p:cNvSpPr/>
          <p:nvPr/>
        </p:nvSpPr>
        <p:spPr>
          <a:xfrm>
            <a:off x="812767" y="4192157"/>
            <a:ext cx="65405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D9ECE1"/>
                </a:solidFill>
                <a:latin typeface="Source Sans 3" pitchFamily="34" charset="0"/>
                <a:ea typeface="Source Sans 3" pitchFamily="34" charset="-122"/>
                <a:cs typeface="Source Sans 3" pitchFamily="34" charset="-120"/>
              </a:rPr>
              <a:t>La relación entre género y raza en el contexto de América Latina y el Caribe</a:t>
            </a:r>
            <a:endParaRPr lang="en-US" sz="1800" dirty="0"/>
          </a:p>
        </p:txBody>
      </p:sp>
      <p:sp>
        <p:nvSpPr>
          <p:cNvPr id="6" name="Text 3"/>
          <p:cNvSpPr/>
          <p:nvPr/>
        </p:nvSpPr>
        <p:spPr>
          <a:xfrm>
            <a:off x="812767" y="5012448"/>
            <a:ext cx="10883460" cy="274274"/>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D9ECE1"/>
                </a:solidFill>
                <a:latin typeface="Source Sans 3" pitchFamily="34" charset="0"/>
                <a:ea typeface="Source Sans 3" pitchFamily="34" charset="-122"/>
                <a:cs typeface="Source Sans 3" pitchFamily="34" charset="-120"/>
              </a:rPr>
              <a:t>Litígio estratégico com perspectiva de gênero</a:t>
            </a:r>
            <a:endParaRPr lang="en-US" sz="1400" dirty="0"/>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PARA TENER EN CUENTA</a:t>
            </a:r>
            <a:endParaRPr lang="en-US" sz="1200" dirty="0"/>
          </a:p>
        </p:txBody>
      </p:sp>
      <p:sp>
        <p:nvSpPr>
          <p:cNvPr id="3" name="Text 1"/>
          <p:cNvSpPr/>
          <p:nvPr>
            <p:ph type="title"/>
          </p:nvPr>
        </p:nvSpPr>
        <p:spPr>
          <a:xfrm>
            <a:off x="812767" y="112762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1A1A"/>
                </a:solidFill>
                <a:latin typeface="Source Sans 3" pitchFamily="34" charset="0"/>
                <a:ea typeface="Source Sans 3" pitchFamily="34" charset="-122"/>
                <a:cs typeface="Source Sans 3" pitchFamily="34" charset="-120"/>
              </a:rPr>
              <a:t>América Latina y el Caribe en cifras</a:t>
            </a:r>
            <a:endParaRPr lang="en-US" sz="3200" dirty="0"/>
          </a:p>
        </p:txBody>
      </p:sp>
      <p:sp>
        <p:nvSpPr>
          <p:cNvPr id="4" name="Shape 2"/>
          <p:cNvSpPr/>
          <p:nvPr/>
        </p:nvSpPr>
        <p:spPr>
          <a:xfrm>
            <a:off x="812767" y="1676135"/>
            <a:ext cx="762000" cy="50767"/>
          </a:xfrm>
          <a:prstGeom prst="rect">
            <a:avLst/>
          </a:prstGeom>
          <a:solidFill>
            <a:srgbClr val="FC8400"/>
          </a:solidFill>
          <a:ln/>
        </p:spPr>
      </p:sp>
      <p:sp>
        <p:nvSpPr>
          <p:cNvPr id="5" name="Shape 3"/>
          <p:cNvSpPr/>
          <p:nvPr/>
        </p:nvSpPr>
        <p:spPr>
          <a:xfrm>
            <a:off x="812767" y="2159000"/>
            <a:ext cx="2489150" cy="2730500"/>
          </a:xfrm>
          <a:prstGeom prst="rect">
            <a:avLst/>
          </a:prstGeom>
          <a:solidFill>
            <a:srgbClr val="156082"/>
          </a:solidFill>
          <a:ln/>
        </p:spPr>
      </p:sp>
      <p:sp>
        <p:nvSpPr>
          <p:cNvPr id="6" name="Text 4"/>
          <p:cNvSpPr/>
          <p:nvPr/>
        </p:nvSpPr>
        <p:spPr>
          <a:xfrm>
            <a:off x="1066767" y="2413000"/>
            <a:ext cx="2040585" cy="635017"/>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FFFF"/>
                </a:solidFill>
                <a:latin typeface="Source Sans 3" pitchFamily="34" charset="0"/>
                <a:ea typeface="Source Sans 3" pitchFamily="34" charset="-122"/>
                <a:cs typeface="Source Sans 3" pitchFamily="34" charset="-120"/>
              </a:rPr>
              <a:t>134</a:t>
            </a:r>
            <a:endParaRPr lang="en-US" sz="4800" dirty="0"/>
          </a:p>
        </p:txBody>
      </p:sp>
      <p:sp>
        <p:nvSpPr>
          <p:cNvPr id="7" name="Text 5"/>
          <p:cNvSpPr/>
          <p:nvPr/>
        </p:nvSpPr>
        <p:spPr>
          <a:xfrm>
            <a:off x="1066767" y="3124150"/>
            <a:ext cx="2040585" cy="7683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Source Sans 3" pitchFamily="34" charset="0"/>
                <a:ea typeface="Source Sans 3" pitchFamily="34" charset="-122"/>
                <a:cs typeface="Source Sans 3" pitchFamily="34" charset="-120"/>
              </a:rPr>
              <a:t>millones de personas afrodescendientes en la región</a:t>
            </a:r>
            <a:endParaRPr lang="en-US" sz="1500" dirty="0"/>
          </a:p>
        </p:txBody>
      </p:sp>
      <p:sp>
        <p:nvSpPr>
          <p:cNvPr id="8" name="Shape 6"/>
          <p:cNvSpPr/>
          <p:nvPr/>
        </p:nvSpPr>
        <p:spPr>
          <a:xfrm>
            <a:off x="3505150" y="2159000"/>
            <a:ext cx="2489150" cy="2730500"/>
          </a:xfrm>
          <a:prstGeom prst="rect">
            <a:avLst/>
          </a:prstGeom>
          <a:solidFill>
            <a:srgbClr val="156082"/>
          </a:solidFill>
          <a:ln/>
        </p:spPr>
      </p:sp>
      <p:sp>
        <p:nvSpPr>
          <p:cNvPr id="9" name="Text 7"/>
          <p:cNvSpPr/>
          <p:nvPr/>
        </p:nvSpPr>
        <p:spPr>
          <a:xfrm>
            <a:off x="3759150" y="2413000"/>
            <a:ext cx="2040585" cy="635017"/>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FFFF"/>
                </a:solidFill>
                <a:latin typeface="Source Sans 3" pitchFamily="34" charset="0"/>
                <a:ea typeface="Source Sans 3" pitchFamily="34" charset="-122"/>
                <a:cs typeface="Source Sans 3" pitchFamily="34" charset="-120"/>
              </a:rPr>
              <a:t>21%</a:t>
            </a:r>
            <a:endParaRPr lang="en-US" sz="4800" dirty="0"/>
          </a:p>
        </p:txBody>
      </p:sp>
      <p:sp>
        <p:nvSpPr>
          <p:cNvPr id="10" name="Text 8"/>
          <p:cNvSpPr/>
          <p:nvPr/>
        </p:nvSpPr>
        <p:spPr>
          <a:xfrm>
            <a:off x="3759150" y="3124150"/>
            <a:ext cx="2040585" cy="7683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Source Sans 3" pitchFamily="34" charset="0"/>
                <a:ea typeface="Source Sans 3" pitchFamily="34" charset="-122"/>
                <a:cs typeface="Source Sans 3" pitchFamily="34" charset="-120"/>
              </a:rPr>
              <a:t>de la población de la región es afrodescendiente</a:t>
            </a:r>
            <a:endParaRPr lang="en-US" sz="1500" dirty="0"/>
          </a:p>
        </p:txBody>
      </p:sp>
      <p:sp>
        <p:nvSpPr>
          <p:cNvPr id="11" name="Shape 9"/>
          <p:cNvSpPr/>
          <p:nvPr/>
        </p:nvSpPr>
        <p:spPr>
          <a:xfrm>
            <a:off x="6197534" y="2159000"/>
            <a:ext cx="2489150" cy="2730500"/>
          </a:xfrm>
          <a:prstGeom prst="rect">
            <a:avLst/>
          </a:prstGeom>
          <a:solidFill>
            <a:srgbClr val="C8102E"/>
          </a:solidFill>
          <a:ln/>
        </p:spPr>
      </p:sp>
      <p:sp>
        <p:nvSpPr>
          <p:cNvPr id="12" name="Text 10"/>
          <p:cNvSpPr/>
          <p:nvPr/>
        </p:nvSpPr>
        <p:spPr>
          <a:xfrm>
            <a:off x="6451534" y="2413000"/>
            <a:ext cx="2040585" cy="635017"/>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FFFF"/>
                </a:solidFill>
                <a:latin typeface="Source Sans 3" pitchFamily="34" charset="0"/>
                <a:ea typeface="Source Sans 3" pitchFamily="34" charset="-122"/>
                <a:cs typeface="Source Sans 3" pitchFamily="34" charset="-120"/>
              </a:rPr>
              <a:t>13</a:t>
            </a:r>
            <a:endParaRPr lang="en-US" sz="4800" dirty="0"/>
          </a:p>
        </p:txBody>
      </p:sp>
      <p:sp>
        <p:nvSpPr>
          <p:cNvPr id="13" name="Text 11"/>
          <p:cNvSpPr/>
          <p:nvPr/>
        </p:nvSpPr>
        <p:spPr>
          <a:xfrm>
            <a:off x="6451534" y="3124150"/>
            <a:ext cx="2040585" cy="1015934"/>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Source Sans 3" pitchFamily="34" charset="0"/>
                <a:ea typeface="Source Sans 3" pitchFamily="34" charset="-122"/>
                <a:cs typeface="Source Sans 3" pitchFamily="34" charset="-120"/>
              </a:rPr>
              <a:t>países, apenas, condenan la discriminación racial en su constitución</a:t>
            </a:r>
            <a:endParaRPr lang="en-US" sz="1500" dirty="0"/>
          </a:p>
        </p:txBody>
      </p:sp>
      <p:sp>
        <p:nvSpPr>
          <p:cNvPr id="14" name="Shape 12"/>
          <p:cNvSpPr/>
          <p:nvPr/>
        </p:nvSpPr>
        <p:spPr>
          <a:xfrm>
            <a:off x="8890000" y="2159000"/>
            <a:ext cx="2489150" cy="2730500"/>
          </a:xfrm>
          <a:prstGeom prst="rect">
            <a:avLst/>
          </a:prstGeom>
          <a:solidFill>
            <a:srgbClr val="156082"/>
          </a:solidFill>
          <a:ln/>
        </p:spPr>
      </p:sp>
      <p:sp>
        <p:nvSpPr>
          <p:cNvPr id="15" name="Text 13"/>
          <p:cNvSpPr/>
          <p:nvPr/>
        </p:nvSpPr>
        <p:spPr>
          <a:xfrm>
            <a:off x="9144000" y="2413000"/>
            <a:ext cx="2040585" cy="635017"/>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FFFF"/>
                </a:solidFill>
                <a:latin typeface="Source Sans 3" pitchFamily="34" charset="0"/>
                <a:ea typeface="Source Sans 3" pitchFamily="34" charset="-122"/>
                <a:cs typeface="Source Sans 3" pitchFamily="34" charset="-120"/>
              </a:rPr>
              <a:t>5</a:t>
            </a:r>
            <a:endParaRPr lang="en-US" sz="4800" dirty="0"/>
          </a:p>
        </p:txBody>
      </p:sp>
      <p:sp>
        <p:nvSpPr>
          <p:cNvPr id="16" name="Text 14"/>
          <p:cNvSpPr/>
          <p:nvPr/>
        </p:nvSpPr>
        <p:spPr>
          <a:xfrm>
            <a:off x="9144000" y="3124150"/>
            <a:ext cx="2040585" cy="1263567"/>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Source Sans 3" pitchFamily="34" charset="0"/>
                <a:ea typeface="Source Sans 3" pitchFamily="34" charset="-122"/>
                <a:cs typeface="Source Sans 3" pitchFamily="34" charset="-120"/>
              </a:rPr>
              <a:t>constituciones nombran a las personas afrodescendientes; solo 3 las reconocen como pueblos</a:t>
            </a:r>
            <a:endParaRPr lang="en-US" sz="1500" dirty="0"/>
          </a:p>
        </p:txBody>
      </p:sp>
      <p:sp>
        <p:nvSpPr>
          <p:cNvPr id="17" name="Text 15"/>
          <p:cNvSpPr/>
          <p:nvPr/>
        </p:nvSpPr>
        <p:spPr>
          <a:xfrm>
            <a:off x="812767" y="5156150"/>
            <a:ext cx="10883374" cy="380934"/>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A1A1A"/>
                </a:solidFill>
                <a:latin typeface="Source Sans 3" pitchFamily="34" charset="0"/>
                <a:ea typeface="Source Sans 3" pitchFamily="34" charset="-122"/>
                <a:cs typeface="Source Sans 3" pitchFamily="34" charset="-120"/>
              </a:rPr>
              <a:t>Y es </a:t>
            </a:r>
            <a:r>
              <a:rPr lang="en-US" sz="2000" b="1" dirty="0">
                <a:solidFill>
                  <a:srgbClr val="C8102E"/>
                </a:solidFill>
                <a:latin typeface="Source Sans 3" pitchFamily="34" charset="0"/>
                <a:ea typeface="Source Sans 3" pitchFamily="34" charset="-122"/>
                <a:cs typeface="Source Sans 3" pitchFamily="34" charset="-120"/>
              </a:rPr>
              <a:t>la región más desigual del mundo.</a:t>
            </a:r>
            <a:endParaRPr lang="en-US" sz="2000" dirty="0"/>
          </a:p>
        </p:txBody>
      </p:sp>
      <p:sp>
        <p:nvSpPr>
          <p:cNvPr id="18" name="Text 16"/>
          <p:cNvSpPr/>
          <p:nvPr/>
        </p:nvSpPr>
        <p:spPr>
          <a:xfrm>
            <a:off x="812767" y="6238295"/>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Fuente: CEPAL, UNFPA (2020)</a:t>
            </a:r>
            <a:endParaRPr lang="en-US" sz="1200" dirty="0"/>
          </a:p>
        </p:txBody>
      </p:sp>
      <p:sp>
        <p:nvSpPr>
          <p:cNvPr id="19" name="Text 17"/>
          <p:cNvSpPr/>
          <p:nvPr/>
        </p:nvSpPr>
        <p:spPr>
          <a:xfrm>
            <a:off x="7454933" y="6238295"/>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Hinestroza Cuesta · UTCH</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7" presetID="42" presetClass="entr" presetSubtype="0"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600"/>
                                        <p:tgtEl>
                                          <p:spTgt spid="5"/>
                                        </p:tgtEl>
                                      </p:cBhvr>
                                    </p:animEffect>
                                    <p:anim calcmode="lin" valueType="num">
                                      <p:cBhvr>
                                        <p:cTn id="5" dur="600" decel="100000" fill="hold"/>
                                        <p:tgtEl>
                                          <p:spTgt spid="5"/>
                                        </p:tgtEl>
                                        <p:attrNameLst>
                                          <p:attrName>ppt_x</p:attrName>
                                        </p:attrNameLst>
                                      </p:cBhvr>
                                      <p:tavLst>
                                        <p:tav tm="0">
                                          <p:val>
                                            <p:strVal val="#ppt_x"/>
                                          </p:val>
                                        </p:tav>
                                        <p:tav tm="100000">
                                          <p:val>
                                            <p:strVal val="#ppt_x"/>
                                          </p:val>
                                        </p:tav>
                                      </p:tavLst>
                                    </p:anim>
                                    <p:anim calcmode="lin" valueType="num">
                                      <p:cBhvr>
                                        <p:cTn id="6" dur="600" decel="100000" fill="hold"/>
                                        <p:tgtEl>
                                          <p:spTgt spid="5"/>
                                        </p:tgtEl>
                                        <p:attrNameLst>
                                          <p:attrName>ppt_y</p:attrName>
                                        </p:attrNameLst>
                                      </p:cBhvr>
                                      <p:tavLst>
                                        <p:tav tm="0">
                                          <p:val>
                                            <p:strVal val="#ppt_y+.06"/>
                                          </p:val>
                                        </p:tav>
                                        <p:tav tm="100000">
                                          <p:val>
                                            <p:strVal val="#ppt_y"/>
                                          </p:val>
                                        </p:tav>
                                      </p:tavLst>
                                    </p:anim>
                                  </p:childTnLst>
                                </p:cTn>
                              </p:par>
                              <p:par>
                                <p:cTn id="12" presetID="42"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600"/>
                                        <p:tgtEl>
                                          <p:spTgt spid="6"/>
                                        </p:tgtEl>
                                      </p:cBhvr>
                                    </p:animEffect>
                                    <p:anim calcmode="lin" valueType="num">
                                      <p:cBhvr>
                                        <p:cTn id="10" dur="600" decel="100000" fill="hold"/>
                                        <p:tgtEl>
                                          <p:spTgt spid="6"/>
                                        </p:tgtEl>
                                        <p:attrNameLst>
                                          <p:attrName>ppt_x</p:attrName>
                                        </p:attrNameLst>
                                      </p:cBhvr>
                                      <p:tavLst>
                                        <p:tav tm="0">
                                          <p:val>
                                            <p:strVal val="#ppt_x"/>
                                          </p:val>
                                        </p:tav>
                                        <p:tav tm="100000">
                                          <p:val>
                                            <p:strVal val="#ppt_x"/>
                                          </p:val>
                                        </p:tav>
                                      </p:tavLst>
                                    </p:anim>
                                    <p:anim calcmode="lin" valueType="num">
                                      <p:cBhvr>
                                        <p:cTn id="11" dur="600" decel="100000" fill="hold"/>
                                        <p:tgtEl>
                                          <p:spTgt spid="6"/>
                                        </p:tgtEl>
                                        <p:attrNameLst>
                                          <p:attrName>ppt_y</p:attrName>
                                        </p:attrNameLst>
                                      </p:cBhvr>
                                      <p:tavLst>
                                        <p:tav tm="0">
                                          <p:val>
                                            <p:strVal val="#ppt_y+.06"/>
                                          </p:val>
                                        </p:tav>
                                        <p:tav tm="100000">
                                          <p:val>
                                            <p:strVal val="#ppt_y"/>
                                          </p:val>
                                        </p:tav>
                                      </p:tavLst>
                                    </p:anim>
                                  </p:childTnLst>
                                </p:cTn>
                              </p:par>
                              <p:par>
                                <p:cTn id="17" presetID="42"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600"/>
                                        <p:tgtEl>
                                          <p:spTgt spid="7"/>
                                        </p:tgtEl>
                                      </p:cBhvr>
                                    </p:animEffect>
                                    <p:anim calcmode="lin" valueType="num">
                                      <p:cBhvr>
                                        <p:cTn id="15" dur="600" decel="100000" fill="hold"/>
                                        <p:tgtEl>
                                          <p:spTgt spid="7"/>
                                        </p:tgtEl>
                                        <p:attrNameLst>
                                          <p:attrName>ppt_x</p:attrName>
                                        </p:attrNameLst>
                                      </p:cBhvr>
                                      <p:tavLst>
                                        <p:tav tm="0">
                                          <p:val>
                                            <p:strVal val="#ppt_x"/>
                                          </p:val>
                                        </p:tav>
                                        <p:tav tm="100000">
                                          <p:val>
                                            <p:strVal val="#ppt_x"/>
                                          </p:val>
                                        </p:tav>
                                      </p:tavLst>
                                    </p:anim>
                                    <p:anim calcmode="lin" valueType="num">
                                      <p:cBhvr>
                                        <p:cTn id="16" dur="600" decel="100000" fill="hold"/>
                                        <p:tgtEl>
                                          <p:spTgt spid="7"/>
                                        </p:tgtEl>
                                        <p:attrNameLst>
                                          <p:attrName>ppt_y</p:attrName>
                                        </p:attrNameLst>
                                      </p:cBhvr>
                                      <p:tavLst>
                                        <p:tav tm="0">
                                          <p:val>
                                            <p:strVal val="#ppt_y+.06"/>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24"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anim calcmode="lin" valueType="num">
                                      <p:cBhvr>
                                        <p:cTn id="22" dur="600" decel="100000" fill="hold"/>
                                        <p:tgtEl>
                                          <p:spTgt spid="8"/>
                                        </p:tgtEl>
                                        <p:attrNameLst>
                                          <p:attrName>ppt_x</p:attrName>
                                        </p:attrNameLst>
                                      </p:cBhvr>
                                      <p:tavLst>
                                        <p:tav tm="0">
                                          <p:val>
                                            <p:strVal val="#ppt_x"/>
                                          </p:val>
                                        </p:tav>
                                        <p:tav tm="100000">
                                          <p:val>
                                            <p:strVal val="#ppt_x"/>
                                          </p:val>
                                        </p:tav>
                                      </p:tavLst>
                                    </p:anim>
                                    <p:anim calcmode="lin" valueType="num">
                                      <p:cBhvr>
                                        <p:cTn id="23" dur="600" decel="100000" fill="hold"/>
                                        <p:tgtEl>
                                          <p:spTgt spid="8"/>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600"/>
                                        <p:tgtEl>
                                          <p:spTgt spid="9"/>
                                        </p:tgtEl>
                                      </p:cBhvr>
                                    </p:animEffect>
                                    <p:anim calcmode="lin" valueType="num">
                                      <p:cBhvr>
                                        <p:cTn id="27" dur="600" decel="100000" fill="hold"/>
                                        <p:tgtEl>
                                          <p:spTgt spid="9"/>
                                        </p:tgtEl>
                                        <p:attrNameLst>
                                          <p:attrName>ppt_x</p:attrName>
                                        </p:attrNameLst>
                                      </p:cBhvr>
                                      <p:tavLst>
                                        <p:tav tm="0">
                                          <p:val>
                                            <p:strVal val="#ppt_x"/>
                                          </p:val>
                                        </p:tav>
                                        <p:tav tm="100000">
                                          <p:val>
                                            <p:strVal val="#ppt_x"/>
                                          </p:val>
                                        </p:tav>
                                      </p:tavLst>
                                    </p:anim>
                                    <p:anim calcmode="lin" valueType="num">
                                      <p:cBhvr>
                                        <p:cTn id="28" dur="600" decel="100000" fill="hold"/>
                                        <p:tgtEl>
                                          <p:spTgt spid="9"/>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600"/>
                                        <p:tgtEl>
                                          <p:spTgt spid="10"/>
                                        </p:tgtEl>
                                      </p:cBhvr>
                                    </p:animEffect>
                                    <p:anim calcmode="lin" valueType="num">
                                      <p:cBhvr>
                                        <p:cTn id="32" dur="600" decel="100000" fill="hold"/>
                                        <p:tgtEl>
                                          <p:spTgt spid="10"/>
                                        </p:tgtEl>
                                        <p:attrNameLst>
                                          <p:attrName>ppt_x</p:attrName>
                                        </p:attrNameLst>
                                      </p:cBhvr>
                                      <p:tavLst>
                                        <p:tav tm="0">
                                          <p:val>
                                            <p:strVal val="#ppt_x"/>
                                          </p:val>
                                        </p:tav>
                                        <p:tav tm="100000">
                                          <p:val>
                                            <p:strVal val="#ppt_x"/>
                                          </p:val>
                                        </p:tav>
                                      </p:tavLst>
                                    </p:anim>
                                    <p:anim calcmode="lin" valueType="num">
                                      <p:cBhvr>
                                        <p:cTn id="33" dur="600" decel="100000" fill="hold"/>
                                        <p:tgtEl>
                                          <p:spTgt spid="10"/>
                                        </p:tgtEl>
                                        <p:attrNameLst>
                                          <p:attrName>ppt_y</p:attrName>
                                        </p:attrNameLst>
                                      </p:cBhvr>
                                      <p:tavLst>
                                        <p:tav tm="0">
                                          <p:val>
                                            <p:strVal val="#ppt_y+.06"/>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41" presetID="42" presetClass="entr" presetSubtype="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600"/>
                                        <p:tgtEl>
                                          <p:spTgt spid="11"/>
                                        </p:tgtEl>
                                      </p:cBhvr>
                                    </p:animEffect>
                                    <p:anim calcmode="lin" valueType="num">
                                      <p:cBhvr>
                                        <p:cTn id="39" dur="600" decel="100000" fill="hold"/>
                                        <p:tgtEl>
                                          <p:spTgt spid="11"/>
                                        </p:tgtEl>
                                        <p:attrNameLst>
                                          <p:attrName>ppt_x</p:attrName>
                                        </p:attrNameLst>
                                      </p:cBhvr>
                                      <p:tavLst>
                                        <p:tav tm="0">
                                          <p:val>
                                            <p:strVal val="#ppt_x"/>
                                          </p:val>
                                        </p:tav>
                                        <p:tav tm="100000">
                                          <p:val>
                                            <p:strVal val="#ppt_x"/>
                                          </p:val>
                                        </p:tav>
                                      </p:tavLst>
                                    </p:anim>
                                    <p:anim calcmode="lin" valueType="num">
                                      <p:cBhvr>
                                        <p:cTn id="40" dur="600" decel="100000" fill="hold"/>
                                        <p:tgtEl>
                                          <p:spTgt spid="11"/>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600"/>
                                        <p:tgtEl>
                                          <p:spTgt spid="12"/>
                                        </p:tgtEl>
                                      </p:cBhvr>
                                    </p:animEffect>
                                    <p:anim calcmode="lin" valueType="num">
                                      <p:cBhvr>
                                        <p:cTn id="44" dur="600" decel="100000" fill="hold"/>
                                        <p:tgtEl>
                                          <p:spTgt spid="12"/>
                                        </p:tgtEl>
                                        <p:attrNameLst>
                                          <p:attrName>ppt_x</p:attrName>
                                        </p:attrNameLst>
                                      </p:cBhvr>
                                      <p:tavLst>
                                        <p:tav tm="0">
                                          <p:val>
                                            <p:strVal val="#ppt_x"/>
                                          </p:val>
                                        </p:tav>
                                        <p:tav tm="100000">
                                          <p:val>
                                            <p:strVal val="#ppt_x"/>
                                          </p:val>
                                        </p:tav>
                                      </p:tavLst>
                                    </p:anim>
                                    <p:anim calcmode="lin" valueType="num">
                                      <p:cBhvr>
                                        <p:cTn id="45" dur="600" decel="100000" fill="hold"/>
                                        <p:tgtEl>
                                          <p:spTgt spid="12"/>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600"/>
                                        <p:tgtEl>
                                          <p:spTgt spid="13"/>
                                        </p:tgtEl>
                                      </p:cBhvr>
                                    </p:animEffect>
                                    <p:anim calcmode="lin" valueType="num">
                                      <p:cBhvr>
                                        <p:cTn id="49" dur="600" decel="100000" fill="hold"/>
                                        <p:tgtEl>
                                          <p:spTgt spid="13"/>
                                        </p:tgtEl>
                                        <p:attrNameLst>
                                          <p:attrName>ppt_x</p:attrName>
                                        </p:attrNameLst>
                                      </p:cBhvr>
                                      <p:tavLst>
                                        <p:tav tm="0">
                                          <p:val>
                                            <p:strVal val="#ppt_x"/>
                                          </p:val>
                                        </p:tav>
                                        <p:tav tm="100000">
                                          <p:val>
                                            <p:strVal val="#ppt_x"/>
                                          </p:val>
                                        </p:tav>
                                      </p:tavLst>
                                    </p:anim>
                                    <p:anim calcmode="lin" valueType="num">
                                      <p:cBhvr>
                                        <p:cTn id="50" dur="600" decel="100000" fill="hold"/>
                                        <p:tgtEl>
                                          <p:spTgt spid="13"/>
                                        </p:tgtEl>
                                        <p:attrNameLst>
                                          <p:attrName>ppt_y</p:attrName>
                                        </p:attrNameLst>
                                      </p:cBhvr>
                                      <p:tavLst>
                                        <p:tav tm="0">
                                          <p:val>
                                            <p:strVal val="#ppt_y+.06"/>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58" presetID="42" presetClass="entr" presetSubtype="0"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600"/>
                                        <p:tgtEl>
                                          <p:spTgt spid="14"/>
                                        </p:tgtEl>
                                      </p:cBhvr>
                                    </p:animEffect>
                                    <p:anim calcmode="lin" valueType="num">
                                      <p:cBhvr>
                                        <p:cTn id="56" dur="600" decel="100000" fill="hold"/>
                                        <p:tgtEl>
                                          <p:spTgt spid="14"/>
                                        </p:tgtEl>
                                        <p:attrNameLst>
                                          <p:attrName>ppt_x</p:attrName>
                                        </p:attrNameLst>
                                      </p:cBhvr>
                                      <p:tavLst>
                                        <p:tav tm="0">
                                          <p:val>
                                            <p:strVal val="#ppt_x"/>
                                          </p:val>
                                        </p:tav>
                                        <p:tav tm="100000">
                                          <p:val>
                                            <p:strVal val="#ppt_x"/>
                                          </p:val>
                                        </p:tav>
                                      </p:tavLst>
                                    </p:anim>
                                    <p:anim calcmode="lin" valueType="num">
                                      <p:cBhvr>
                                        <p:cTn id="57" dur="600" decel="100000" fill="hold"/>
                                        <p:tgtEl>
                                          <p:spTgt spid="14"/>
                                        </p:tgtEl>
                                        <p:attrNameLst>
                                          <p:attrName>ppt_y</p:attrName>
                                        </p:attrNameLst>
                                      </p:cBhvr>
                                      <p:tavLst>
                                        <p:tav tm="0">
                                          <p:val>
                                            <p:strVal val="#ppt_y+.06"/>
                                          </p:val>
                                        </p:tav>
                                        <p:tav tm="100000">
                                          <p:val>
                                            <p:strVal val="#ppt_y"/>
                                          </p:val>
                                        </p:tav>
                                      </p:tavLst>
                                    </p:anim>
                                  </p:childTnLst>
                                </p:cTn>
                              </p:par>
                              <p:par>
                                <p:cTn id="63" presetID="42" presetClass="entr" presetSubtype="0" fill="hold" grpId="0" nodeType="with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600"/>
                                        <p:tgtEl>
                                          <p:spTgt spid="15"/>
                                        </p:tgtEl>
                                      </p:cBhvr>
                                    </p:animEffect>
                                    <p:anim calcmode="lin" valueType="num">
                                      <p:cBhvr>
                                        <p:cTn id="61" dur="600" decel="100000" fill="hold"/>
                                        <p:tgtEl>
                                          <p:spTgt spid="15"/>
                                        </p:tgtEl>
                                        <p:attrNameLst>
                                          <p:attrName>ppt_x</p:attrName>
                                        </p:attrNameLst>
                                      </p:cBhvr>
                                      <p:tavLst>
                                        <p:tav tm="0">
                                          <p:val>
                                            <p:strVal val="#ppt_x"/>
                                          </p:val>
                                        </p:tav>
                                        <p:tav tm="100000">
                                          <p:val>
                                            <p:strVal val="#ppt_x"/>
                                          </p:val>
                                        </p:tav>
                                      </p:tavLst>
                                    </p:anim>
                                    <p:anim calcmode="lin" valueType="num">
                                      <p:cBhvr>
                                        <p:cTn id="62" dur="600" decel="100000" fill="hold"/>
                                        <p:tgtEl>
                                          <p:spTgt spid="15"/>
                                        </p:tgtEl>
                                        <p:attrNameLst>
                                          <p:attrName>ppt_y</p:attrName>
                                        </p:attrNameLst>
                                      </p:cBhvr>
                                      <p:tavLst>
                                        <p:tav tm="0">
                                          <p:val>
                                            <p:strVal val="#ppt_y+.06"/>
                                          </p:val>
                                        </p:tav>
                                        <p:tav tm="100000">
                                          <p:val>
                                            <p:strVal val="#ppt_y"/>
                                          </p:val>
                                        </p:tav>
                                      </p:tavLst>
                                    </p:anim>
                                  </p:childTnLst>
                                </p:cTn>
                              </p:par>
                              <p:par>
                                <p:cTn id="68" presetID="42" presetClass="entr" presetSubtype="0" fill="hold" grpId="0" nodeType="with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600"/>
                                        <p:tgtEl>
                                          <p:spTgt spid="16"/>
                                        </p:tgtEl>
                                      </p:cBhvr>
                                    </p:animEffect>
                                    <p:anim calcmode="lin" valueType="num">
                                      <p:cBhvr>
                                        <p:cTn id="66" dur="600" decel="100000" fill="hold"/>
                                        <p:tgtEl>
                                          <p:spTgt spid="16"/>
                                        </p:tgtEl>
                                        <p:attrNameLst>
                                          <p:attrName>ppt_x</p:attrName>
                                        </p:attrNameLst>
                                      </p:cBhvr>
                                      <p:tavLst>
                                        <p:tav tm="0">
                                          <p:val>
                                            <p:strVal val="#ppt_x"/>
                                          </p:val>
                                        </p:tav>
                                        <p:tav tm="100000">
                                          <p:val>
                                            <p:strVal val="#ppt_x"/>
                                          </p:val>
                                        </p:tav>
                                      </p:tavLst>
                                    </p:anim>
                                    <p:anim calcmode="lin" valueType="num">
                                      <p:cBhvr>
                                        <p:cTn id="67" dur="600" decel="100000" fill="hold"/>
                                        <p:tgtEl>
                                          <p:spTgt spid="16"/>
                                        </p:tgtEl>
                                        <p:attrNameLst>
                                          <p:attrName>ppt_y</p:attrName>
                                        </p:attrNameLst>
                                      </p:cBhvr>
                                      <p:tavLst>
                                        <p:tav tm="0">
                                          <p:val>
                                            <p:strVal val="#ppt_y+.06"/>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5" presetID="42" presetClass="entr" presetSubtype="0" fill="hold" grpId="0" nodeType="click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600"/>
                                        <p:tgtEl>
                                          <p:spTgt spid="17"/>
                                        </p:tgtEl>
                                      </p:cBhvr>
                                    </p:animEffect>
                                    <p:anim calcmode="lin" valueType="num">
                                      <p:cBhvr>
                                        <p:cTn id="73" dur="600" decel="100000" fill="hold"/>
                                        <p:tgtEl>
                                          <p:spTgt spid="17"/>
                                        </p:tgtEl>
                                        <p:attrNameLst>
                                          <p:attrName>ppt_x</p:attrName>
                                        </p:attrNameLst>
                                      </p:cBhvr>
                                      <p:tavLst>
                                        <p:tav tm="0">
                                          <p:val>
                                            <p:strVal val="#ppt_x"/>
                                          </p:val>
                                        </p:tav>
                                        <p:tav tm="100000">
                                          <p:val>
                                            <p:strVal val="#ppt_x"/>
                                          </p:val>
                                        </p:tav>
                                      </p:tavLst>
                                    </p:anim>
                                    <p:anim calcmode="lin" valueType="num">
                                      <p:cBhvr>
                                        <p:cTn id="74" dur="600" decel="100000" fill="hold"/>
                                        <p:tgtEl>
                                          <p:spTgt spid="1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PARA TENER EN CUENTA</a:t>
            </a:r>
            <a:endParaRPr lang="en-US" sz="1200" dirty="0"/>
          </a:p>
        </p:txBody>
      </p:sp>
      <p:sp>
        <p:nvSpPr>
          <p:cNvPr id="3" name="Text 1"/>
          <p:cNvSpPr/>
          <p:nvPr>
            <p:ph type="title"/>
          </p:nvPr>
        </p:nvSpPr>
        <p:spPr>
          <a:xfrm>
            <a:off x="812767" y="112762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1A1A"/>
                </a:solidFill>
                <a:latin typeface="Source Sans 3" pitchFamily="34" charset="0"/>
                <a:ea typeface="Source Sans 3" pitchFamily="34" charset="-122"/>
                <a:cs typeface="Source Sans 3" pitchFamily="34" charset="-120"/>
              </a:rPr>
              <a:t>Género y raza: un patrón de desigualdad</a:t>
            </a:r>
            <a:endParaRPr lang="en-US" sz="3200" dirty="0"/>
          </a:p>
        </p:txBody>
      </p:sp>
      <p:sp>
        <p:nvSpPr>
          <p:cNvPr id="4" name="Shape 2"/>
          <p:cNvSpPr/>
          <p:nvPr/>
        </p:nvSpPr>
        <p:spPr>
          <a:xfrm>
            <a:off x="812767" y="1676133"/>
            <a:ext cx="762000" cy="50767"/>
          </a:xfrm>
          <a:prstGeom prst="rect">
            <a:avLst/>
          </a:prstGeom>
          <a:solidFill>
            <a:srgbClr val="FC8400"/>
          </a:solidFill>
          <a:ln/>
        </p:spPr>
      </p:sp>
      <p:sp>
        <p:nvSpPr>
          <p:cNvPr id="5" name="Text 3"/>
          <p:cNvSpPr/>
          <p:nvPr/>
        </p:nvSpPr>
        <p:spPr>
          <a:xfrm>
            <a:off x="812767" y="2031668"/>
            <a:ext cx="5363210" cy="27427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85757"/>
                </a:solidFill>
                <a:latin typeface="Source Sans 3" pitchFamily="34" charset="0"/>
                <a:ea typeface="Source Sans 3" pitchFamily="34" charset="-122"/>
                <a:cs typeface="Source Sans 3" pitchFamily="34" charset="-120"/>
              </a:rPr>
              <a:t>Ingresos totales promedio, en líneas de pobreza</a:t>
            </a:r>
            <a:endParaRPr lang="en-US" sz="1400" dirty="0"/>
          </a:p>
        </p:txBody>
      </p:sp>
      <p:sp>
        <p:nvSpPr>
          <p:cNvPr id="6" name="Text 4"/>
          <p:cNvSpPr/>
          <p:nvPr/>
        </p:nvSpPr>
        <p:spPr>
          <a:xfrm>
            <a:off x="812767" y="2458309"/>
            <a:ext cx="5363210" cy="2564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Source Sans 3" pitchFamily="34" charset="0"/>
                <a:ea typeface="Source Sans 3" pitchFamily="34" charset="-122"/>
                <a:cs typeface="Source Sans 3" pitchFamily="34" charset="-120"/>
              </a:rPr>
              <a:t>Línea de pobreza</a:t>
            </a:r>
            <a:endParaRPr lang="en-US" sz="1300" dirty="0"/>
          </a:p>
        </p:txBody>
      </p:sp>
      <p:sp>
        <p:nvSpPr>
          <p:cNvPr id="7" name="Shape 5"/>
          <p:cNvSpPr/>
          <p:nvPr/>
        </p:nvSpPr>
        <p:spPr>
          <a:xfrm>
            <a:off x="812767" y="2747780"/>
            <a:ext cx="2159000" cy="304767"/>
          </a:xfrm>
          <a:prstGeom prst="rect">
            <a:avLst/>
          </a:prstGeom>
          <a:solidFill>
            <a:srgbClr val="C9CFD2"/>
          </a:solidFill>
          <a:ln/>
        </p:spPr>
      </p:sp>
      <p:sp>
        <p:nvSpPr>
          <p:cNvPr id="8" name="Text 6"/>
          <p:cNvSpPr/>
          <p:nvPr/>
        </p:nvSpPr>
        <p:spPr>
          <a:xfrm>
            <a:off x="3098767" y="2740174"/>
            <a:ext cx="372070" cy="34546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A1A1A"/>
                </a:solidFill>
                <a:latin typeface="Source Sans 3" pitchFamily="34" charset="0"/>
                <a:ea typeface="Source Sans 3" pitchFamily="34" charset="-122"/>
                <a:cs typeface="Source Sans 3" pitchFamily="34" charset="-120"/>
              </a:rPr>
              <a:t>1,0</a:t>
            </a:r>
            <a:endParaRPr lang="en-US" sz="1800" dirty="0"/>
          </a:p>
        </p:txBody>
      </p:sp>
      <p:sp>
        <p:nvSpPr>
          <p:cNvPr id="9" name="Text 7"/>
          <p:cNvSpPr/>
          <p:nvPr/>
        </p:nvSpPr>
        <p:spPr>
          <a:xfrm>
            <a:off x="812767" y="3238004"/>
            <a:ext cx="5363210" cy="2564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A1A"/>
                </a:solidFill>
                <a:latin typeface="Source Sans 3" pitchFamily="34" charset="0"/>
                <a:ea typeface="Source Sans 3" pitchFamily="34" charset="-122"/>
                <a:cs typeface="Source Sans 3" pitchFamily="34" charset="-120"/>
              </a:rPr>
              <a:t>Umbral de vulnerabilidad (CEPAL)</a:t>
            </a:r>
            <a:endParaRPr lang="en-US" sz="1300" dirty="0"/>
          </a:p>
        </p:txBody>
      </p:sp>
      <p:sp>
        <p:nvSpPr>
          <p:cNvPr id="10" name="Shape 8"/>
          <p:cNvSpPr/>
          <p:nvPr/>
        </p:nvSpPr>
        <p:spPr>
          <a:xfrm>
            <a:off x="812767" y="3527475"/>
            <a:ext cx="3886150" cy="304767"/>
          </a:xfrm>
          <a:prstGeom prst="rect">
            <a:avLst/>
          </a:prstGeom>
          <a:solidFill>
            <a:srgbClr val="FC8400"/>
          </a:solidFill>
          <a:ln/>
        </p:spPr>
      </p:sp>
      <p:sp>
        <p:nvSpPr>
          <p:cNvPr id="11" name="Text 9"/>
          <p:cNvSpPr/>
          <p:nvPr/>
        </p:nvSpPr>
        <p:spPr>
          <a:xfrm>
            <a:off x="4825917" y="3519866"/>
            <a:ext cx="372070" cy="34546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A1A1A"/>
                </a:solidFill>
                <a:latin typeface="Source Sans 3" pitchFamily="34" charset="0"/>
                <a:ea typeface="Source Sans 3" pitchFamily="34" charset="-122"/>
                <a:cs typeface="Source Sans 3" pitchFamily="34" charset="-120"/>
              </a:rPr>
              <a:t>1,8</a:t>
            </a:r>
            <a:endParaRPr lang="en-US" sz="1800" dirty="0"/>
          </a:p>
        </p:txBody>
      </p:sp>
      <p:sp>
        <p:nvSpPr>
          <p:cNvPr id="12" name="Text 10"/>
          <p:cNvSpPr/>
          <p:nvPr/>
        </p:nvSpPr>
        <p:spPr>
          <a:xfrm>
            <a:off x="812767" y="4017696"/>
            <a:ext cx="5363210" cy="25649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6082"/>
                </a:solidFill>
                <a:latin typeface="Source Sans 3" pitchFamily="34" charset="0"/>
                <a:ea typeface="Source Sans 3" pitchFamily="34" charset="-122"/>
                <a:cs typeface="Source Sans 3" pitchFamily="34" charset="-120"/>
              </a:rPr>
              <a:t>Mujeres afrodescendientes</a:t>
            </a:r>
            <a:endParaRPr lang="en-US" sz="1300" dirty="0"/>
          </a:p>
        </p:txBody>
      </p:sp>
      <p:sp>
        <p:nvSpPr>
          <p:cNvPr id="13" name="Shape 11"/>
          <p:cNvSpPr/>
          <p:nvPr/>
        </p:nvSpPr>
        <p:spPr>
          <a:xfrm>
            <a:off x="812767" y="4307167"/>
            <a:ext cx="4102034" cy="304767"/>
          </a:xfrm>
          <a:prstGeom prst="rect">
            <a:avLst/>
          </a:prstGeom>
          <a:solidFill>
            <a:srgbClr val="156082"/>
          </a:solidFill>
          <a:ln/>
        </p:spPr>
      </p:sp>
      <p:sp>
        <p:nvSpPr>
          <p:cNvPr id="14" name="Text 12"/>
          <p:cNvSpPr/>
          <p:nvPr/>
        </p:nvSpPr>
        <p:spPr>
          <a:xfrm>
            <a:off x="5041801" y="4299561"/>
            <a:ext cx="372070" cy="34546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56082"/>
                </a:solidFill>
                <a:latin typeface="Source Sans 3" pitchFamily="34" charset="0"/>
                <a:ea typeface="Source Sans 3" pitchFamily="34" charset="-122"/>
                <a:cs typeface="Source Sans 3" pitchFamily="34" charset="-120"/>
              </a:rPr>
              <a:t>1,9</a:t>
            </a:r>
            <a:endParaRPr lang="en-US" sz="1800" dirty="0"/>
          </a:p>
        </p:txBody>
      </p:sp>
      <p:sp>
        <p:nvSpPr>
          <p:cNvPr id="15" name="Text 13"/>
          <p:cNvSpPr/>
          <p:nvPr/>
        </p:nvSpPr>
        <p:spPr>
          <a:xfrm>
            <a:off x="812767" y="4797391"/>
            <a:ext cx="6248400" cy="26534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A1A1A"/>
                </a:solidFill>
                <a:latin typeface="Source Sans 3" pitchFamily="34" charset="0"/>
                <a:ea typeface="Source Sans 3" pitchFamily="34" charset="-122"/>
                <a:cs typeface="Source Sans 3" pitchFamily="34" charset="-120"/>
              </a:rPr>
              <a:t>Sus ingresos </a:t>
            </a:r>
            <a:r>
              <a:rPr lang="en-US" sz="1400" b="1" dirty="0">
                <a:solidFill>
                  <a:srgbClr val="1A1A1A"/>
                </a:solidFill>
                <a:latin typeface="Source Sans 3" pitchFamily="34" charset="0"/>
                <a:ea typeface="Source Sans 3" pitchFamily="34" charset="-122"/>
                <a:cs typeface="Source Sans 3" pitchFamily="34" charset="-120"/>
              </a:rPr>
              <a:t>apenas superan</a:t>
            </a:r>
            <a:r>
              <a:rPr lang="en-US" sz="1400" dirty="0">
                <a:solidFill>
                  <a:srgbClr val="1A1A1A"/>
                </a:solidFill>
                <a:latin typeface="Source Sans 3" pitchFamily="34" charset="0"/>
                <a:ea typeface="Source Sans 3" pitchFamily="34" charset="-122"/>
                <a:cs typeface="Source Sans 3" pitchFamily="34" charset="-120"/>
              </a:rPr>
              <a:t> la línea de vulnerabilidad a la pobreza.</a:t>
            </a:r>
            <a:endParaRPr lang="en-US" sz="1400" dirty="0"/>
          </a:p>
        </p:txBody>
      </p:sp>
      <p:sp>
        <p:nvSpPr>
          <p:cNvPr id="16" name="Shape 14"/>
          <p:cNvSpPr/>
          <p:nvPr/>
        </p:nvSpPr>
        <p:spPr>
          <a:xfrm>
            <a:off x="6648351" y="2031668"/>
            <a:ext cx="0" cy="995495"/>
          </a:xfrm>
          <a:prstGeom prst="line">
            <a:avLst/>
          </a:prstGeom>
          <a:noFill/>
          <a:ln w="38100">
            <a:solidFill>
              <a:srgbClr val="156082"/>
            </a:solidFill>
            <a:prstDash val="solid"/>
          </a:ln>
        </p:spPr>
      </p:sp>
      <p:sp>
        <p:nvSpPr>
          <p:cNvPr id="17" name="Text 15"/>
          <p:cNvSpPr/>
          <p:nvPr/>
        </p:nvSpPr>
        <p:spPr>
          <a:xfrm>
            <a:off x="6844142" y="2031668"/>
            <a:ext cx="4671143" cy="102089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Source Sans 3" pitchFamily="34" charset="0"/>
                <a:ea typeface="Source Sans 3" pitchFamily="34" charset="-122"/>
                <a:cs typeface="Source Sans 3" pitchFamily="34" charset="-120"/>
              </a:rPr>
              <a:t>El cruce entre la dimensión étnico-racial y la de género sitúa a mujeres indígenas, hombres indígenas y mujeres afrodescendientes en las posiciones inferiores de la escala de ingresos.</a:t>
            </a:r>
            <a:endParaRPr lang="en-US" sz="1400" dirty="0"/>
          </a:p>
        </p:txBody>
      </p:sp>
      <p:sp>
        <p:nvSpPr>
          <p:cNvPr id="18" name="Shape 16"/>
          <p:cNvSpPr/>
          <p:nvPr/>
        </p:nvSpPr>
        <p:spPr>
          <a:xfrm>
            <a:off x="6648351" y="3230314"/>
            <a:ext cx="0" cy="497747"/>
          </a:xfrm>
          <a:prstGeom prst="line">
            <a:avLst/>
          </a:prstGeom>
          <a:noFill/>
          <a:ln w="38100">
            <a:solidFill>
              <a:srgbClr val="156082"/>
            </a:solidFill>
            <a:prstDash val="solid"/>
          </a:ln>
        </p:spPr>
      </p:sp>
      <p:sp>
        <p:nvSpPr>
          <p:cNvPr id="19" name="Text 17"/>
          <p:cNvSpPr/>
          <p:nvPr/>
        </p:nvSpPr>
        <p:spPr>
          <a:xfrm>
            <a:off x="6844142" y="3230314"/>
            <a:ext cx="4671143" cy="52314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Source Sans 3" pitchFamily="34" charset="0"/>
                <a:ea typeface="Source Sans 3" pitchFamily="34" charset="-122"/>
                <a:cs typeface="Source Sans 3" pitchFamily="34" charset="-120"/>
              </a:rPr>
              <a:t>La brecha salarial de género persiste y se combina con el racismo arraigado en las sociedades de la región.</a:t>
            </a:r>
            <a:endParaRPr lang="en-US" sz="1400" dirty="0"/>
          </a:p>
        </p:txBody>
      </p:sp>
      <p:sp>
        <p:nvSpPr>
          <p:cNvPr id="20" name="Shape 18"/>
          <p:cNvSpPr/>
          <p:nvPr/>
        </p:nvSpPr>
        <p:spPr>
          <a:xfrm>
            <a:off x="6648351" y="3931211"/>
            <a:ext cx="0" cy="746621"/>
          </a:xfrm>
          <a:prstGeom prst="line">
            <a:avLst/>
          </a:prstGeom>
          <a:noFill/>
          <a:ln w="38100">
            <a:solidFill>
              <a:srgbClr val="156082"/>
            </a:solidFill>
            <a:prstDash val="solid"/>
          </a:ln>
        </p:spPr>
      </p:sp>
      <p:sp>
        <p:nvSpPr>
          <p:cNvPr id="21" name="Text 19"/>
          <p:cNvSpPr/>
          <p:nvPr/>
        </p:nvSpPr>
        <p:spPr>
          <a:xfrm>
            <a:off x="6844142" y="3931211"/>
            <a:ext cx="4671143" cy="77202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Source Sans 3" pitchFamily="34" charset="0"/>
                <a:ea typeface="Source Sans 3" pitchFamily="34" charset="-122"/>
                <a:cs typeface="Source Sans 3" pitchFamily="34" charset="-120"/>
              </a:rPr>
              <a:t>Las jóvenes afrodescendientes y, por último, los varones jóvenes afrodescendientes tienen las menores tasas de asistencia a la educación superior.</a:t>
            </a:r>
            <a:endParaRPr lang="en-US" sz="1400" dirty="0"/>
          </a:p>
        </p:txBody>
      </p:sp>
      <p:sp>
        <p:nvSpPr>
          <p:cNvPr id="22" name="Text 20"/>
          <p:cNvSpPr/>
          <p:nvPr/>
        </p:nvSpPr>
        <p:spPr>
          <a:xfrm>
            <a:off x="812767" y="6238295"/>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Fuente: CEPAL (2018)</a:t>
            </a:r>
            <a:endParaRPr lang="en-US" sz="1200" dirty="0"/>
          </a:p>
        </p:txBody>
      </p:sp>
      <p:sp>
        <p:nvSpPr>
          <p:cNvPr id="23" name="Text 21"/>
          <p:cNvSpPr/>
          <p:nvPr/>
        </p:nvSpPr>
        <p:spPr>
          <a:xfrm>
            <a:off x="7454933" y="6238295"/>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Hinestroza Cuesta · UTCH</a:t>
            </a:r>
            <a:endParaRPr lang="en-US" sz="12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BLOQUE 1 · LITIGIO ESTRATÉGICO</a:t>
            </a:r>
            <a:endParaRPr lang="en-US" sz="1200" dirty="0"/>
          </a:p>
        </p:txBody>
      </p:sp>
      <p:sp>
        <p:nvSpPr>
          <p:cNvPr id="3" name="Text 1"/>
          <p:cNvSpPr/>
          <p:nvPr>
            <p:ph type="title"/>
          </p:nvPr>
        </p:nvSpPr>
        <p:spPr>
          <a:xfrm>
            <a:off x="812767" y="112762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1A1A"/>
                </a:solidFill>
                <a:latin typeface="Source Sans 3" pitchFamily="34" charset="0"/>
                <a:ea typeface="Source Sans 3" pitchFamily="34" charset="-122"/>
                <a:cs typeface="Source Sans 3" pitchFamily="34" charset="-120"/>
              </a:rPr>
              <a:t>Aspectos para el análisis</a:t>
            </a:r>
            <a:endParaRPr lang="en-US" sz="3200" dirty="0"/>
          </a:p>
        </p:txBody>
      </p:sp>
      <p:sp>
        <p:nvSpPr>
          <p:cNvPr id="4" name="Shape 2"/>
          <p:cNvSpPr/>
          <p:nvPr/>
        </p:nvSpPr>
        <p:spPr>
          <a:xfrm>
            <a:off x="812767" y="1676133"/>
            <a:ext cx="762000" cy="50767"/>
          </a:xfrm>
          <a:prstGeom prst="rect">
            <a:avLst/>
          </a:prstGeom>
          <a:solidFill>
            <a:srgbClr val="FC8400"/>
          </a:solidFill>
          <a:ln/>
        </p:spPr>
      </p:sp>
      <p:sp>
        <p:nvSpPr>
          <p:cNvPr id="5" name="Shape 3"/>
          <p:cNvSpPr/>
          <p:nvPr/>
        </p:nvSpPr>
        <p:spPr>
          <a:xfrm>
            <a:off x="812767" y="2716542"/>
            <a:ext cx="10566466" cy="0"/>
          </a:xfrm>
          <a:prstGeom prst="line">
            <a:avLst/>
          </a:prstGeom>
          <a:noFill/>
          <a:ln w="12700">
            <a:solidFill>
              <a:srgbClr val="E3E6E4"/>
            </a:solidFill>
            <a:prstDash val="solid"/>
          </a:ln>
        </p:spPr>
      </p:sp>
      <p:sp>
        <p:nvSpPr>
          <p:cNvPr id="6" name="Text 4"/>
          <p:cNvSpPr/>
          <p:nvPr/>
        </p:nvSpPr>
        <p:spPr>
          <a:xfrm>
            <a:off x="812767" y="2158668"/>
            <a:ext cx="55880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FC8400"/>
                </a:solidFill>
                <a:latin typeface="Source Sans 3" pitchFamily="34" charset="0"/>
                <a:ea typeface="Source Sans 3" pitchFamily="34" charset="-122"/>
                <a:cs typeface="Source Sans 3" pitchFamily="34" charset="-120"/>
              </a:rPr>
              <a:t>1</a:t>
            </a:r>
            <a:endParaRPr lang="en-US" sz="2400" dirty="0"/>
          </a:p>
        </p:txBody>
      </p:sp>
      <p:sp>
        <p:nvSpPr>
          <p:cNvPr id="7" name="Text 5"/>
          <p:cNvSpPr/>
          <p:nvPr/>
        </p:nvSpPr>
        <p:spPr>
          <a:xfrm>
            <a:off x="1574767" y="2211915"/>
            <a:ext cx="7056239" cy="34546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A1A1A"/>
                </a:solidFill>
                <a:latin typeface="Source Sans 3" pitchFamily="34" charset="0"/>
                <a:ea typeface="Source Sans 3" pitchFamily="34" charset="-122"/>
                <a:cs typeface="Source Sans 3" pitchFamily="34" charset="-120"/>
              </a:rPr>
              <a:t>Formas complejas y acumulativas de discriminación y poder</a:t>
            </a:r>
            <a:endParaRPr lang="en-US" sz="1800" dirty="0"/>
          </a:p>
        </p:txBody>
      </p:sp>
      <p:sp>
        <p:nvSpPr>
          <p:cNvPr id="8" name="Shape 6"/>
          <p:cNvSpPr/>
          <p:nvPr/>
        </p:nvSpPr>
        <p:spPr>
          <a:xfrm>
            <a:off x="812767" y="3407765"/>
            <a:ext cx="10566466" cy="0"/>
          </a:xfrm>
          <a:prstGeom prst="line">
            <a:avLst/>
          </a:prstGeom>
          <a:noFill/>
          <a:ln w="12700">
            <a:solidFill>
              <a:srgbClr val="E3E6E4"/>
            </a:solidFill>
            <a:prstDash val="solid"/>
          </a:ln>
        </p:spPr>
      </p:sp>
      <p:sp>
        <p:nvSpPr>
          <p:cNvPr id="9" name="Text 7"/>
          <p:cNvSpPr/>
          <p:nvPr/>
        </p:nvSpPr>
        <p:spPr>
          <a:xfrm>
            <a:off x="812767" y="2849891"/>
            <a:ext cx="55880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FC8400"/>
                </a:solidFill>
                <a:latin typeface="Source Sans 3" pitchFamily="34" charset="0"/>
                <a:ea typeface="Source Sans 3" pitchFamily="34" charset="-122"/>
                <a:cs typeface="Source Sans 3" pitchFamily="34" charset="-120"/>
              </a:rPr>
              <a:t>2</a:t>
            </a:r>
            <a:endParaRPr lang="en-US" sz="2400" dirty="0"/>
          </a:p>
        </p:txBody>
      </p:sp>
      <p:sp>
        <p:nvSpPr>
          <p:cNvPr id="10" name="Text 8"/>
          <p:cNvSpPr/>
          <p:nvPr/>
        </p:nvSpPr>
        <p:spPr>
          <a:xfrm>
            <a:off x="1574767" y="2903141"/>
            <a:ext cx="6614418" cy="34546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A1A1A"/>
                </a:solidFill>
                <a:latin typeface="Source Sans 3" pitchFamily="34" charset="0"/>
                <a:ea typeface="Source Sans 3" pitchFamily="34" charset="-122"/>
                <a:cs typeface="Source Sans 3" pitchFamily="34" charset="-120"/>
              </a:rPr>
              <a:t>Efectos persistentes de la esclavización y el colonialismo</a:t>
            </a:r>
            <a:endParaRPr lang="en-US" sz="1800" dirty="0"/>
          </a:p>
        </p:txBody>
      </p:sp>
      <p:sp>
        <p:nvSpPr>
          <p:cNvPr id="11" name="Shape 9"/>
          <p:cNvSpPr/>
          <p:nvPr/>
        </p:nvSpPr>
        <p:spPr>
          <a:xfrm>
            <a:off x="812767" y="4098991"/>
            <a:ext cx="10566466" cy="0"/>
          </a:xfrm>
          <a:prstGeom prst="line">
            <a:avLst/>
          </a:prstGeom>
          <a:noFill/>
          <a:ln w="12700">
            <a:solidFill>
              <a:srgbClr val="E3E6E4"/>
            </a:solidFill>
            <a:prstDash val="solid"/>
          </a:ln>
        </p:spPr>
      </p:sp>
      <p:sp>
        <p:nvSpPr>
          <p:cNvPr id="12" name="Text 10"/>
          <p:cNvSpPr/>
          <p:nvPr/>
        </p:nvSpPr>
        <p:spPr>
          <a:xfrm>
            <a:off x="812767" y="3541117"/>
            <a:ext cx="55880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FC8400"/>
                </a:solidFill>
                <a:latin typeface="Source Sans 3" pitchFamily="34" charset="0"/>
                <a:ea typeface="Source Sans 3" pitchFamily="34" charset="-122"/>
                <a:cs typeface="Source Sans 3" pitchFamily="34" charset="-120"/>
              </a:rPr>
              <a:t>3</a:t>
            </a:r>
            <a:endParaRPr lang="en-US" sz="2400" dirty="0"/>
          </a:p>
        </p:txBody>
      </p:sp>
      <p:sp>
        <p:nvSpPr>
          <p:cNvPr id="13" name="Text 11"/>
          <p:cNvSpPr/>
          <p:nvPr/>
        </p:nvSpPr>
        <p:spPr>
          <a:xfrm>
            <a:off x="1574767" y="3594364"/>
            <a:ext cx="7491611" cy="34546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A1A1A"/>
                </a:solidFill>
                <a:latin typeface="Source Sans 3" pitchFamily="34" charset="0"/>
                <a:ea typeface="Source Sans 3" pitchFamily="34" charset="-122"/>
                <a:cs typeface="Source Sans 3" pitchFamily="34" charset="-120"/>
              </a:rPr>
              <a:t>Invisibilización del racismo estructural, sistémico e institucional</a:t>
            </a:r>
            <a:endParaRPr lang="en-US" sz="1800" dirty="0"/>
          </a:p>
        </p:txBody>
      </p:sp>
      <p:sp>
        <p:nvSpPr>
          <p:cNvPr id="14" name="Shape 12"/>
          <p:cNvSpPr/>
          <p:nvPr/>
        </p:nvSpPr>
        <p:spPr>
          <a:xfrm>
            <a:off x="812767" y="4790214"/>
            <a:ext cx="10566466" cy="0"/>
          </a:xfrm>
          <a:prstGeom prst="line">
            <a:avLst/>
          </a:prstGeom>
          <a:noFill/>
          <a:ln w="12700">
            <a:solidFill>
              <a:srgbClr val="E3E6E4"/>
            </a:solidFill>
            <a:prstDash val="solid"/>
          </a:ln>
        </p:spPr>
      </p:sp>
      <p:sp>
        <p:nvSpPr>
          <p:cNvPr id="15" name="Text 13"/>
          <p:cNvSpPr/>
          <p:nvPr/>
        </p:nvSpPr>
        <p:spPr>
          <a:xfrm>
            <a:off x="812767" y="4232340"/>
            <a:ext cx="55880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FC8400"/>
                </a:solidFill>
                <a:latin typeface="Source Sans 3" pitchFamily="34" charset="0"/>
                <a:ea typeface="Source Sans 3" pitchFamily="34" charset="-122"/>
                <a:cs typeface="Source Sans 3" pitchFamily="34" charset="-120"/>
              </a:rPr>
              <a:t>4</a:t>
            </a:r>
            <a:endParaRPr lang="en-US" sz="2400" dirty="0"/>
          </a:p>
        </p:txBody>
      </p:sp>
      <p:sp>
        <p:nvSpPr>
          <p:cNvPr id="16" name="Text 14"/>
          <p:cNvSpPr/>
          <p:nvPr/>
        </p:nvSpPr>
        <p:spPr>
          <a:xfrm>
            <a:off x="1574767" y="4285586"/>
            <a:ext cx="9714012" cy="34546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A1A1A"/>
                </a:solidFill>
                <a:latin typeface="Source Sans 3" pitchFamily="34" charset="0"/>
                <a:ea typeface="Source Sans 3" pitchFamily="34" charset="-122"/>
                <a:cs typeface="Source Sans 3" pitchFamily="34" charset="-120"/>
              </a:rPr>
              <a:t>Desigualdades estructurales de partida </a:t>
            </a:r>
            <a:r>
              <a:rPr lang="en-US" sz="1800" b="1" dirty="0">
                <a:solidFill>
                  <a:srgbClr val="156082"/>
                </a:solidFill>
                <a:latin typeface="Source Sans 3" pitchFamily="34" charset="0"/>
                <a:ea typeface="Source Sans 3" pitchFamily="34" charset="-122"/>
                <a:cs typeface="Source Sans 3" pitchFamily="34" charset="-120"/>
              </a:rPr>
              <a:t>(Supremo Tribunal Federal del Brasil, 2017)</a:t>
            </a:r>
            <a:endParaRPr lang="en-US" sz="1800" dirty="0"/>
          </a:p>
        </p:txBody>
      </p:sp>
      <p:sp>
        <p:nvSpPr>
          <p:cNvPr id="17" name="Text 15"/>
          <p:cNvSpPr/>
          <p:nvPr/>
        </p:nvSpPr>
        <p:spPr>
          <a:xfrm>
            <a:off x="812767" y="4923563"/>
            <a:ext cx="55880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FC8400"/>
                </a:solidFill>
                <a:latin typeface="Source Sans 3" pitchFamily="34" charset="0"/>
                <a:ea typeface="Source Sans 3" pitchFamily="34" charset="-122"/>
                <a:cs typeface="Source Sans 3" pitchFamily="34" charset="-120"/>
              </a:rPr>
              <a:t>5</a:t>
            </a:r>
            <a:endParaRPr lang="en-US" sz="2400" dirty="0"/>
          </a:p>
        </p:txBody>
      </p:sp>
      <p:sp>
        <p:nvSpPr>
          <p:cNvPr id="18" name="Text 16"/>
          <p:cNvSpPr/>
          <p:nvPr/>
        </p:nvSpPr>
        <p:spPr>
          <a:xfrm>
            <a:off x="1574767" y="4976813"/>
            <a:ext cx="6743402" cy="34546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A1A1A"/>
                </a:solidFill>
                <a:latin typeface="Source Sans 3" pitchFamily="34" charset="0"/>
                <a:ea typeface="Source Sans 3" pitchFamily="34" charset="-122"/>
                <a:cs typeface="Source Sans 3" pitchFamily="34" charset="-120"/>
              </a:rPr>
              <a:t>El mito de la igualdad formal frente a la igualdad material</a:t>
            </a:r>
            <a:endParaRPr lang="en-US" sz="1800" dirty="0"/>
          </a:p>
        </p:txBody>
      </p:sp>
      <p:sp>
        <p:nvSpPr>
          <p:cNvPr id="19" name="Text 17"/>
          <p:cNvSpPr/>
          <p:nvPr/>
        </p:nvSpPr>
        <p:spPr>
          <a:xfrm>
            <a:off x="7454933" y="6238295"/>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Hinestroza Cuesta · UTCH</a:t>
            </a:r>
            <a:endParaRPr lang="en-US" sz="12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3F3"/>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DIVERSIDAD ÉTNICA Y CULTURAL</a:t>
            </a:r>
            <a:endParaRPr lang="en-US" sz="1200" dirty="0"/>
          </a:p>
        </p:txBody>
      </p:sp>
      <p:sp>
        <p:nvSpPr>
          <p:cNvPr id="3" name="Text 1"/>
          <p:cNvSpPr/>
          <p:nvPr>
            <p:ph type="title"/>
          </p:nvPr>
        </p:nvSpPr>
        <p:spPr>
          <a:xfrm>
            <a:off x="812767" y="112762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1A1A"/>
                </a:solidFill>
                <a:latin typeface="Source Sans 3" pitchFamily="34" charset="0"/>
                <a:ea typeface="Source Sans 3" pitchFamily="34" charset="-122"/>
                <a:cs typeface="Source Sans 3" pitchFamily="34" charset="-120"/>
              </a:rPr>
              <a:t>Enfoque diferencial étnico-racial (EDR)</a:t>
            </a:r>
            <a:endParaRPr lang="en-US" sz="3200" dirty="0"/>
          </a:p>
        </p:txBody>
      </p:sp>
      <p:sp>
        <p:nvSpPr>
          <p:cNvPr id="4" name="Shape 2"/>
          <p:cNvSpPr/>
          <p:nvPr/>
        </p:nvSpPr>
        <p:spPr>
          <a:xfrm>
            <a:off x="812767" y="1676133"/>
            <a:ext cx="762000" cy="50767"/>
          </a:xfrm>
          <a:prstGeom prst="rect">
            <a:avLst/>
          </a:prstGeom>
          <a:solidFill>
            <a:srgbClr val="FC8400"/>
          </a:solidFill>
          <a:ln/>
        </p:spPr>
      </p:sp>
      <p:sp>
        <p:nvSpPr>
          <p:cNvPr id="5" name="Shape 3"/>
          <p:cNvSpPr/>
          <p:nvPr/>
        </p:nvSpPr>
        <p:spPr>
          <a:xfrm>
            <a:off x="838167" y="2031668"/>
            <a:ext cx="0" cy="2121710"/>
          </a:xfrm>
          <a:prstGeom prst="line">
            <a:avLst/>
          </a:prstGeom>
          <a:noFill/>
          <a:ln w="50800">
            <a:solidFill>
              <a:srgbClr val="156082"/>
            </a:solidFill>
            <a:prstDash val="solid"/>
          </a:ln>
        </p:spPr>
      </p:sp>
      <p:sp>
        <p:nvSpPr>
          <p:cNvPr id="6" name="Text 4"/>
          <p:cNvSpPr/>
          <p:nvPr/>
        </p:nvSpPr>
        <p:spPr>
          <a:xfrm>
            <a:off x="1165159" y="2082434"/>
            <a:ext cx="10520496" cy="1644319"/>
          </a:xfrm>
          <a:prstGeom prst="rect">
            <a:avLst/>
          </a:prstGeom>
          <a:noFill/>
          <a:ln/>
        </p:spPr>
        <p:txBody>
          <a:bodyPr wrap="square" lIns="0" tIns="0" rIns="0" bIns="0" rtlCol="0" anchor="t">
            <a:normAutofit/>
          </a:bodyPr>
          <a:lstStyle/>
          <a:p>
            <a:pPr algn="l" indent="0" marL="0">
              <a:lnSpc>
                <a:spcPts val="2550"/>
              </a:lnSpc>
              <a:buNone/>
            </a:pPr>
            <a:r>
              <a:rPr lang="en-US" sz="1700" i="1" dirty="0">
                <a:solidFill>
                  <a:srgbClr val="1A1A1A"/>
                </a:solidFill>
                <a:latin typeface="Georgia" pitchFamily="18" charset="0"/>
                <a:ea typeface="Georgia" pitchFamily="18" charset="-122"/>
                <a:cs typeface="Georgia" pitchFamily="18" charset="-120"/>
              </a:rPr>
              <a:t>«El EDR busca generar nuevas preguntas al respecto del lugar —y del no lugar— ocupado al interior de las instituciones por personas, grupos, colectivos, organizaciones, comunidades negras, afrocolombianas, raizales y palenqueras; remite también a indagar sobre la manera como la institucionalidad se relaciona con estos otros de la Nación […]. Las comunidades negras, afrocolombianas, raizales y palenqueras reivindican intereses puntuales concretos.»</a:t>
            </a:r>
            <a:endParaRPr lang="en-US" sz="1700" dirty="0"/>
          </a:p>
        </p:txBody>
      </p:sp>
      <p:sp>
        <p:nvSpPr>
          <p:cNvPr id="7" name="Text 5"/>
          <p:cNvSpPr/>
          <p:nvPr/>
        </p:nvSpPr>
        <p:spPr>
          <a:xfrm>
            <a:off x="1165159" y="3853737"/>
            <a:ext cx="10520496" cy="27427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85757"/>
                </a:solidFill>
                <a:latin typeface="Source Sans 3" pitchFamily="34" charset="0"/>
                <a:ea typeface="Source Sans 3" pitchFamily="34" charset="-122"/>
                <a:cs typeface="Source Sans 3" pitchFamily="34" charset="-120"/>
              </a:rPr>
              <a:t>Ruby Esther León Díaz (2020)</a:t>
            </a:r>
            <a:endParaRPr lang="en-US" sz="1400" dirty="0"/>
          </a:p>
        </p:txBody>
      </p:sp>
      <p:sp>
        <p:nvSpPr>
          <p:cNvPr id="8" name="Text 6"/>
          <p:cNvSpPr/>
          <p:nvPr/>
        </p:nvSpPr>
        <p:spPr>
          <a:xfrm>
            <a:off x="7454933" y="6238295"/>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Hinestroza Cuesta · UTCH</a:t>
            </a:r>
            <a:endParaRPr lang="en-US" sz="12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ARTÍCULO 5</a:t>
            </a:r>
            <a:endParaRPr lang="en-US" sz="1200" dirty="0"/>
          </a:p>
        </p:txBody>
      </p:sp>
      <p:sp>
        <p:nvSpPr>
          <p:cNvPr id="3" name="Text 1"/>
          <p:cNvSpPr/>
          <p:nvPr>
            <p:ph type="title"/>
          </p:nvPr>
        </p:nvSpPr>
        <p:spPr>
          <a:xfrm>
            <a:off x="812767" y="112762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1A1A"/>
                </a:solidFill>
                <a:latin typeface="Source Sans 3" pitchFamily="34" charset="0"/>
                <a:ea typeface="Source Sans 3" pitchFamily="34" charset="-122"/>
                <a:cs typeface="Source Sans 3" pitchFamily="34" charset="-120"/>
              </a:rPr>
              <a:t>Constitución Federal del Brasil de 1988</a:t>
            </a:r>
            <a:endParaRPr lang="en-US" sz="3200" dirty="0"/>
          </a:p>
        </p:txBody>
      </p:sp>
      <p:sp>
        <p:nvSpPr>
          <p:cNvPr id="4" name="Shape 2"/>
          <p:cNvSpPr/>
          <p:nvPr/>
        </p:nvSpPr>
        <p:spPr>
          <a:xfrm>
            <a:off x="812767" y="1676133"/>
            <a:ext cx="762000" cy="50767"/>
          </a:xfrm>
          <a:prstGeom prst="rect">
            <a:avLst/>
          </a:prstGeom>
          <a:solidFill>
            <a:srgbClr val="FC8400"/>
          </a:solidFill>
          <a:ln/>
        </p:spPr>
      </p:sp>
      <p:sp>
        <p:nvSpPr>
          <p:cNvPr id="5" name="Shape 3"/>
          <p:cNvSpPr/>
          <p:nvPr/>
        </p:nvSpPr>
        <p:spPr>
          <a:xfrm>
            <a:off x="812767" y="2006532"/>
            <a:ext cx="10566383" cy="1625534"/>
          </a:xfrm>
          <a:prstGeom prst="rect">
            <a:avLst/>
          </a:prstGeom>
          <a:solidFill>
            <a:srgbClr val="156082"/>
          </a:solidFill>
          <a:ln/>
        </p:spPr>
      </p:sp>
      <p:sp>
        <p:nvSpPr>
          <p:cNvPr id="6" name="Text 4"/>
          <p:cNvSpPr/>
          <p:nvPr/>
        </p:nvSpPr>
        <p:spPr>
          <a:xfrm>
            <a:off x="1066767" y="2260532"/>
            <a:ext cx="1036013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CCC00"/>
                </a:solidFill>
                <a:latin typeface="Source Sans 3" pitchFamily="34" charset="0"/>
                <a:ea typeface="Source Sans 3" pitchFamily="34" charset="-122"/>
                <a:cs typeface="Source Sans 3" pitchFamily="34" charset="-120"/>
              </a:rPr>
              <a:t>ART. 5, CAPUT</a:t>
            </a:r>
            <a:endParaRPr lang="en-US" sz="1200" dirty="0"/>
          </a:p>
        </p:txBody>
      </p:sp>
      <p:sp>
        <p:nvSpPr>
          <p:cNvPr id="7" name="Text 5"/>
          <p:cNvSpPr/>
          <p:nvPr/>
        </p:nvSpPr>
        <p:spPr>
          <a:xfrm>
            <a:off x="1066767" y="2550002"/>
            <a:ext cx="10360134" cy="5740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FFFFF"/>
                </a:solidFill>
                <a:latin typeface="Source Sans 3" pitchFamily="34" charset="0"/>
                <a:ea typeface="Source Sans 3" pitchFamily="34" charset="-122"/>
                <a:cs typeface="Source Sans 3" pitchFamily="34" charset="-120"/>
              </a:rPr>
              <a:t>Todas las personas son iguales ante la ley, garantizándose a los brasileños y a los extranjeros residentes en el país la inviolabilidad del derecho a la vida, a la libertad, a la igualdad, a la seguridad y a la propiedad.</a:t>
            </a:r>
            <a:endParaRPr lang="en-US" sz="1600" dirty="0"/>
          </a:p>
        </p:txBody>
      </p:sp>
      <p:sp>
        <p:nvSpPr>
          <p:cNvPr id="8" name="Shape 6"/>
          <p:cNvSpPr/>
          <p:nvPr/>
        </p:nvSpPr>
        <p:spPr>
          <a:xfrm>
            <a:off x="812767" y="3810000"/>
            <a:ext cx="3384517" cy="2032000"/>
          </a:xfrm>
          <a:prstGeom prst="rect">
            <a:avLst/>
          </a:prstGeom>
          <a:solidFill>
            <a:srgbClr val="F3F3F3"/>
          </a:solidFill>
          <a:ln/>
        </p:spPr>
      </p:sp>
      <p:sp>
        <p:nvSpPr>
          <p:cNvPr id="9" name="Shape 7"/>
          <p:cNvSpPr/>
          <p:nvPr/>
        </p:nvSpPr>
        <p:spPr>
          <a:xfrm>
            <a:off x="812767" y="3835400"/>
            <a:ext cx="3384517" cy="0"/>
          </a:xfrm>
          <a:prstGeom prst="line">
            <a:avLst/>
          </a:prstGeom>
          <a:noFill/>
          <a:ln w="50800">
            <a:solidFill>
              <a:srgbClr val="156082"/>
            </a:solidFill>
            <a:prstDash val="solid"/>
          </a:ln>
        </p:spPr>
      </p:sp>
      <p:sp>
        <p:nvSpPr>
          <p:cNvPr id="10" name="Text 8"/>
          <p:cNvSpPr/>
          <p:nvPr/>
        </p:nvSpPr>
        <p:spPr>
          <a:xfrm>
            <a:off x="1041301" y="4086157"/>
            <a:ext cx="301527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6082"/>
                </a:solidFill>
                <a:latin typeface="Source Sans 3" pitchFamily="34" charset="0"/>
                <a:ea typeface="Source Sans 3" pitchFamily="34" charset="-122"/>
                <a:cs typeface="Source Sans 3" pitchFamily="34" charset="-120"/>
              </a:rPr>
              <a:t>INCISO I</a:t>
            </a:r>
            <a:endParaRPr lang="en-US" sz="1200" dirty="0"/>
          </a:p>
        </p:txBody>
      </p:sp>
      <p:sp>
        <p:nvSpPr>
          <p:cNvPr id="11" name="Text 9"/>
          <p:cNvSpPr/>
          <p:nvPr/>
        </p:nvSpPr>
        <p:spPr>
          <a:xfrm>
            <a:off x="1041301" y="4375627"/>
            <a:ext cx="3015273" cy="796826"/>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A1A1A"/>
                </a:solidFill>
                <a:latin typeface="Source Sans 3" pitchFamily="34" charset="0"/>
                <a:ea typeface="Source Sans 3" pitchFamily="34" charset="-122"/>
                <a:cs typeface="Source Sans 3" pitchFamily="34" charset="-120"/>
              </a:rPr>
              <a:t>El hombre y la mujer son iguales en derechos y obligaciones, en los términos de esta Constitución.</a:t>
            </a:r>
            <a:endParaRPr lang="en-US" sz="1500" dirty="0"/>
          </a:p>
        </p:txBody>
      </p:sp>
      <p:sp>
        <p:nvSpPr>
          <p:cNvPr id="12" name="Shape 10"/>
          <p:cNvSpPr/>
          <p:nvPr/>
        </p:nvSpPr>
        <p:spPr>
          <a:xfrm>
            <a:off x="4400517" y="3810000"/>
            <a:ext cx="3384517" cy="2032000"/>
          </a:xfrm>
          <a:prstGeom prst="rect">
            <a:avLst/>
          </a:prstGeom>
          <a:solidFill>
            <a:srgbClr val="F3F3F3"/>
          </a:solidFill>
          <a:ln/>
        </p:spPr>
      </p:sp>
      <p:sp>
        <p:nvSpPr>
          <p:cNvPr id="13" name="Shape 11"/>
          <p:cNvSpPr/>
          <p:nvPr/>
        </p:nvSpPr>
        <p:spPr>
          <a:xfrm>
            <a:off x="4400517" y="3835400"/>
            <a:ext cx="3384517" cy="0"/>
          </a:xfrm>
          <a:prstGeom prst="line">
            <a:avLst/>
          </a:prstGeom>
          <a:noFill/>
          <a:ln w="50800">
            <a:solidFill>
              <a:srgbClr val="156082"/>
            </a:solidFill>
            <a:prstDash val="solid"/>
          </a:ln>
        </p:spPr>
      </p:sp>
      <p:sp>
        <p:nvSpPr>
          <p:cNvPr id="14" name="Text 12"/>
          <p:cNvSpPr/>
          <p:nvPr/>
        </p:nvSpPr>
        <p:spPr>
          <a:xfrm>
            <a:off x="4629051" y="4086157"/>
            <a:ext cx="301527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6082"/>
                </a:solidFill>
                <a:latin typeface="Source Sans 3" pitchFamily="34" charset="0"/>
                <a:ea typeface="Source Sans 3" pitchFamily="34" charset="-122"/>
                <a:cs typeface="Source Sans 3" pitchFamily="34" charset="-120"/>
              </a:rPr>
              <a:t>INCISO XLI</a:t>
            </a:r>
            <a:endParaRPr lang="en-US" sz="1200" dirty="0"/>
          </a:p>
        </p:txBody>
      </p:sp>
      <p:sp>
        <p:nvSpPr>
          <p:cNvPr id="15" name="Text 13"/>
          <p:cNvSpPr/>
          <p:nvPr/>
        </p:nvSpPr>
        <p:spPr>
          <a:xfrm>
            <a:off x="4629051" y="4375627"/>
            <a:ext cx="3015273" cy="1053968"/>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A1A1A"/>
                </a:solidFill>
                <a:latin typeface="Source Sans 3" pitchFamily="34" charset="0"/>
                <a:ea typeface="Source Sans 3" pitchFamily="34" charset="-122"/>
                <a:cs typeface="Source Sans 3" pitchFamily="34" charset="-120"/>
              </a:rPr>
              <a:t>La ley castigará cualquier discriminación atentatoria contra los derechos y libertades fundamentales.</a:t>
            </a:r>
            <a:endParaRPr lang="en-US" sz="1500" dirty="0"/>
          </a:p>
        </p:txBody>
      </p:sp>
      <p:sp>
        <p:nvSpPr>
          <p:cNvPr id="16" name="Shape 14"/>
          <p:cNvSpPr/>
          <p:nvPr/>
        </p:nvSpPr>
        <p:spPr>
          <a:xfrm>
            <a:off x="7988267" y="3810000"/>
            <a:ext cx="3390883" cy="2032000"/>
          </a:xfrm>
          <a:prstGeom prst="rect">
            <a:avLst/>
          </a:prstGeom>
          <a:solidFill>
            <a:srgbClr val="F3F3F3"/>
          </a:solidFill>
          <a:ln/>
        </p:spPr>
      </p:sp>
      <p:sp>
        <p:nvSpPr>
          <p:cNvPr id="17" name="Shape 15"/>
          <p:cNvSpPr/>
          <p:nvPr/>
        </p:nvSpPr>
        <p:spPr>
          <a:xfrm>
            <a:off x="7988267" y="3835400"/>
            <a:ext cx="3390883" cy="0"/>
          </a:xfrm>
          <a:prstGeom prst="line">
            <a:avLst/>
          </a:prstGeom>
          <a:noFill/>
          <a:ln w="50800">
            <a:solidFill>
              <a:srgbClr val="C8102E"/>
            </a:solidFill>
            <a:prstDash val="solid"/>
          </a:ln>
        </p:spPr>
      </p:sp>
      <p:sp>
        <p:nvSpPr>
          <p:cNvPr id="18" name="Text 16"/>
          <p:cNvSpPr/>
          <p:nvPr/>
        </p:nvSpPr>
        <p:spPr>
          <a:xfrm>
            <a:off x="8216801" y="4086157"/>
            <a:ext cx="302183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8102E"/>
                </a:solidFill>
                <a:latin typeface="Source Sans 3" pitchFamily="34" charset="0"/>
                <a:ea typeface="Source Sans 3" pitchFamily="34" charset="-122"/>
                <a:cs typeface="Source Sans 3" pitchFamily="34" charset="-120"/>
              </a:rPr>
              <a:t>INCISO XLII</a:t>
            </a:r>
            <a:endParaRPr lang="en-US" sz="1200" dirty="0"/>
          </a:p>
        </p:txBody>
      </p:sp>
      <p:sp>
        <p:nvSpPr>
          <p:cNvPr id="19" name="Text 17"/>
          <p:cNvSpPr/>
          <p:nvPr/>
        </p:nvSpPr>
        <p:spPr>
          <a:xfrm>
            <a:off x="8216801" y="4375627"/>
            <a:ext cx="3021830" cy="1053968"/>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A1A1A"/>
                </a:solidFill>
                <a:latin typeface="Source Sans 3" pitchFamily="34" charset="0"/>
                <a:ea typeface="Source Sans 3" pitchFamily="34" charset="-122"/>
                <a:cs typeface="Source Sans 3" pitchFamily="34" charset="-120"/>
              </a:rPr>
              <a:t>La práctica del racismo constituye delito no susceptible de fianza e imprescriptible, sujeto a pena de reclusión.</a:t>
            </a:r>
            <a:endParaRPr lang="en-US" sz="1500" dirty="0"/>
          </a:p>
        </p:txBody>
      </p:sp>
      <p:sp>
        <p:nvSpPr>
          <p:cNvPr id="20" name="Text 18"/>
          <p:cNvSpPr/>
          <p:nvPr/>
        </p:nvSpPr>
        <p:spPr>
          <a:xfrm>
            <a:off x="812767" y="6238292"/>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Fuente: Constitución de la República Federativa del Brasil (1988), art. 5</a:t>
            </a:r>
            <a:endParaRPr lang="en-US" sz="1200" dirty="0"/>
          </a:p>
        </p:txBody>
      </p:sp>
      <p:sp>
        <p:nvSpPr>
          <p:cNvPr id="21" name="Text 19"/>
          <p:cNvSpPr/>
          <p:nvPr/>
        </p:nvSpPr>
        <p:spPr>
          <a:xfrm>
            <a:off x="7454933" y="6238292"/>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Hinestroza Cuesta · UTCH</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7" presetID="42" presetClass="entr" presetSubtype="0"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600"/>
                                        <p:tgtEl>
                                          <p:spTgt spid="5"/>
                                        </p:tgtEl>
                                      </p:cBhvr>
                                    </p:animEffect>
                                    <p:anim calcmode="lin" valueType="num">
                                      <p:cBhvr>
                                        <p:cTn id="5" dur="600" decel="100000" fill="hold"/>
                                        <p:tgtEl>
                                          <p:spTgt spid="5"/>
                                        </p:tgtEl>
                                        <p:attrNameLst>
                                          <p:attrName>ppt_x</p:attrName>
                                        </p:attrNameLst>
                                      </p:cBhvr>
                                      <p:tavLst>
                                        <p:tav tm="0">
                                          <p:val>
                                            <p:strVal val="#ppt_x"/>
                                          </p:val>
                                        </p:tav>
                                        <p:tav tm="100000">
                                          <p:val>
                                            <p:strVal val="#ppt_x"/>
                                          </p:val>
                                        </p:tav>
                                      </p:tavLst>
                                    </p:anim>
                                    <p:anim calcmode="lin" valueType="num">
                                      <p:cBhvr>
                                        <p:cTn id="6" dur="600" decel="100000" fill="hold"/>
                                        <p:tgtEl>
                                          <p:spTgt spid="5"/>
                                        </p:tgtEl>
                                        <p:attrNameLst>
                                          <p:attrName>ppt_y</p:attrName>
                                        </p:attrNameLst>
                                      </p:cBhvr>
                                      <p:tavLst>
                                        <p:tav tm="0">
                                          <p:val>
                                            <p:strVal val="#ppt_y+.06"/>
                                          </p:val>
                                        </p:tav>
                                        <p:tav tm="100000">
                                          <p:val>
                                            <p:strVal val="#ppt_y"/>
                                          </p:val>
                                        </p:tav>
                                      </p:tavLst>
                                    </p:anim>
                                  </p:childTnLst>
                                </p:cTn>
                              </p:par>
                              <p:par>
                                <p:cTn id="12" presetID="42"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600"/>
                                        <p:tgtEl>
                                          <p:spTgt spid="6"/>
                                        </p:tgtEl>
                                      </p:cBhvr>
                                    </p:animEffect>
                                    <p:anim calcmode="lin" valueType="num">
                                      <p:cBhvr>
                                        <p:cTn id="10" dur="600" decel="100000" fill="hold"/>
                                        <p:tgtEl>
                                          <p:spTgt spid="6"/>
                                        </p:tgtEl>
                                        <p:attrNameLst>
                                          <p:attrName>ppt_x</p:attrName>
                                        </p:attrNameLst>
                                      </p:cBhvr>
                                      <p:tavLst>
                                        <p:tav tm="0">
                                          <p:val>
                                            <p:strVal val="#ppt_x"/>
                                          </p:val>
                                        </p:tav>
                                        <p:tav tm="100000">
                                          <p:val>
                                            <p:strVal val="#ppt_x"/>
                                          </p:val>
                                        </p:tav>
                                      </p:tavLst>
                                    </p:anim>
                                    <p:anim calcmode="lin" valueType="num">
                                      <p:cBhvr>
                                        <p:cTn id="11" dur="600" decel="100000" fill="hold"/>
                                        <p:tgtEl>
                                          <p:spTgt spid="6"/>
                                        </p:tgtEl>
                                        <p:attrNameLst>
                                          <p:attrName>ppt_y</p:attrName>
                                        </p:attrNameLst>
                                      </p:cBhvr>
                                      <p:tavLst>
                                        <p:tav tm="0">
                                          <p:val>
                                            <p:strVal val="#ppt_y+.06"/>
                                          </p:val>
                                        </p:tav>
                                        <p:tav tm="100000">
                                          <p:val>
                                            <p:strVal val="#ppt_y"/>
                                          </p:val>
                                        </p:tav>
                                      </p:tavLst>
                                    </p:anim>
                                  </p:childTnLst>
                                </p:cTn>
                              </p:par>
                              <p:par>
                                <p:cTn id="17" presetID="42"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600"/>
                                        <p:tgtEl>
                                          <p:spTgt spid="7"/>
                                        </p:tgtEl>
                                      </p:cBhvr>
                                    </p:animEffect>
                                    <p:anim calcmode="lin" valueType="num">
                                      <p:cBhvr>
                                        <p:cTn id="15" dur="600" decel="100000" fill="hold"/>
                                        <p:tgtEl>
                                          <p:spTgt spid="7"/>
                                        </p:tgtEl>
                                        <p:attrNameLst>
                                          <p:attrName>ppt_x</p:attrName>
                                        </p:attrNameLst>
                                      </p:cBhvr>
                                      <p:tavLst>
                                        <p:tav tm="0">
                                          <p:val>
                                            <p:strVal val="#ppt_x"/>
                                          </p:val>
                                        </p:tav>
                                        <p:tav tm="100000">
                                          <p:val>
                                            <p:strVal val="#ppt_x"/>
                                          </p:val>
                                        </p:tav>
                                      </p:tavLst>
                                    </p:anim>
                                    <p:anim calcmode="lin" valueType="num">
                                      <p:cBhvr>
                                        <p:cTn id="16" dur="600" decel="100000" fill="hold"/>
                                        <p:tgtEl>
                                          <p:spTgt spid="7"/>
                                        </p:tgtEl>
                                        <p:attrNameLst>
                                          <p:attrName>ppt_y</p:attrName>
                                        </p:attrNameLst>
                                      </p:cBhvr>
                                      <p:tavLst>
                                        <p:tav tm="0">
                                          <p:val>
                                            <p:strVal val="#ppt_y+.06"/>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24"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anim calcmode="lin" valueType="num">
                                      <p:cBhvr>
                                        <p:cTn id="22" dur="600" decel="100000" fill="hold"/>
                                        <p:tgtEl>
                                          <p:spTgt spid="8"/>
                                        </p:tgtEl>
                                        <p:attrNameLst>
                                          <p:attrName>ppt_x</p:attrName>
                                        </p:attrNameLst>
                                      </p:cBhvr>
                                      <p:tavLst>
                                        <p:tav tm="0">
                                          <p:val>
                                            <p:strVal val="#ppt_x"/>
                                          </p:val>
                                        </p:tav>
                                        <p:tav tm="100000">
                                          <p:val>
                                            <p:strVal val="#ppt_x"/>
                                          </p:val>
                                        </p:tav>
                                      </p:tavLst>
                                    </p:anim>
                                    <p:anim calcmode="lin" valueType="num">
                                      <p:cBhvr>
                                        <p:cTn id="23" dur="600" decel="100000" fill="hold"/>
                                        <p:tgtEl>
                                          <p:spTgt spid="8"/>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600"/>
                                        <p:tgtEl>
                                          <p:spTgt spid="9"/>
                                        </p:tgtEl>
                                      </p:cBhvr>
                                    </p:animEffect>
                                    <p:anim calcmode="lin" valueType="num">
                                      <p:cBhvr>
                                        <p:cTn id="27" dur="600" decel="100000" fill="hold"/>
                                        <p:tgtEl>
                                          <p:spTgt spid="9"/>
                                        </p:tgtEl>
                                        <p:attrNameLst>
                                          <p:attrName>ppt_x</p:attrName>
                                        </p:attrNameLst>
                                      </p:cBhvr>
                                      <p:tavLst>
                                        <p:tav tm="0">
                                          <p:val>
                                            <p:strVal val="#ppt_x"/>
                                          </p:val>
                                        </p:tav>
                                        <p:tav tm="100000">
                                          <p:val>
                                            <p:strVal val="#ppt_x"/>
                                          </p:val>
                                        </p:tav>
                                      </p:tavLst>
                                    </p:anim>
                                    <p:anim calcmode="lin" valueType="num">
                                      <p:cBhvr>
                                        <p:cTn id="28" dur="600" decel="100000" fill="hold"/>
                                        <p:tgtEl>
                                          <p:spTgt spid="9"/>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600"/>
                                        <p:tgtEl>
                                          <p:spTgt spid="10"/>
                                        </p:tgtEl>
                                      </p:cBhvr>
                                    </p:animEffect>
                                    <p:anim calcmode="lin" valueType="num">
                                      <p:cBhvr>
                                        <p:cTn id="32" dur="600" decel="100000" fill="hold"/>
                                        <p:tgtEl>
                                          <p:spTgt spid="10"/>
                                        </p:tgtEl>
                                        <p:attrNameLst>
                                          <p:attrName>ppt_x</p:attrName>
                                        </p:attrNameLst>
                                      </p:cBhvr>
                                      <p:tavLst>
                                        <p:tav tm="0">
                                          <p:val>
                                            <p:strVal val="#ppt_x"/>
                                          </p:val>
                                        </p:tav>
                                        <p:tav tm="100000">
                                          <p:val>
                                            <p:strVal val="#ppt_x"/>
                                          </p:val>
                                        </p:tav>
                                      </p:tavLst>
                                    </p:anim>
                                    <p:anim calcmode="lin" valueType="num">
                                      <p:cBhvr>
                                        <p:cTn id="33" dur="600" decel="100000" fill="hold"/>
                                        <p:tgtEl>
                                          <p:spTgt spid="10"/>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600"/>
                                        <p:tgtEl>
                                          <p:spTgt spid="11"/>
                                        </p:tgtEl>
                                      </p:cBhvr>
                                    </p:animEffect>
                                    <p:anim calcmode="lin" valueType="num">
                                      <p:cBhvr>
                                        <p:cTn id="37" dur="600" decel="100000" fill="hold"/>
                                        <p:tgtEl>
                                          <p:spTgt spid="11"/>
                                        </p:tgtEl>
                                        <p:attrNameLst>
                                          <p:attrName>ppt_x</p:attrName>
                                        </p:attrNameLst>
                                      </p:cBhvr>
                                      <p:tavLst>
                                        <p:tav tm="0">
                                          <p:val>
                                            <p:strVal val="#ppt_x"/>
                                          </p:val>
                                        </p:tav>
                                        <p:tav tm="100000">
                                          <p:val>
                                            <p:strVal val="#ppt_x"/>
                                          </p:val>
                                        </p:tav>
                                      </p:tavLst>
                                    </p:anim>
                                    <p:anim calcmode="lin" valueType="num">
                                      <p:cBhvr>
                                        <p:cTn id="38" dur="600" decel="100000" fill="hold"/>
                                        <p:tgtEl>
                                          <p:spTgt spid="11"/>
                                        </p:tgtEl>
                                        <p:attrNameLst>
                                          <p:attrName>ppt_y</p:attrName>
                                        </p:attrNameLst>
                                      </p:cBhvr>
                                      <p:tavLst>
                                        <p:tav tm="0">
                                          <p:val>
                                            <p:strVal val="#ppt_y+.06"/>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46" presetID="42"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600"/>
                                        <p:tgtEl>
                                          <p:spTgt spid="12"/>
                                        </p:tgtEl>
                                      </p:cBhvr>
                                    </p:animEffect>
                                    <p:anim calcmode="lin" valueType="num">
                                      <p:cBhvr>
                                        <p:cTn id="44" dur="600" decel="100000" fill="hold"/>
                                        <p:tgtEl>
                                          <p:spTgt spid="12"/>
                                        </p:tgtEl>
                                        <p:attrNameLst>
                                          <p:attrName>ppt_x</p:attrName>
                                        </p:attrNameLst>
                                      </p:cBhvr>
                                      <p:tavLst>
                                        <p:tav tm="0">
                                          <p:val>
                                            <p:strVal val="#ppt_x"/>
                                          </p:val>
                                        </p:tav>
                                        <p:tav tm="100000">
                                          <p:val>
                                            <p:strVal val="#ppt_x"/>
                                          </p:val>
                                        </p:tav>
                                      </p:tavLst>
                                    </p:anim>
                                    <p:anim calcmode="lin" valueType="num">
                                      <p:cBhvr>
                                        <p:cTn id="45" dur="600" decel="100000" fill="hold"/>
                                        <p:tgtEl>
                                          <p:spTgt spid="12"/>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600"/>
                                        <p:tgtEl>
                                          <p:spTgt spid="13"/>
                                        </p:tgtEl>
                                      </p:cBhvr>
                                    </p:animEffect>
                                    <p:anim calcmode="lin" valueType="num">
                                      <p:cBhvr>
                                        <p:cTn id="49" dur="600" decel="100000" fill="hold"/>
                                        <p:tgtEl>
                                          <p:spTgt spid="13"/>
                                        </p:tgtEl>
                                        <p:attrNameLst>
                                          <p:attrName>ppt_x</p:attrName>
                                        </p:attrNameLst>
                                      </p:cBhvr>
                                      <p:tavLst>
                                        <p:tav tm="0">
                                          <p:val>
                                            <p:strVal val="#ppt_x"/>
                                          </p:val>
                                        </p:tav>
                                        <p:tav tm="100000">
                                          <p:val>
                                            <p:strVal val="#ppt_x"/>
                                          </p:val>
                                        </p:tav>
                                      </p:tavLst>
                                    </p:anim>
                                    <p:anim calcmode="lin" valueType="num">
                                      <p:cBhvr>
                                        <p:cTn id="50" dur="600" decel="100000" fill="hold"/>
                                        <p:tgtEl>
                                          <p:spTgt spid="13"/>
                                        </p:tgtEl>
                                        <p:attrNameLst>
                                          <p:attrName>ppt_y</p:attrName>
                                        </p:attrNameLst>
                                      </p:cBhvr>
                                      <p:tavLst>
                                        <p:tav tm="0">
                                          <p:val>
                                            <p:strVal val="#ppt_y+.06"/>
                                          </p:val>
                                        </p:tav>
                                        <p:tav tm="100000">
                                          <p:val>
                                            <p:strVal val="#ppt_y"/>
                                          </p:val>
                                        </p:tav>
                                      </p:tavLst>
                                    </p:anim>
                                  </p:childTnLst>
                                </p:cTn>
                              </p:par>
                              <p:par>
                                <p:cTn id="56" presetID="42"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600"/>
                                        <p:tgtEl>
                                          <p:spTgt spid="14"/>
                                        </p:tgtEl>
                                      </p:cBhvr>
                                    </p:animEffect>
                                    <p:anim calcmode="lin" valueType="num">
                                      <p:cBhvr>
                                        <p:cTn id="54" dur="600" decel="100000" fill="hold"/>
                                        <p:tgtEl>
                                          <p:spTgt spid="14"/>
                                        </p:tgtEl>
                                        <p:attrNameLst>
                                          <p:attrName>ppt_x</p:attrName>
                                        </p:attrNameLst>
                                      </p:cBhvr>
                                      <p:tavLst>
                                        <p:tav tm="0">
                                          <p:val>
                                            <p:strVal val="#ppt_x"/>
                                          </p:val>
                                        </p:tav>
                                        <p:tav tm="100000">
                                          <p:val>
                                            <p:strVal val="#ppt_x"/>
                                          </p:val>
                                        </p:tav>
                                      </p:tavLst>
                                    </p:anim>
                                    <p:anim calcmode="lin" valueType="num">
                                      <p:cBhvr>
                                        <p:cTn id="55" dur="600" decel="100000" fill="hold"/>
                                        <p:tgtEl>
                                          <p:spTgt spid="14"/>
                                        </p:tgtEl>
                                        <p:attrNameLst>
                                          <p:attrName>ppt_y</p:attrName>
                                        </p:attrNameLst>
                                      </p:cBhvr>
                                      <p:tavLst>
                                        <p:tav tm="0">
                                          <p:val>
                                            <p:strVal val="#ppt_y+.06"/>
                                          </p:val>
                                        </p:tav>
                                        <p:tav tm="100000">
                                          <p:val>
                                            <p:strVal val="#ppt_y"/>
                                          </p:val>
                                        </p:tav>
                                      </p:tavLst>
                                    </p:anim>
                                  </p:childTnLst>
                                </p:cTn>
                              </p:par>
                              <p:par>
                                <p:cTn id="61" presetID="42"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600"/>
                                        <p:tgtEl>
                                          <p:spTgt spid="15"/>
                                        </p:tgtEl>
                                      </p:cBhvr>
                                    </p:animEffect>
                                    <p:anim calcmode="lin" valueType="num">
                                      <p:cBhvr>
                                        <p:cTn id="59" dur="600" decel="100000" fill="hold"/>
                                        <p:tgtEl>
                                          <p:spTgt spid="15"/>
                                        </p:tgtEl>
                                        <p:attrNameLst>
                                          <p:attrName>ppt_x</p:attrName>
                                        </p:attrNameLst>
                                      </p:cBhvr>
                                      <p:tavLst>
                                        <p:tav tm="0">
                                          <p:val>
                                            <p:strVal val="#ppt_x"/>
                                          </p:val>
                                        </p:tav>
                                        <p:tav tm="100000">
                                          <p:val>
                                            <p:strVal val="#ppt_x"/>
                                          </p:val>
                                        </p:tav>
                                      </p:tavLst>
                                    </p:anim>
                                    <p:anim calcmode="lin" valueType="num">
                                      <p:cBhvr>
                                        <p:cTn id="60" dur="600" decel="100000" fill="hold"/>
                                        <p:tgtEl>
                                          <p:spTgt spid="15"/>
                                        </p:tgtEl>
                                        <p:attrNameLst>
                                          <p:attrName>ppt_y</p:attrName>
                                        </p:attrNameLst>
                                      </p:cBhvr>
                                      <p:tavLst>
                                        <p:tav tm="0">
                                          <p:val>
                                            <p:strVal val="#ppt_y+.06"/>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68" presetID="42" presetClass="entr" presetSubtype="0" fill="hold" grpId="0" nodeType="click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600"/>
                                        <p:tgtEl>
                                          <p:spTgt spid="16"/>
                                        </p:tgtEl>
                                      </p:cBhvr>
                                    </p:animEffect>
                                    <p:anim calcmode="lin" valueType="num">
                                      <p:cBhvr>
                                        <p:cTn id="66" dur="600" decel="100000" fill="hold"/>
                                        <p:tgtEl>
                                          <p:spTgt spid="16"/>
                                        </p:tgtEl>
                                        <p:attrNameLst>
                                          <p:attrName>ppt_x</p:attrName>
                                        </p:attrNameLst>
                                      </p:cBhvr>
                                      <p:tavLst>
                                        <p:tav tm="0">
                                          <p:val>
                                            <p:strVal val="#ppt_x"/>
                                          </p:val>
                                        </p:tav>
                                        <p:tav tm="100000">
                                          <p:val>
                                            <p:strVal val="#ppt_x"/>
                                          </p:val>
                                        </p:tav>
                                      </p:tavLst>
                                    </p:anim>
                                    <p:anim calcmode="lin" valueType="num">
                                      <p:cBhvr>
                                        <p:cTn id="67" dur="600" decel="100000" fill="hold"/>
                                        <p:tgtEl>
                                          <p:spTgt spid="16"/>
                                        </p:tgtEl>
                                        <p:attrNameLst>
                                          <p:attrName>ppt_y</p:attrName>
                                        </p:attrNameLst>
                                      </p:cBhvr>
                                      <p:tavLst>
                                        <p:tav tm="0">
                                          <p:val>
                                            <p:strVal val="#ppt_y+.06"/>
                                          </p:val>
                                        </p:tav>
                                        <p:tav tm="100000">
                                          <p:val>
                                            <p:strVal val="#ppt_y"/>
                                          </p:val>
                                        </p:tav>
                                      </p:tavLst>
                                    </p:anim>
                                  </p:childTnLst>
                                </p:cTn>
                              </p:par>
                              <p:par>
                                <p:cTn id="73" presetID="42" presetClass="entr" presetSubtype="0"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600"/>
                                        <p:tgtEl>
                                          <p:spTgt spid="17"/>
                                        </p:tgtEl>
                                      </p:cBhvr>
                                    </p:animEffect>
                                    <p:anim calcmode="lin" valueType="num">
                                      <p:cBhvr>
                                        <p:cTn id="71" dur="600" decel="100000" fill="hold"/>
                                        <p:tgtEl>
                                          <p:spTgt spid="17"/>
                                        </p:tgtEl>
                                        <p:attrNameLst>
                                          <p:attrName>ppt_x</p:attrName>
                                        </p:attrNameLst>
                                      </p:cBhvr>
                                      <p:tavLst>
                                        <p:tav tm="0">
                                          <p:val>
                                            <p:strVal val="#ppt_x"/>
                                          </p:val>
                                        </p:tav>
                                        <p:tav tm="100000">
                                          <p:val>
                                            <p:strVal val="#ppt_x"/>
                                          </p:val>
                                        </p:tav>
                                      </p:tavLst>
                                    </p:anim>
                                    <p:anim calcmode="lin" valueType="num">
                                      <p:cBhvr>
                                        <p:cTn id="72" dur="600" decel="100000" fill="hold"/>
                                        <p:tgtEl>
                                          <p:spTgt spid="17"/>
                                        </p:tgtEl>
                                        <p:attrNameLst>
                                          <p:attrName>ppt_y</p:attrName>
                                        </p:attrNameLst>
                                      </p:cBhvr>
                                      <p:tavLst>
                                        <p:tav tm="0">
                                          <p:val>
                                            <p:strVal val="#ppt_y+.06"/>
                                          </p:val>
                                        </p:tav>
                                        <p:tav tm="100000">
                                          <p:val>
                                            <p:strVal val="#ppt_y"/>
                                          </p:val>
                                        </p:tav>
                                      </p:tavLst>
                                    </p:anim>
                                  </p:childTnLst>
                                </p:cTn>
                              </p:par>
                              <p:par>
                                <p:cTn id="78" presetID="42" presetClass="entr" presetSubtype="0"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600"/>
                                        <p:tgtEl>
                                          <p:spTgt spid="18"/>
                                        </p:tgtEl>
                                      </p:cBhvr>
                                    </p:animEffect>
                                    <p:anim calcmode="lin" valueType="num">
                                      <p:cBhvr>
                                        <p:cTn id="76" dur="600" decel="100000" fill="hold"/>
                                        <p:tgtEl>
                                          <p:spTgt spid="18"/>
                                        </p:tgtEl>
                                        <p:attrNameLst>
                                          <p:attrName>ppt_x</p:attrName>
                                        </p:attrNameLst>
                                      </p:cBhvr>
                                      <p:tavLst>
                                        <p:tav tm="0">
                                          <p:val>
                                            <p:strVal val="#ppt_x"/>
                                          </p:val>
                                        </p:tav>
                                        <p:tav tm="100000">
                                          <p:val>
                                            <p:strVal val="#ppt_x"/>
                                          </p:val>
                                        </p:tav>
                                      </p:tavLst>
                                    </p:anim>
                                    <p:anim calcmode="lin" valueType="num">
                                      <p:cBhvr>
                                        <p:cTn id="77" dur="600" decel="100000" fill="hold"/>
                                        <p:tgtEl>
                                          <p:spTgt spid="18"/>
                                        </p:tgtEl>
                                        <p:attrNameLst>
                                          <p:attrName>ppt_y</p:attrName>
                                        </p:attrNameLst>
                                      </p:cBhvr>
                                      <p:tavLst>
                                        <p:tav tm="0">
                                          <p:val>
                                            <p:strVal val="#ppt_y+.06"/>
                                          </p:val>
                                        </p:tav>
                                        <p:tav tm="100000">
                                          <p:val>
                                            <p:strVal val="#ppt_y"/>
                                          </p:val>
                                        </p:tav>
                                      </p:tavLst>
                                    </p:anim>
                                  </p:childTnLst>
                                </p:cTn>
                              </p:par>
                              <p:par>
                                <p:cTn id="83" presetID="42" presetClass="entr" presetSubtype="0" fill="hold" grpId="0" nodeType="withEffect">
                                  <p:stCondLst>
                                    <p:cond delay="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600"/>
                                        <p:tgtEl>
                                          <p:spTgt spid="19"/>
                                        </p:tgtEl>
                                      </p:cBhvr>
                                    </p:animEffect>
                                    <p:anim calcmode="lin" valueType="num">
                                      <p:cBhvr>
                                        <p:cTn id="81" dur="600" decel="100000" fill="hold"/>
                                        <p:tgtEl>
                                          <p:spTgt spid="19"/>
                                        </p:tgtEl>
                                        <p:attrNameLst>
                                          <p:attrName>ppt_x</p:attrName>
                                        </p:attrNameLst>
                                      </p:cBhvr>
                                      <p:tavLst>
                                        <p:tav tm="0">
                                          <p:val>
                                            <p:strVal val="#ppt_x"/>
                                          </p:val>
                                        </p:tav>
                                        <p:tav tm="100000">
                                          <p:val>
                                            <p:strVal val="#ppt_x"/>
                                          </p:val>
                                        </p:tav>
                                      </p:tavLst>
                                    </p:anim>
                                    <p:anim calcmode="lin" valueType="num">
                                      <p:cBhvr>
                                        <p:cTn id="82" dur="600" decel="100000" fill="hold"/>
                                        <p:tgtEl>
                                          <p:spTgt spid="19"/>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6082"/>
        </a:solidFill>
      </p:bgPr>
    </p:bg>
    <p:spTree>
      <p:nvGrpSpPr>
        <p:cNvPr id="1" name=""/>
        <p:cNvGrpSpPr/>
        <p:nvPr/>
      </p:nvGrpSpPr>
      <p:grpSpPr>
        <a:xfrm>
          <a:off x="0" y="0"/>
          <a:ext cx="0" cy="0"/>
          <a:chOff x="0" y="0"/>
          <a:chExt cx="0" cy="0"/>
        </a:xfrm>
      </p:grpSpPr>
      <p:sp>
        <p:nvSpPr>
          <p:cNvPr id="2" name="Text 0"/>
          <p:cNvSpPr/>
          <p:nvPr/>
        </p:nvSpPr>
        <p:spPr>
          <a:xfrm>
            <a:off x="812767" y="1915170"/>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CCC00"/>
                </a:solidFill>
                <a:latin typeface="Source Sans 3" pitchFamily="34" charset="0"/>
                <a:ea typeface="Source Sans 3" pitchFamily="34" charset="-122"/>
                <a:cs typeface="Source Sans 3" pitchFamily="34" charset="-120"/>
              </a:rPr>
              <a:t>IGUALDAD MATERIAL</a:t>
            </a:r>
            <a:endParaRPr lang="en-US" sz="1200" dirty="0"/>
          </a:p>
        </p:txBody>
      </p:sp>
      <p:sp>
        <p:nvSpPr>
          <p:cNvPr id="3" name="Text 1"/>
          <p:cNvSpPr/>
          <p:nvPr>
            <p:ph type="title"/>
          </p:nvPr>
        </p:nvSpPr>
        <p:spPr>
          <a:xfrm>
            <a:off x="812767" y="2534872"/>
            <a:ext cx="9810750" cy="1488380"/>
          </a:xfrm>
          <a:prstGeom prst="rect">
            <a:avLst/>
          </a:prstGeom>
          <a:noFill/>
          <a:ln/>
        </p:spPr>
        <p:txBody>
          <a:bodyPr wrap="square" lIns="0" tIns="0" rIns="0" bIns="0" rtlCol="0" anchor="t">
            <a:normAutofit/>
          </a:bodyPr>
          <a:lstStyle/>
          <a:p>
            <a:pPr algn="l" indent="0" marL="0">
              <a:lnSpc>
                <a:spcPts val="3840"/>
              </a:lnSpc>
              <a:buNone/>
            </a:pPr>
            <a:r>
              <a:rPr lang="en-US" sz="3200" b="1" i="0" dirty="0">
                <a:solidFill>
                  <a:srgbClr val="FFFFFF"/>
                </a:solidFill>
                <a:latin typeface="Source Sans 3" pitchFamily="34" charset="0"/>
                <a:ea typeface="Source Sans 3" pitchFamily="34" charset="-122"/>
                <a:cs typeface="Source Sans 3" pitchFamily="34" charset="-120"/>
              </a:rPr>
              <a:t>La ley no se puede aplicar de manera idéntica a todos los ciudadanos, porque hay ciudadanos que históricamente han recibido un trato desigual.</a:t>
            </a:r>
            <a:endParaRPr lang="en-US" sz="3200" dirty="0"/>
          </a:p>
        </p:txBody>
      </p:sp>
      <p:sp>
        <p:nvSpPr>
          <p:cNvPr id="4" name="Text 2"/>
          <p:cNvSpPr/>
          <p:nvPr/>
        </p:nvSpPr>
        <p:spPr>
          <a:xfrm>
            <a:off x="812767" y="4404233"/>
            <a:ext cx="4233002" cy="538510"/>
          </a:xfrm>
          <a:prstGeom prst="roundRect">
            <a:avLst>
              <a:gd name="adj" fmla="val 50000"/>
            </a:avLst>
          </a:prstGeom>
          <a:solidFill>
            <a:srgbClr val="FFFFFF"/>
          </a:solidFill>
          <a:ln/>
        </p:spPr>
        <p:txBody>
          <a:bodyPr wrap="none" lIns="0" tIns="0" rIns="0" bIns="0" rtlCol="0" anchor="ctr">
            <a:normAutofit/>
          </a:bodyPr>
          <a:lstStyle/>
          <a:p>
            <a:pPr algn="ctr" indent="0" marL="0">
              <a:lnSpc>
                <a:spcPts val="2240"/>
              </a:lnSpc>
              <a:buNone/>
            </a:pPr>
            <a:r>
              <a:rPr lang="en-US" sz="1600" b="1" dirty="0">
                <a:solidFill>
                  <a:srgbClr val="156082"/>
                </a:solidFill>
                <a:latin typeface="Source Sans 3" pitchFamily="34" charset="0"/>
                <a:ea typeface="Source Sans 3" pitchFamily="34" charset="-122"/>
                <a:cs typeface="Source Sans 3" pitchFamily="34" charset="-120"/>
              </a:rPr>
              <a:t>Equilibrar omisiones y asimetrías históricas</a:t>
            </a:r>
            <a:endParaRPr lang="en-US" sz="1600" dirty="0"/>
          </a:p>
        </p:txBody>
      </p:sp>
      <p:sp>
        <p:nvSpPr>
          <p:cNvPr id="5" name="Text 3"/>
          <p:cNvSpPr/>
          <p:nvPr/>
        </p:nvSpPr>
        <p:spPr>
          <a:xfrm>
            <a:off x="5248920" y="4404233"/>
            <a:ext cx="3661420" cy="538510"/>
          </a:xfrm>
          <a:prstGeom prst="roundRect">
            <a:avLst>
              <a:gd name="adj" fmla="val 50000"/>
            </a:avLst>
          </a:prstGeom>
          <a:solidFill>
            <a:srgbClr val="FCCC00"/>
          </a:solidFill>
          <a:ln/>
        </p:spPr>
        <p:txBody>
          <a:bodyPr wrap="none" lIns="0" tIns="0" rIns="0" bIns="0" rtlCol="0" anchor="ctr">
            <a:normAutofit/>
          </a:bodyPr>
          <a:lstStyle/>
          <a:p>
            <a:pPr algn="ctr" indent="0" marL="0">
              <a:lnSpc>
                <a:spcPts val="2240"/>
              </a:lnSpc>
              <a:buNone/>
            </a:pPr>
            <a:r>
              <a:rPr lang="en-US" sz="1600" b="1" dirty="0">
                <a:solidFill>
                  <a:srgbClr val="1A1A1A"/>
                </a:solidFill>
                <a:latin typeface="Source Sans 3" pitchFamily="34" charset="0"/>
                <a:ea typeface="Source Sans 3" pitchFamily="34" charset="-122"/>
                <a:cs typeface="Source Sans 3" pitchFamily="34" charset="-120"/>
              </a:rPr>
              <a:t>Medidas afirmativas, más que cuotas</a:t>
            </a:r>
            <a:endParaRPr lang="en-US" sz="16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ACCIONES AFIRMATIVAS</a:t>
            </a:r>
            <a:endParaRPr lang="en-US" sz="1200" dirty="0"/>
          </a:p>
        </p:txBody>
      </p:sp>
      <p:sp>
        <p:nvSpPr>
          <p:cNvPr id="3" name="Text 1"/>
          <p:cNvSpPr/>
          <p:nvPr>
            <p:ph type="title"/>
          </p:nvPr>
        </p:nvSpPr>
        <p:spPr>
          <a:xfrm>
            <a:off x="812767" y="112762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1A1A"/>
                </a:solidFill>
                <a:latin typeface="Source Sans 3" pitchFamily="34" charset="0"/>
                <a:ea typeface="Source Sans 3" pitchFamily="34" charset="-122"/>
                <a:cs typeface="Source Sans 3" pitchFamily="34" charset="-120"/>
              </a:rPr>
              <a:t>Ley de Cuotas del Brasil</a:t>
            </a:r>
            <a:endParaRPr lang="en-US" sz="3200" dirty="0"/>
          </a:p>
        </p:txBody>
      </p:sp>
      <p:sp>
        <p:nvSpPr>
          <p:cNvPr id="4" name="Shape 2"/>
          <p:cNvSpPr/>
          <p:nvPr/>
        </p:nvSpPr>
        <p:spPr>
          <a:xfrm>
            <a:off x="812767" y="1676133"/>
            <a:ext cx="762000" cy="50767"/>
          </a:xfrm>
          <a:prstGeom prst="rect">
            <a:avLst/>
          </a:prstGeom>
          <a:solidFill>
            <a:srgbClr val="FC8400"/>
          </a:solidFill>
          <a:ln/>
        </p:spPr>
      </p:sp>
      <p:sp>
        <p:nvSpPr>
          <p:cNvPr id="5" name="Text 3"/>
          <p:cNvSpPr/>
          <p:nvPr/>
        </p:nvSpPr>
        <p:spPr>
          <a:xfrm>
            <a:off x="812767" y="2913311"/>
            <a:ext cx="4970780" cy="274274"/>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585757"/>
                </a:solidFill>
                <a:latin typeface="Source Sans 3" pitchFamily="34" charset="0"/>
                <a:ea typeface="Source Sans 3" pitchFamily="34" charset="-122"/>
                <a:cs typeface="Source Sans 3" pitchFamily="34" charset="-120"/>
              </a:rPr>
              <a:t>LEI</a:t>
            </a:r>
            <a:endParaRPr lang="en-US" sz="1400" dirty="0"/>
          </a:p>
        </p:txBody>
      </p:sp>
      <p:sp>
        <p:nvSpPr>
          <p:cNvPr id="6" name="Text 4"/>
          <p:cNvSpPr/>
          <p:nvPr/>
        </p:nvSpPr>
        <p:spPr>
          <a:xfrm>
            <a:off x="812767" y="3212951"/>
            <a:ext cx="4970780" cy="1295400"/>
          </a:xfrm>
          <a:prstGeom prst="rect">
            <a:avLst/>
          </a:prstGeom>
          <a:noFill/>
          <a:ln/>
        </p:spPr>
        <p:txBody>
          <a:bodyPr wrap="square" lIns="0" tIns="0" rIns="0" bIns="0" rtlCol="0" anchor="t">
            <a:normAutofit/>
          </a:bodyPr>
          <a:lstStyle/>
          <a:p>
            <a:pPr algn="l" indent="0" marL="0">
              <a:lnSpc>
                <a:spcPts val="10000"/>
              </a:lnSpc>
              <a:buNone/>
            </a:pPr>
            <a:r>
              <a:rPr lang="en-US" sz="10000" b="1" spc="-200" kern="0" dirty="0">
                <a:solidFill>
                  <a:srgbClr val="156082"/>
                </a:solidFill>
                <a:latin typeface="Source Sans 3" pitchFamily="34" charset="0"/>
                <a:ea typeface="Source Sans 3" pitchFamily="34" charset="-122"/>
                <a:cs typeface="Source Sans 3" pitchFamily="34" charset="-120"/>
              </a:rPr>
              <a:t>12.711</a:t>
            </a:r>
            <a:endParaRPr lang="en-US" sz="10000" dirty="0"/>
          </a:p>
        </p:txBody>
      </p:sp>
      <p:sp>
        <p:nvSpPr>
          <p:cNvPr id="7" name="Text 5"/>
          <p:cNvSpPr/>
          <p:nvPr/>
        </p:nvSpPr>
        <p:spPr>
          <a:xfrm>
            <a:off x="812767" y="4533714"/>
            <a:ext cx="497078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56082"/>
                </a:solidFill>
                <a:latin typeface="Source Sans 3" pitchFamily="34" charset="0"/>
                <a:ea typeface="Source Sans 3" pitchFamily="34" charset="-122"/>
                <a:cs typeface="Source Sans 3" pitchFamily="34" charset="-120"/>
              </a:rPr>
              <a:t>de 2012</a:t>
            </a:r>
            <a:endParaRPr lang="en-US" sz="2400" dirty="0"/>
          </a:p>
        </p:txBody>
      </p:sp>
      <p:sp>
        <p:nvSpPr>
          <p:cNvPr id="8" name="Shape 6"/>
          <p:cNvSpPr/>
          <p:nvPr/>
        </p:nvSpPr>
        <p:spPr>
          <a:xfrm>
            <a:off x="6248301" y="3069413"/>
            <a:ext cx="5130932" cy="1734757"/>
          </a:xfrm>
          <a:prstGeom prst="rect">
            <a:avLst/>
          </a:prstGeom>
          <a:solidFill>
            <a:srgbClr val="F3F3F3"/>
          </a:solidFill>
          <a:ln/>
        </p:spPr>
      </p:sp>
      <p:sp>
        <p:nvSpPr>
          <p:cNvPr id="9" name="Shape 7"/>
          <p:cNvSpPr/>
          <p:nvPr/>
        </p:nvSpPr>
        <p:spPr>
          <a:xfrm>
            <a:off x="6273701" y="3069413"/>
            <a:ext cx="0" cy="1734757"/>
          </a:xfrm>
          <a:prstGeom prst="line">
            <a:avLst/>
          </a:prstGeom>
          <a:noFill/>
          <a:ln w="50800">
            <a:solidFill>
              <a:srgbClr val="FC8400"/>
            </a:solidFill>
            <a:prstDash val="solid"/>
          </a:ln>
        </p:spPr>
      </p:sp>
      <p:sp>
        <p:nvSpPr>
          <p:cNvPr id="10" name="Text 8"/>
          <p:cNvSpPr/>
          <p:nvPr/>
        </p:nvSpPr>
        <p:spPr>
          <a:xfrm>
            <a:off x="6600692" y="3374182"/>
            <a:ext cx="460798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LA PREGUNTA</a:t>
            </a:r>
            <a:endParaRPr lang="en-US" sz="1200" dirty="0"/>
          </a:p>
        </p:txBody>
      </p:sp>
      <p:sp>
        <p:nvSpPr>
          <p:cNvPr id="11" name="Text 9"/>
          <p:cNvSpPr/>
          <p:nvPr/>
        </p:nvSpPr>
        <p:spPr>
          <a:xfrm>
            <a:off x="6600692" y="3739883"/>
            <a:ext cx="4607987" cy="784920"/>
          </a:xfrm>
          <a:prstGeom prst="rect">
            <a:avLst/>
          </a:prstGeom>
          <a:noFill/>
          <a:ln/>
        </p:spPr>
        <p:txBody>
          <a:bodyPr wrap="square" lIns="0" tIns="0" rIns="0" bIns="0" rtlCol="0" anchor="t">
            <a:normAutofit/>
          </a:bodyPr>
          <a:lstStyle/>
          <a:p>
            <a:pPr algn="l" indent="0" marL="0">
              <a:lnSpc>
                <a:spcPts val="2990"/>
              </a:lnSpc>
              <a:buNone/>
            </a:pPr>
            <a:r>
              <a:rPr lang="en-US" sz="2600" b="1" dirty="0">
                <a:solidFill>
                  <a:srgbClr val="1A1A1A"/>
                </a:solidFill>
                <a:latin typeface="Source Sans 3" pitchFamily="34" charset="0"/>
                <a:ea typeface="Source Sans 3" pitchFamily="34" charset="-122"/>
                <a:cs typeface="Source Sans 3" pitchFamily="34" charset="-120"/>
              </a:rPr>
              <a:t>¿Consagración normativa o implementación?</a:t>
            </a:r>
            <a:endParaRPr lang="en-US" sz="2600" dirty="0"/>
          </a:p>
        </p:txBody>
      </p:sp>
      <p:sp>
        <p:nvSpPr>
          <p:cNvPr id="12" name="Text 10"/>
          <p:cNvSpPr/>
          <p:nvPr/>
        </p:nvSpPr>
        <p:spPr>
          <a:xfrm>
            <a:off x="7454933" y="6238292"/>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Hinestroza Cuesta · UTCH</a:t>
            </a:r>
            <a:endParaRPr lang="en-US" sz="12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LITIGIO ESTRATÉGICO EN PERSPECTIVA DE GÉNERO</a:t>
            </a:r>
            <a:endParaRPr lang="en-US" sz="1200" dirty="0"/>
          </a:p>
        </p:txBody>
      </p:sp>
      <p:sp>
        <p:nvSpPr>
          <p:cNvPr id="3" name="Text 1"/>
          <p:cNvSpPr/>
          <p:nvPr>
            <p:ph type="title"/>
          </p:nvPr>
        </p:nvSpPr>
        <p:spPr>
          <a:xfrm>
            <a:off x="812767" y="112762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1A1A"/>
                </a:solidFill>
                <a:latin typeface="Source Sans 3" pitchFamily="34" charset="0"/>
                <a:ea typeface="Source Sans 3" pitchFamily="34" charset="-122"/>
                <a:cs typeface="Source Sans 3" pitchFamily="34" charset="-120"/>
              </a:rPr>
              <a:t>Lo que el litigio debe lograr</a:t>
            </a:r>
            <a:endParaRPr lang="en-US" sz="3200" dirty="0"/>
          </a:p>
        </p:txBody>
      </p:sp>
      <p:sp>
        <p:nvSpPr>
          <p:cNvPr id="4" name="Shape 2"/>
          <p:cNvSpPr/>
          <p:nvPr/>
        </p:nvSpPr>
        <p:spPr>
          <a:xfrm>
            <a:off x="812767" y="1676133"/>
            <a:ext cx="762000" cy="50767"/>
          </a:xfrm>
          <a:prstGeom prst="rect">
            <a:avLst/>
          </a:prstGeom>
          <a:solidFill>
            <a:srgbClr val="FC8400"/>
          </a:solidFill>
          <a:ln/>
        </p:spPr>
      </p:sp>
      <p:sp>
        <p:nvSpPr>
          <p:cNvPr id="5" name="Shape 3"/>
          <p:cNvSpPr/>
          <p:nvPr/>
        </p:nvSpPr>
        <p:spPr>
          <a:xfrm>
            <a:off x="812767" y="2159000"/>
            <a:ext cx="2489150" cy="3175000"/>
          </a:xfrm>
          <a:prstGeom prst="rect">
            <a:avLst/>
          </a:prstGeom>
          <a:solidFill>
            <a:srgbClr val="F3F3F3"/>
          </a:solidFill>
          <a:ln/>
        </p:spPr>
      </p:sp>
      <p:sp>
        <p:nvSpPr>
          <p:cNvPr id="6" name="Shape 4"/>
          <p:cNvSpPr/>
          <p:nvPr/>
        </p:nvSpPr>
        <p:spPr>
          <a:xfrm>
            <a:off x="812767" y="2184400"/>
            <a:ext cx="2489150" cy="0"/>
          </a:xfrm>
          <a:prstGeom prst="line">
            <a:avLst/>
          </a:prstGeom>
          <a:noFill/>
          <a:ln w="50800">
            <a:solidFill>
              <a:srgbClr val="156082"/>
            </a:solidFill>
            <a:prstDash val="solid"/>
          </a:ln>
        </p:spPr>
      </p:sp>
      <p:pic>
        <p:nvPicPr>
          <p:cNvPr id="7" name="Image 0" descr="Lock">    </p:cNvPr>
          <p:cNvPicPr>
            <a:picLocks noChangeAspect="1"/>
          </p:cNvPicPr>
          <p:nvPr/>
        </p:nvPicPr>
        <p:blipFill>
          <a:blip r:embed="rId1"/>
          <a:srcRect l="0" r="0" t="0" b="0"/>
          <a:stretch/>
        </p:blipFill>
        <p:spPr>
          <a:xfrm>
            <a:off x="1066767" y="2460625"/>
            <a:ext cx="457150" cy="457150"/>
          </a:xfrm>
          <a:prstGeom prst="rect">
            <a:avLst/>
          </a:prstGeom>
        </p:spPr>
      </p:pic>
      <p:sp>
        <p:nvSpPr>
          <p:cNvPr id="8" name="Text 5"/>
          <p:cNvSpPr/>
          <p:nvPr/>
        </p:nvSpPr>
        <p:spPr>
          <a:xfrm>
            <a:off x="1066767" y="3095538"/>
            <a:ext cx="2040585" cy="86727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A1A1A"/>
                </a:solidFill>
                <a:latin typeface="Source Sans 3" pitchFamily="34" charset="0"/>
                <a:ea typeface="Source Sans 3" pitchFamily="34" charset="-122"/>
                <a:cs typeface="Source Sans 3" pitchFamily="34" charset="-120"/>
              </a:rPr>
              <a:t>Garantizar condiciones de seguridad</a:t>
            </a:r>
            <a:endParaRPr lang="en-US" sz="1700" dirty="0"/>
          </a:p>
        </p:txBody>
      </p:sp>
      <p:sp>
        <p:nvSpPr>
          <p:cNvPr id="9" name="Shape 6"/>
          <p:cNvSpPr/>
          <p:nvPr/>
        </p:nvSpPr>
        <p:spPr>
          <a:xfrm>
            <a:off x="3505150" y="2159000"/>
            <a:ext cx="2489150" cy="3175000"/>
          </a:xfrm>
          <a:prstGeom prst="rect">
            <a:avLst/>
          </a:prstGeom>
          <a:solidFill>
            <a:srgbClr val="156082"/>
          </a:solidFill>
          <a:ln/>
        </p:spPr>
      </p:sp>
      <p:pic>
        <p:nvPicPr>
          <p:cNvPr id="10" name="Image 1" descr="Lightning">    </p:cNvPr>
          <p:cNvPicPr>
            <a:picLocks noChangeAspect="1"/>
          </p:cNvPicPr>
          <p:nvPr/>
        </p:nvPicPr>
        <p:blipFill>
          <a:blip r:embed="rId2"/>
          <a:srcRect l="0" r="0" t="0" b="0"/>
          <a:stretch/>
        </p:blipFill>
        <p:spPr>
          <a:xfrm>
            <a:off x="3759150" y="2413000"/>
            <a:ext cx="457150" cy="457150"/>
          </a:xfrm>
          <a:prstGeom prst="rect">
            <a:avLst/>
          </a:prstGeom>
        </p:spPr>
      </p:pic>
      <p:sp>
        <p:nvSpPr>
          <p:cNvPr id="11" name="Text 7"/>
          <p:cNvSpPr/>
          <p:nvPr/>
        </p:nvSpPr>
        <p:spPr>
          <a:xfrm>
            <a:off x="3759150" y="3047913"/>
            <a:ext cx="2040585" cy="1147895"/>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FFF"/>
                </a:solidFill>
                <a:latin typeface="Source Sans 3" pitchFamily="34" charset="0"/>
                <a:ea typeface="Source Sans 3" pitchFamily="34" charset="-122"/>
                <a:cs typeface="Source Sans 3" pitchFamily="34" charset="-120"/>
              </a:rPr>
              <a:t>Generar precedentes más allá del caso: transformar el sistema</a:t>
            </a:r>
            <a:endParaRPr lang="en-US" sz="1700" dirty="0"/>
          </a:p>
        </p:txBody>
      </p:sp>
      <p:sp>
        <p:nvSpPr>
          <p:cNvPr id="12" name="Shape 8"/>
          <p:cNvSpPr/>
          <p:nvPr/>
        </p:nvSpPr>
        <p:spPr>
          <a:xfrm>
            <a:off x="6197534" y="2159000"/>
            <a:ext cx="2489150" cy="3175000"/>
          </a:xfrm>
          <a:prstGeom prst="rect">
            <a:avLst/>
          </a:prstGeom>
          <a:solidFill>
            <a:srgbClr val="F3F3F3"/>
          </a:solidFill>
          <a:ln/>
        </p:spPr>
      </p:sp>
      <p:sp>
        <p:nvSpPr>
          <p:cNvPr id="13" name="Shape 9"/>
          <p:cNvSpPr/>
          <p:nvPr/>
        </p:nvSpPr>
        <p:spPr>
          <a:xfrm>
            <a:off x="6197534" y="2184400"/>
            <a:ext cx="2489150" cy="0"/>
          </a:xfrm>
          <a:prstGeom prst="line">
            <a:avLst/>
          </a:prstGeom>
          <a:noFill/>
          <a:ln w="50800">
            <a:solidFill>
              <a:srgbClr val="156082"/>
            </a:solidFill>
            <a:prstDash val="solid"/>
          </a:ln>
        </p:spPr>
      </p:sp>
      <p:pic>
        <p:nvPicPr>
          <p:cNvPr id="14" name="Image 2" descr="Search">    </p:cNvPr>
          <p:cNvPicPr>
            <a:picLocks noChangeAspect="1"/>
          </p:cNvPicPr>
          <p:nvPr/>
        </p:nvPicPr>
        <p:blipFill>
          <a:blip r:embed="rId3"/>
          <a:srcRect l="0" r="0" t="0" b="0"/>
          <a:stretch/>
        </p:blipFill>
        <p:spPr>
          <a:xfrm>
            <a:off x="6451534" y="2460625"/>
            <a:ext cx="457150" cy="457150"/>
          </a:xfrm>
          <a:prstGeom prst="rect">
            <a:avLst/>
          </a:prstGeom>
        </p:spPr>
      </p:pic>
      <p:sp>
        <p:nvSpPr>
          <p:cNvPr id="15" name="Text 10"/>
          <p:cNvSpPr/>
          <p:nvPr/>
        </p:nvSpPr>
        <p:spPr>
          <a:xfrm>
            <a:off x="6451534" y="3095538"/>
            <a:ext cx="2040585" cy="1428518"/>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A1A1A"/>
                </a:solidFill>
                <a:latin typeface="Source Sans 3" pitchFamily="34" charset="0"/>
                <a:ea typeface="Source Sans 3" pitchFamily="34" charset="-122"/>
                <a:cs typeface="Source Sans 3" pitchFamily="34" charset="-120"/>
              </a:rPr>
              <a:t>Reconocer los obstáculos históricos y estructurales de las mujeres negras y afrodescendientes</a:t>
            </a:r>
            <a:endParaRPr lang="en-US" sz="1700" dirty="0"/>
          </a:p>
        </p:txBody>
      </p:sp>
      <p:sp>
        <p:nvSpPr>
          <p:cNvPr id="16" name="Shape 11"/>
          <p:cNvSpPr/>
          <p:nvPr/>
        </p:nvSpPr>
        <p:spPr>
          <a:xfrm>
            <a:off x="8890000" y="2159000"/>
            <a:ext cx="2489150" cy="3175000"/>
          </a:xfrm>
          <a:prstGeom prst="rect">
            <a:avLst/>
          </a:prstGeom>
          <a:solidFill>
            <a:srgbClr val="F3F3F3"/>
          </a:solidFill>
          <a:ln/>
        </p:spPr>
      </p:sp>
      <p:sp>
        <p:nvSpPr>
          <p:cNvPr id="17" name="Shape 12"/>
          <p:cNvSpPr/>
          <p:nvPr/>
        </p:nvSpPr>
        <p:spPr>
          <a:xfrm>
            <a:off x="8890000" y="2184400"/>
            <a:ext cx="2489150" cy="0"/>
          </a:xfrm>
          <a:prstGeom prst="line">
            <a:avLst/>
          </a:prstGeom>
          <a:noFill/>
          <a:ln w="50800">
            <a:solidFill>
              <a:srgbClr val="156082"/>
            </a:solidFill>
            <a:prstDash val="solid"/>
          </a:ln>
        </p:spPr>
      </p:sp>
      <p:pic>
        <p:nvPicPr>
          <p:cNvPr id="18" name="Image 3" descr="Verified">    </p:cNvPr>
          <p:cNvPicPr>
            <a:picLocks noChangeAspect="1"/>
          </p:cNvPicPr>
          <p:nvPr/>
        </p:nvPicPr>
        <p:blipFill>
          <a:blip r:embed="rId4"/>
          <a:srcRect l="0" r="0" t="0" b="0"/>
          <a:stretch/>
        </p:blipFill>
        <p:spPr>
          <a:xfrm>
            <a:off x="9144000" y="2460625"/>
            <a:ext cx="457150" cy="457150"/>
          </a:xfrm>
          <a:prstGeom prst="rect">
            <a:avLst/>
          </a:prstGeom>
        </p:spPr>
      </p:pic>
      <p:sp>
        <p:nvSpPr>
          <p:cNvPr id="19" name="Text 13"/>
          <p:cNvSpPr/>
          <p:nvPr/>
        </p:nvSpPr>
        <p:spPr>
          <a:xfrm>
            <a:off x="9144000" y="3095538"/>
            <a:ext cx="2040585" cy="586647"/>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A1A1A"/>
                </a:solidFill>
                <a:latin typeface="Source Sans 3" pitchFamily="34" charset="0"/>
                <a:ea typeface="Source Sans 3" pitchFamily="34" charset="-122"/>
                <a:cs typeface="Source Sans 3" pitchFamily="34" charset="-120"/>
              </a:rPr>
              <a:t>Garantizar medidas de reparación</a:t>
            </a:r>
            <a:endParaRPr lang="en-US" sz="1700" dirty="0"/>
          </a:p>
        </p:txBody>
      </p:sp>
      <p:sp>
        <p:nvSpPr>
          <p:cNvPr id="20" name="Text 14"/>
          <p:cNvSpPr/>
          <p:nvPr/>
        </p:nvSpPr>
        <p:spPr>
          <a:xfrm>
            <a:off x="7454933" y="6238292"/>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Hinestroza Cuesta · UTCH</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42" presetClass="entr" presetSubtype="0"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600"/>
                                        <p:tgtEl>
                                          <p:spTgt spid="5"/>
                                        </p:tgtEl>
                                      </p:cBhvr>
                                    </p:animEffect>
                                    <p:anim calcmode="lin" valueType="num">
                                      <p:cBhvr>
                                        <p:cTn id="5" dur="600" decel="100000" fill="hold"/>
                                        <p:tgtEl>
                                          <p:spTgt spid="5"/>
                                        </p:tgtEl>
                                        <p:attrNameLst>
                                          <p:attrName>ppt_x</p:attrName>
                                        </p:attrNameLst>
                                      </p:cBhvr>
                                      <p:tavLst>
                                        <p:tav tm="0">
                                          <p:val>
                                            <p:strVal val="#ppt_x"/>
                                          </p:val>
                                        </p:tav>
                                        <p:tav tm="100000">
                                          <p:val>
                                            <p:strVal val="#ppt_x"/>
                                          </p:val>
                                        </p:tav>
                                      </p:tavLst>
                                    </p:anim>
                                    <p:anim calcmode="lin" valueType="num">
                                      <p:cBhvr>
                                        <p:cTn id="6" dur="600" decel="100000" fill="hold"/>
                                        <p:tgtEl>
                                          <p:spTgt spid="5"/>
                                        </p:tgtEl>
                                        <p:attrNameLst>
                                          <p:attrName>ppt_y</p:attrName>
                                        </p:attrNameLst>
                                      </p:cBhvr>
                                      <p:tavLst>
                                        <p:tav tm="0">
                                          <p:val>
                                            <p:strVal val="#ppt_y+.06"/>
                                          </p:val>
                                        </p:tav>
                                        <p:tav tm="100000">
                                          <p:val>
                                            <p:strVal val="#ppt_y"/>
                                          </p:val>
                                        </p:tav>
                                      </p:tavLst>
                                    </p:anim>
                                  </p:childTnLst>
                                </p:cTn>
                              </p:par>
                              <p:par>
                                <p:cTn id="12" presetID="42"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600"/>
                                        <p:tgtEl>
                                          <p:spTgt spid="6"/>
                                        </p:tgtEl>
                                      </p:cBhvr>
                                    </p:animEffect>
                                    <p:anim calcmode="lin" valueType="num">
                                      <p:cBhvr>
                                        <p:cTn id="10" dur="600" decel="100000" fill="hold"/>
                                        <p:tgtEl>
                                          <p:spTgt spid="6"/>
                                        </p:tgtEl>
                                        <p:attrNameLst>
                                          <p:attrName>ppt_x</p:attrName>
                                        </p:attrNameLst>
                                      </p:cBhvr>
                                      <p:tavLst>
                                        <p:tav tm="0">
                                          <p:val>
                                            <p:strVal val="#ppt_x"/>
                                          </p:val>
                                        </p:tav>
                                        <p:tav tm="100000">
                                          <p:val>
                                            <p:strVal val="#ppt_x"/>
                                          </p:val>
                                        </p:tav>
                                      </p:tavLst>
                                    </p:anim>
                                    <p:anim calcmode="lin" valueType="num">
                                      <p:cBhvr>
                                        <p:cTn id="11" dur="600" decel="100000" fill="hold"/>
                                        <p:tgtEl>
                                          <p:spTgt spid="6"/>
                                        </p:tgtEl>
                                        <p:attrNameLst>
                                          <p:attrName>ppt_y</p:attrName>
                                        </p:attrNameLst>
                                      </p:cBhvr>
                                      <p:tavLst>
                                        <p:tav tm="0">
                                          <p:val>
                                            <p:strVal val="#ppt_y+.06"/>
                                          </p:val>
                                        </p:tav>
                                        <p:tav tm="100000">
                                          <p:val>
                                            <p:strVal val="#ppt_y"/>
                                          </p:val>
                                        </p:tav>
                                      </p:tavLst>
                                    </p:anim>
                                  </p:childTnLst>
                                </p:cTn>
                              </p:par>
                              <p:par>
                                <p:cTn id="17" presetID="42"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600"/>
                                        <p:tgtEl>
                                          <p:spTgt spid="7"/>
                                        </p:tgtEl>
                                      </p:cBhvr>
                                    </p:animEffect>
                                    <p:anim calcmode="lin" valueType="num">
                                      <p:cBhvr>
                                        <p:cTn id="15" dur="600" decel="100000" fill="hold"/>
                                        <p:tgtEl>
                                          <p:spTgt spid="7"/>
                                        </p:tgtEl>
                                        <p:attrNameLst>
                                          <p:attrName>ppt_x</p:attrName>
                                        </p:attrNameLst>
                                      </p:cBhvr>
                                      <p:tavLst>
                                        <p:tav tm="0">
                                          <p:val>
                                            <p:strVal val="#ppt_x"/>
                                          </p:val>
                                        </p:tav>
                                        <p:tav tm="100000">
                                          <p:val>
                                            <p:strVal val="#ppt_x"/>
                                          </p:val>
                                        </p:tav>
                                      </p:tavLst>
                                    </p:anim>
                                    <p:anim calcmode="lin" valueType="num">
                                      <p:cBhvr>
                                        <p:cTn id="16" dur="600" decel="100000" fill="hold"/>
                                        <p:tgtEl>
                                          <p:spTgt spid="7"/>
                                        </p:tgtEl>
                                        <p:attrNameLst>
                                          <p:attrName>ppt_y</p:attrName>
                                        </p:attrNameLst>
                                      </p:cBhvr>
                                      <p:tavLst>
                                        <p:tav tm="0">
                                          <p:val>
                                            <p:strVal val="#ppt_y+.06"/>
                                          </p:val>
                                        </p:tav>
                                        <p:tav tm="100000">
                                          <p:val>
                                            <p:strVal val="#ppt_y"/>
                                          </p:val>
                                        </p:tav>
                                      </p:tavLst>
                                    </p:anim>
                                  </p:childTnLst>
                                </p:cTn>
                              </p:par>
                              <p:par>
                                <p:cTn id="22" presetID="42"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anim calcmode="lin" valueType="num">
                                      <p:cBhvr>
                                        <p:cTn id="20" dur="600" decel="100000" fill="hold"/>
                                        <p:tgtEl>
                                          <p:spTgt spid="8"/>
                                        </p:tgtEl>
                                        <p:attrNameLst>
                                          <p:attrName>ppt_x</p:attrName>
                                        </p:attrNameLst>
                                      </p:cBhvr>
                                      <p:tavLst>
                                        <p:tav tm="0">
                                          <p:val>
                                            <p:strVal val="#ppt_x"/>
                                          </p:val>
                                        </p:tav>
                                        <p:tav tm="100000">
                                          <p:val>
                                            <p:strVal val="#ppt_x"/>
                                          </p:val>
                                        </p:tav>
                                      </p:tavLst>
                                    </p:anim>
                                    <p:anim calcmode="lin" valueType="num">
                                      <p:cBhvr>
                                        <p:cTn id="21" dur="600" decel="100000" fill="hold"/>
                                        <p:tgtEl>
                                          <p:spTgt spid="8"/>
                                        </p:tgtEl>
                                        <p:attrNameLst>
                                          <p:attrName>ppt_y</p:attrName>
                                        </p:attrNameLst>
                                      </p:cBhvr>
                                      <p:tavLst>
                                        <p:tav tm="0">
                                          <p:val>
                                            <p:strVal val="#ppt_y+.06"/>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29" presetID="42"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600"/>
                                        <p:tgtEl>
                                          <p:spTgt spid="9"/>
                                        </p:tgtEl>
                                      </p:cBhvr>
                                    </p:animEffect>
                                    <p:anim calcmode="lin" valueType="num">
                                      <p:cBhvr>
                                        <p:cTn id="27" dur="600" decel="100000" fill="hold"/>
                                        <p:tgtEl>
                                          <p:spTgt spid="9"/>
                                        </p:tgtEl>
                                        <p:attrNameLst>
                                          <p:attrName>ppt_x</p:attrName>
                                        </p:attrNameLst>
                                      </p:cBhvr>
                                      <p:tavLst>
                                        <p:tav tm="0">
                                          <p:val>
                                            <p:strVal val="#ppt_x"/>
                                          </p:val>
                                        </p:tav>
                                        <p:tav tm="100000">
                                          <p:val>
                                            <p:strVal val="#ppt_x"/>
                                          </p:val>
                                        </p:tav>
                                      </p:tavLst>
                                    </p:anim>
                                    <p:anim calcmode="lin" valueType="num">
                                      <p:cBhvr>
                                        <p:cTn id="28" dur="600" decel="100000" fill="hold"/>
                                        <p:tgtEl>
                                          <p:spTgt spid="9"/>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600"/>
                                        <p:tgtEl>
                                          <p:spTgt spid="10"/>
                                        </p:tgtEl>
                                      </p:cBhvr>
                                    </p:animEffect>
                                    <p:anim calcmode="lin" valueType="num">
                                      <p:cBhvr>
                                        <p:cTn id="32" dur="600" decel="100000" fill="hold"/>
                                        <p:tgtEl>
                                          <p:spTgt spid="10"/>
                                        </p:tgtEl>
                                        <p:attrNameLst>
                                          <p:attrName>ppt_x</p:attrName>
                                        </p:attrNameLst>
                                      </p:cBhvr>
                                      <p:tavLst>
                                        <p:tav tm="0">
                                          <p:val>
                                            <p:strVal val="#ppt_x"/>
                                          </p:val>
                                        </p:tav>
                                        <p:tav tm="100000">
                                          <p:val>
                                            <p:strVal val="#ppt_x"/>
                                          </p:val>
                                        </p:tav>
                                      </p:tavLst>
                                    </p:anim>
                                    <p:anim calcmode="lin" valueType="num">
                                      <p:cBhvr>
                                        <p:cTn id="33" dur="600" decel="100000" fill="hold"/>
                                        <p:tgtEl>
                                          <p:spTgt spid="10"/>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600"/>
                                        <p:tgtEl>
                                          <p:spTgt spid="11"/>
                                        </p:tgtEl>
                                      </p:cBhvr>
                                    </p:animEffect>
                                    <p:anim calcmode="lin" valueType="num">
                                      <p:cBhvr>
                                        <p:cTn id="37" dur="600" decel="100000" fill="hold"/>
                                        <p:tgtEl>
                                          <p:spTgt spid="11"/>
                                        </p:tgtEl>
                                        <p:attrNameLst>
                                          <p:attrName>ppt_x</p:attrName>
                                        </p:attrNameLst>
                                      </p:cBhvr>
                                      <p:tavLst>
                                        <p:tav tm="0">
                                          <p:val>
                                            <p:strVal val="#ppt_x"/>
                                          </p:val>
                                        </p:tav>
                                        <p:tav tm="100000">
                                          <p:val>
                                            <p:strVal val="#ppt_x"/>
                                          </p:val>
                                        </p:tav>
                                      </p:tavLst>
                                    </p:anim>
                                    <p:anim calcmode="lin" valueType="num">
                                      <p:cBhvr>
                                        <p:cTn id="38" dur="600" decel="100000" fill="hold"/>
                                        <p:tgtEl>
                                          <p:spTgt spid="11"/>
                                        </p:tgtEl>
                                        <p:attrNameLst>
                                          <p:attrName>ppt_y</p:attrName>
                                        </p:attrNameLst>
                                      </p:cBhvr>
                                      <p:tavLst>
                                        <p:tav tm="0">
                                          <p:val>
                                            <p:strVal val="#ppt_y+.06"/>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46" presetID="42"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600"/>
                                        <p:tgtEl>
                                          <p:spTgt spid="12"/>
                                        </p:tgtEl>
                                      </p:cBhvr>
                                    </p:animEffect>
                                    <p:anim calcmode="lin" valueType="num">
                                      <p:cBhvr>
                                        <p:cTn id="44" dur="600" decel="100000" fill="hold"/>
                                        <p:tgtEl>
                                          <p:spTgt spid="12"/>
                                        </p:tgtEl>
                                        <p:attrNameLst>
                                          <p:attrName>ppt_x</p:attrName>
                                        </p:attrNameLst>
                                      </p:cBhvr>
                                      <p:tavLst>
                                        <p:tav tm="0">
                                          <p:val>
                                            <p:strVal val="#ppt_x"/>
                                          </p:val>
                                        </p:tav>
                                        <p:tav tm="100000">
                                          <p:val>
                                            <p:strVal val="#ppt_x"/>
                                          </p:val>
                                        </p:tav>
                                      </p:tavLst>
                                    </p:anim>
                                    <p:anim calcmode="lin" valueType="num">
                                      <p:cBhvr>
                                        <p:cTn id="45" dur="600" decel="100000" fill="hold"/>
                                        <p:tgtEl>
                                          <p:spTgt spid="12"/>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600"/>
                                        <p:tgtEl>
                                          <p:spTgt spid="13"/>
                                        </p:tgtEl>
                                      </p:cBhvr>
                                    </p:animEffect>
                                    <p:anim calcmode="lin" valueType="num">
                                      <p:cBhvr>
                                        <p:cTn id="49" dur="600" decel="100000" fill="hold"/>
                                        <p:tgtEl>
                                          <p:spTgt spid="13"/>
                                        </p:tgtEl>
                                        <p:attrNameLst>
                                          <p:attrName>ppt_x</p:attrName>
                                        </p:attrNameLst>
                                      </p:cBhvr>
                                      <p:tavLst>
                                        <p:tav tm="0">
                                          <p:val>
                                            <p:strVal val="#ppt_x"/>
                                          </p:val>
                                        </p:tav>
                                        <p:tav tm="100000">
                                          <p:val>
                                            <p:strVal val="#ppt_x"/>
                                          </p:val>
                                        </p:tav>
                                      </p:tavLst>
                                    </p:anim>
                                    <p:anim calcmode="lin" valueType="num">
                                      <p:cBhvr>
                                        <p:cTn id="50" dur="600" decel="100000" fill="hold"/>
                                        <p:tgtEl>
                                          <p:spTgt spid="13"/>
                                        </p:tgtEl>
                                        <p:attrNameLst>
                                          <p:attrName>ppt_y</p:attrName>
                                        </p:attrNameLst>
                                      </p:cBhvr>
                                      <p:tavLst>
                                        <p:tav tm="0">
                                          <p:val>
                                            <p:strVal val="#ppt_y+.06"/>
                                          </p:val>
                                        </p:tav>
                                        <p:tav tm="100000">
                                          <p:val>
                                            <p:strVal val="#ppt_y"/>
                                          </p:val>
                                        </p:tav>
                                      </p:tavLst>
                                    </p:anim>
                                  </p:childTnLst>
                                </p:cTn>
                              </p:par>
                              <p:par>
                                <p:cTn id="56" presetID="42"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600"/>
                                        <p:tgtEl>
                                          <p:spTgt spid="14"/>
                                        </p:tgtEl>
                                      </p:cBhvr>
                                    </p:animEffect>
                                    <p:anim calcmode="lin" valueType="num">
                                      <p:cBhvr>
                                        <p:cTn id="54" dur="600" decel="100000" fill="hold"/>
                                        <p:tgtEl>
                                          <p:spTgt spid="14"/>
                                        </p:tgtEl>
                                        <p:attrNameLst>
                                          <p:attrName>ppt_x</p:attrName>
                                        </p:attrNameLst>
                                      </p:cBhvr>
                                      <p:tavLst>
                                        <p:tav tm="0">
                                          <p:val>
                                            <p:strVal val="#ppt_x"/>
                                          </p:val>
                                        </p:tav>
                                        <p:tav tm="100000">
                                          <p:val>
                                            <p:strVal val="#ppt_x"/>
                                          </p:val>
                                        </p:tav>
                                      </p:tavLst>
                                    </p:anim>
                                    <p:anim calcmode="lin" valueType="num">
                                      <p:cBhvr>
                                        <p:cTn id="55" dur="600" decel="100000" fill="hold"/>
                                        <p:tgtEl>
                                          <p:spTgt spid="14"/>
                                        </p:tgtEl>
                                        <p:attrNameLst>
                                          <p:attrName>ppt_y</p:attrName>
                                        </p:attrNameLst>
                                      </p:cBhvr>
                                      <p:tavLst>
                                        <p:tav tm="0">
                                          <p:val>
                                            <p:strVal val="#ppt_y+.06"/>
                                          </p:val>
                                        </p:tav>
                                        <p:tav tm="100000">
                                          <p:val>
                                            <p:strVal val="#ppt_y"/>
                                          </p:val>
                                        </p:tav>
                                      </p:tavLst>
                                    </p:anim>
                                  </p:childTnLst>
                                </p:cTn>
                              </p:par>
                              <p:par>
                                <p:cTn id="61" presetID="42"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600"/>
                                        <p:tgtEl>
                                          <p:spTgt spid="15"/>
                                        </p:tgtEl>
                                      </p:cBhvr>
                                    </p:animEffect>
                                    <p:anim calcmode="lin" valueType="num">
                                      <p:cBhvr>
                                        <p:cTn id="59" dur="600" decel="100000" fill="hold"/>
                                        <p:tgtEl>
                                          <p:spTgt spid="15"/>
                                        </p:tgtEl>
                                        <p:attrNameLst>
                                          <p:attrName>ppt_x</p:attrName>
                                        </p:attrNameLst>
                                      </p:cBhvr>
                                      <p:tavLst>
                                        <p:tav tm="0">
                                          <p:val>
                                            <p:strVal val="#ppt_x"/>
                                          </p:val>
                                        </p:tav>
                                        <p:tav tm="100000">
                                          <p:val>
                                            <p:strVal val="#ppt_x"/>
                                          </p:val>
                                        </p:tav>
                                      </p:tavLst>
                                    </p:anim>
                                    <p:anim calcmode="lin" valueType="num">
                                      <p:cBhvr>
                                        <p:cTn id="60" dur="600" decel="100000" fill="hold"/>
                                        <p:tgtEl>
                                          <p:spTgt spid="15"/>
                                        </p:tgtEl>
                                        <p:attrNameLst>
                                          <p:attrName>ppt_y</p:attrName>
                                        </p:attrNameLst>
                                      </p:cBhvr>
                                      <p:tavLst>
                                        <p:tav tm="0">
                                          <p:val>
                                            <p:strVal val="#ppt_y+.06"/>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68" presetID="42" presetClass="entr" presetSubtype="0" fill="hold" grpId="0" nodeType="click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600"/>
                                        <p:tgtEl>
                                          <p:spTgt spid="16"/>
                                        </p:tgtEl>
                                      </p:cBhvr>
                                    </p:animEffect>
                                    <p:anim calcmode="lin" valueType="num">
                                      <p:cBhvr>
                                        <p:cTn id="66" dur="600" decel="100000" fill="hold"/>
                                        <p:tgtEl>
                                          <p:spTgt spid="16"/>
                                        </p:tgtEl>
                                        <p:attrNameLst>
                                          <p:attrName>ppt_x</p:attrName>
                                        </p:attrNameLst>
                                      </p:cBhvr>
                                      <p:tavLst>
                                        <p:tav tm="0">
                                          <p:val>
                                            <p:strVal val="#ppt_x"/>
                                          </p:val>
                                        </p:tav>
                                        <p:tav tm="100000">
                                          <p:val>
                                            <p:strVal val="#ppt_x"/>
                                          </p:val>
                                        </p:tav>
                                      </p:tavLst>
                                    </p:anim>
                                    <p:anim calcmode="lin" valueType="num">
                                      <p:cBhvr>
                                        <p:cTn id="67" dur="600" decel="100000" fill="hold"/>
                                        <p:tgtEl>
                                          <p:spTgt spid="16"/>
                                        </p:tgtEl>
                                        <p:attrNameLst>
                                          <p:attrName>ppt_y</p:attrName>
                                        </p:attrNameLst>
                                      </p:cBhvr>
                                      <p:tavLst>
                                        <p:tav tm="0">
                                          <p:val>
                                            <p:strVal val="#ppt_y+.06"/>
                                          </p:val>
                                        </p:tav>
                                        <p:tav tm="100000">
                                          <p:val>
                                            <p:strVal val="#ppt_y"/>
                                          </p:val>
                                        </p:tav>
                                      </p:tavLst>
                                    </p:anim>
                                  </p:childTnLst>
                                </p:cTn>
                              </p:par>
                              <p:par>
                                <p:cTn id="73" presetID="42" presetClass="entr" presetSubtype="0"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600"/>
                                        <p:tgtEl>
                                          <p:spTgt spid="17"/>
                                        </p:tgtEl>
                                      </p:cBhvr>
                                    </p:animEffect>
                                    <p:anim calcmode="lin" valueType="num">
                                      <p:cBhvr>
                                        <p:cTn id="71" dur="600" decel="100000" fill="hold"/>
                                        <p:tgtEl>
                                          <p:spTgt spid="17"/>
                                        </p:tgtEl>
                                        <p:attrNameLst>
                                          <p:attrName>ppt_x</p:attrName>
                                        </p:attrNameLst>
                                      </p:cBhvr>
                                      <p:tavLst>
                                        <p:tav tm="0">
                                          <p:val>
                                            <p:strVal val="#ppt_x"/>
                                          </p:val>
                                        </p:tav>
                                        <p:tav tm="100000">
                                          <p:val>
                                            <p:strVal val="#ppt_x"/>
                                          </p:val>
                                        </p:tav>
                                      </p:tavLst>
                                    </p:anim>
                                    <p:anim calcmode="lin" valueType="num">
                                      <p:cBhvr>
                                        <p:cTn id="72" dur="600" decel="100000" fill="hold"/>
                                        <p:tgtEl>
                                          <p:spTgt spid="17"/>
                                        </p:tgtEl>
                                        <p:attrNameLst>
                                          <p:attrName>ppt_y</p:attrName>
                                        </p:attrNameLst>
                                      </p:cBhvr>
                                      <p:tavLst>
                                        <p:tav tm="0">
                                          <p:val>
                                            <p:strVal val="#ppt_y+.06"/>
                                          </p:val>
                                        </p:tav>
                                        <p:tav tm="100000">
                                          <p:val>
                                            <p:strVal val="#ppt_y"/>
                                          </p:val>
                                        </p:tav>
                                      </p:tavLst>
                                    </p:anim>
                                  </p:childTnLst>
                                </p:cTn>
                              </p:par>
                              <p:par>
                                <p:cTn id="78" presetID="42" presetClass="entr" presetSubtype="0"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600"/>
                                        <p:tgtEl>
                                          <p:spTgt spid="18"/>
                                        </p:tgtEl>
                                      </p:cBhvr>
                                    </p:animEffect>
                                    <p:anim calcmode="lin" valueType="num">
                                      <p:cBhvr>
                                        <p:cTn id="76" dur="600" decel="100000" fill="hold"/>
                                        <p:tgtEl>
                                          <p:spTgt spid="18"/>
                                        </p:tgtEl>
                                        <p:attrNameLst>
                                          <p:attrName>ppt_x</p:attrName>
                                        </p:attrNameLst>
                                      </p:cBhvr>
                                      <p:tavLst>
                                        <p:tav tm="0">
                                          <p:val>
                                            <p:strVal val="#ppt_x"/>
                                          </p:val>
                                        </p:tav>
                                        <p:tav tm="100000">
                                          <p:val>
                                            <p:strVal val="#ppt_x"/>
                                          </p:val>
                                        </p:tav>
                                      </p:tavLst>
                                    </p:anim>
                                    <p:anim calcmode="lin" valueType="num">
                                      <p:cBhvr>
                                        <p:cTn id="77" dur="600" decel="100000" fill="hold"/>
                                        <p:tgtEl>
                                          <p:spTgt spid="18"/>
                                        </p:tgtEl>
                                        <p:attrNameLst>
                                          <p:attrName>ppt_y</p:attrName>
                                        </p:attrNameLst>
                                      </p:cBhvr>
                                      <p:tavLst>
                                        <p:tav tm="0">
                                          <p:val>
                                            <p:strVal val="#ppt_y+.06"/>
                                          </p:val>
                                        </p:tav>
                                        <p:tav tm="100000">
                                          <p:val>
                                            <p:strVal val="#ppt_y"/>
                                          </p:val>
                                        </p:tav>
                                      </p:tavLst>
                                    </p:anim>
                                  </p:childTnLst>
                                </p:cTn>
                              </p:par>
                              <p:par>
                                <p:cTn id="83" presetID="42" presetClass="entr" presetSubtype="0" fill="hold" grpId="0" nodeType="withEffect">
                                  <p:stCondLst>
                                    <p:cond delay="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600"/>
                                        <p:tgtEl>
                                          <p:spTgt spid="19"/>
                                        </p:tgtEl>
                                      </p:cBhvr>
                                    </p:animEffect>
                                    <p:anim calcmode="lin" valueType="num">
                                      <p:cBhvr>
                                        <p:cTn id="81" dur="600" decel="100000" fill="hold"/>
                                        <p:tgtEl>
                                          <p:spTgt spid="19"/>
                                        </p:tgtEl>
                                        <p:attrNameLst>
                                          <p:attrName>ppt_x</p:attrName>
                                        </p:attrNameLst>
                                      </p:cBhvr>
                                      <p:tavLst>
                                        <p:tav tm="0">
                                          <p:val>
                                            <p:strVal val="#ppt_x"/>
                                          </p:val>
                                        </p:tav>
                                        <p:tav tm="100000">
                                          <p:val>
                                            <p:strVal val="#ppt_x"/>
                                          </p:val>
                                        </p:tav>
                                      </p:tavLst>
                                    </p:anim>
                                    <p:anim calcmode="lin" valueType="num">
                                      <p:cBhvr>
                                        <p:cTn id="82" dur="600" decel="100000" fill="hold"/>
                                        <p:tgtEl>
                                          <p:spTgt spid="19"/>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2" grpId="0" animBg="1"/>
      <p:bldP spid="13" grpId="0" animBg="1"/>
      <p:bldP spid="15" grpId="0" animBg="1"/>
      <p:bldP spid="16" grpId="0" animBg="1"/>
      <p:bldP spid="17" grpId="0" animBg="1"/>
      <p:bldP spid="1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71B"/>
        </a:solidFill>
      </p:bgPr>
    </p:bg>
    <p:spTree>
      <p:nvGrpSpPr>
        <p:cNvPr id="1" name=""/>
        <p:cNvGrpSpPr/>
        <p:nvPr/>
      </p:nvGrpSpPr>
      <p:grpSpPr>
        <a:xfrm>
          <a:off x="0" y="0"/>
          <a:ext cx="0" cy="0"/>
          <a:chOff x="0" y="0"/>
          <a:chExt cx="0" cy="0"/>
        </a:xfrm>
      </p:grpSpPr>
      <p:sp>
        <p:nvSpPr>
          <p:cNvPr id="2" name="Text 0"/>
          <p:cNvSpPr/>
          <p:nvPr/>
        </p:nvSpPr>
        <p:spPr>
          <a:xfrm>
            <a:off x="812767" y="1604280"/>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C8400"/>
                </a:solidFill>
                <a:latin typeface="Source Sans 3" pitchFamily="34" charset="0"/>
                <a:ea typeface="Source Sans 3" pitchFamily="34" charset="-122"/>
                <a:cs typeface="Source Sans 3" pitchFamily="34" charset="-120"/>
              </a:rPr>
              <a:t>FINALIDAD DEL LITIGIO ESTRATÉGICO</a:t>
            </a:r>
            <a:endParaRPr lang="en-US" sz="1200" dirty="0"/>
          </a:p>
        </p:txBody>
      </p:sp>
      <p:sp>
        <p:nvSpPr>
          <p:cNvPr id="3" name="Text 1"/>
          <p:cNvSpPr/>
          <p:nvPr/>
        </p:nvSpPr>
        <p:spPr>
          <a:xfrm>
            <a:off x="812767" y="2122370"/>
            <a:ext cx="10203180" cy="2585244"/>
          </a:xfrm>
          <a:prstGeom prst="rect">
            <a:avLst/>
          </a:prstGeom>
          <a:noFill/>
          <a:ln/>
        </p:spPr>
        <p:txBody>
          <a:bodyPr wrap="square" lIns="0" tIns="0" rIns="0" bIns="0" rtlCol="0" anchor="t">
            <a:normAutofit/>
          </a:bodyPr>
          <a:lstStyle/>
          <a:p>
            <a:pPr algn="l" indent="0" marL="0">
              <a:lnSpc>
                <a:spcPts val="3360"/>
              </a:lnSpc>
              <a:buNone/>
            </a:pPr>
            <a:r>
              <a:rPr lang="en-US" sz="2400" i="1" dirty="0">
                <a:solidFill>
                  <a:srgbClr val="F2F2F2"/>
                </a:solidFill>
                <a:latin typeface="Georgia" pitchFamily="18" charset="0"/>
                <a:ea typeface="Georgia" pitchFamily="18" charset="-122"/>
                <a:cs typeface="Georgia" pitchFamily="18" charset="-120"/>
              </a:rPr>
              <a:t>«El litigio estratégico es una herramienta que, a través del derecho, promueve transformaciones sociales, así como el fortalecimiento de la protección de los derechos humanos. Es estratégico porque, a partir de una causa legal, busca cambiar realidades injustas y posicionar temas que son muy importantes para avanzar en la construcción de una sociedad democrática.»</a:t>
            </a:r>
            <a:endParaRPr lang="en-US" sz="2400" dirty="0"/>
          </a:p>
        </p:txBody>
      </p:sp>
      <p:sp>
        <p:nvSpPr>
          <p:cNvPr id="4" name="Shape 2"/>
          <p:cNvSpPr/>
          <p:nvPr/>
        </p:nvSpPr>
        <p:spPr>
          <a:xfrm>
            <a:off x="812767" y="5107614"/>
            <a:ext cx="406383" cy="25383"/>
          </a:xfrm>
          <a:prstGeom prst="rect">
            <a:avLst/>
          </a:prstGeom>
          <a:solidFill>
            <a:srgbClr val="FC8400"/>
          </a:solidFill>
          <a:ln/>
        </p:spPr>
      </p:sp>
      <p:sp>
        <p:nvSpPr>
          <p:cNvPr id="5" name="Text 3"/>
          <p:cNvSpPr/>
          <p:nvPr/>
        </p:nvSpPr>
        <p:spPr>
          <a:xfrm>
            <a:off x="1371534" y="4986982"/>
            <a:ext cx="1600894"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8BCBE"/>
                </a:solidFill>
                <a:latin typeface="Source Sans 3" pitchFamily="34" charset="0"/>
                <a:ea typeface="Source Sans 3" pitchFamily="34" charset="-122"/>
                <a:cs typeface="Source Sans 3" pitchFamily="34" charset="-120"/>
              </a:rPr>
              <a:t>Lilia Ávila (2023)</a:t>
            </a:r>
            <a:endParaRPr lang="en-US" sz="15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LITIGIO ESTRATÉGICO</a:t>
            </a:r>
            <a:endParaRPr lang="en-US" sz="1200" dirty="0"/>
          </a:p>
        </p:txBody>
      </p:sp>
      <p:sp>
        <p:nvSpPr>
          <p:cNvPr id="3" name="Text 1"/>
          <p:cNvSpPr/>
          <p:nvPr>
            <p:ph type="title"/>
          </p:nvPr>
        </p:nvSpPr>
        <p:spPr>
          <a:xfrm>
            <a:off x="812767" y="112762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1A1A"/>
                </a:solidFill>
                <a:latin typeface="Source Sans 3" pitchFamily="34" charset="0"/>
                <a:ea typeface="Source Sans 3" pitchFamily="34" charset="-122"/>
                <a:cs typeface="Source Sans 3" pitchFamily="34" charset="-120"/>
              </a:rPr>
              <a:t>Componentes y objetivos</a:t>
            </a:r>
            <a:endParaRPr lang="en-US" sz="3200" dirty="0"/>
          </a:p>
        </p:txBody>
      </p:sp>
      <p:sp>
        <p:nvSpPr>
          <p:cNvPr id="4" name="Shape 2"/>
          <p:cNvSpPr/>
          <p:nvPr/>
        </p:nvSpPr>
        <p:spPr>
          <a:xfrm>
            <a:off x="812767" y="1676133"/>
            <a:ext cx="762000" cy="50767"/>
          </a:xfrm>
          <a:prstGeom prst="rect">
            <a:avLst/>
          </a:prstGeom>
          <a:solidFill>
            <a:srgbClr val="FC8400"/>
          </a:solidFill>
          <a:ln/>
        </p:spPr>
      </p:sp>
      <p:sp>
        <p:nvSpPr>
          <p:cNvPr id="5" name="Shape 3"/>
          <p:cNvSpPr/>
          <p:nvPr/>
        </p:nvSpPr>
        <p:spPr>
          <a:xfrm>
            <a:off x="11376058" y="2031665"/>
            <a:ext cx="0" cy="2745631"/>
          </a:xfrm>
          <a:prstGeom prst="line">
            <a:avLst/>
          </a:prstGeom>
          <a:noFill/>
          <a:ln w="6350">
            <a:solidFill>
              <a:srgbClr val="C9CFD2"/>
            </a:solidFill>
            <a:prstDash val="solid"/>
          </a:ln>
        </p:spPr>
      </p:sp>
      <p:sp>
        <p:nvSpPr>
          <p:cNvPr id="6" name="Shape 4"/>
          <p:cNvSpPr/>
          <p:nvPr/>
        </p:nvSpPr>
        <p:spPr>
          <a:xfrm>
            <a:off x="812767" y="4774121"/>
            <a:ext cx="10566466" cy="0"/>
          </a:xfrm>
          <a:prstGeom prst="line">
            <a:avLst/>
          </a:prstGeom>
          <a:noFill/>
          <a:ln w="6350">
            <a:solidFill>
              <a:srgbClr val="C9CFD2"/>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3350" y="2042248"/>
          <a:ext cx="10550591" cy="2729756"/>
        </p:xfrm>
        <a:graphic>
          <a:graphicData uri="http://schemas.openxmlformats.org/drawingml/2006/table">
            <a:tbl>
              <a:tblPr/>
              <a:tblGrid>
                <a:gridCol w="6330355"/>
                <a:gridCol w="4220236"/>
              </a:tblGrid>
              <a:tr h="410518">
                <a:tc>
                  <a:txBody>
                    <a:bodyPr/>
                    <a:lstStyle/>
                    <a:p>
                      <a:pPr indent="0" marL="0">
                        <a:lnSpc>
                          <a:spcPts val="2100"/>
                        </a:lnSpc>
                        <a:buNone/>
                      </a:pPr>
                      <a:r>
                        <a:rPr lang="en-US" sz="1500" b="1" dirty="0">
                          <a:solidFill>
                            <a:srgbClr val="FFFFFF"/>
                          </a:solidFill>
                          <a:latin typeface="Source Sans 3" pitchFamily="34" charset="0"/>
                          <a:ea typeface="Source Sans 3" pitchFamily="34" charset="-122"/>
                          <a:cs typeface="Source Sans 3" pitchFamily="34" charset="-120"/>
                        </a:rPr>
                        <a:t>Componentes</a:t>
                      </a:r>
                      <a:endParaRPr lang="en-US" sz="1500" dirty="0">
                        <a:latin typeface="Source Sans 3" charset="0"/>
                        <a:ea typeface="Source Sans 3" charset="0"/>
                        <a:cs typeface="Source Sans 3"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154F6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54F6A"/>
                      </a:solidFill>
                      <a:prstDash val="solid"/>
                      <a:round/>
                      <a:headEnd type="none" w="med" len="med"/>
                      <a:tailEnd type="none" w="med" len="med"/>
                    </a:lnB>
                    <a:solidFill>
                      <a:srgbClr val="156082"/>
                    </a:solidFill>
                  </a:tcPr>
                </a:tc>
                <a:tc>
                  <a:txBody>
                    <a:bodyPr/>
                    <a:lstStyle/>
                    <a:p>
                      <a:pPr indent="0" marL="0">
                        <a:lnSpc>
                          <a:spcPts val="2100"/>
                        </a:lnSpc>
                        <a:buNone/>
                      </a:pPr>
                      <a:r>
                        <a:rPr lang="en-US" sz="1500" b="1" dirty="0">
                          <a:solidFill>
                            <a:srgbClr val="FFFFFF"/>
                          </a:solidFill>
                          <a:latin typeface="Source Sans 3" pitchFamily="34" charset="0"/>
                          <a:ea typeface="Source Sans 3" pitchFamily="34" charset="-122"/>
                          <a:cs typeface="Source Sans 3" pitchFamily="34" charset="-120"/>
                        </a:rPr>
                        <a:t>Objetivos</a:t>
                      </a:r>
                      <a:endParaRPr lang="en-US" sz="1500" dirty="0">
                        <a:latin typeface="Source Sans 3" charset="0"/>
                        <a:ea typeface="Source Sans 3" charset="0"/>
                        <a:cs typeface="Source Sans 3" charset="0"/>
                      </a:endParaRPr>
                    </a:p>
                  </a:txBody>
                  <a:tcPr marL="66675" marR="66675" marT="66675" marB="66675" anchor="t">
                    <a:lnL w="12700" cap="flat" cmpd="sng" algn="ctr">
                      <a:solidFill>
                        <a:srgbClr val="154F6A"/>
                      </a:solidFill>
                      <a:prstDash val="solid"/>
                      <a:round/>
                      <a:headEnd type="none" w="med" len="med"/>
                      <a:tailEnd type="none" w="med" len="med"/>
                    </a:lnL>
                    <a:lnR w="12700" cap="flat" cmpd="sng" algn="ctr">
                      <a:solidFill>
                        <a:srgbClr val="154F6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54F6A"/>
                      </a:solidFill>
                      <a:prstDash val="solid"/>
                      <a:round/>
                      <a:headEnd type="none" w="med" len="med"/>
                      <a:tailEnd type="none" w="med" len="med"/>
                    </a:lnB>
                    <a:solidFill>
                      <a:srgbClr val="156082"/>
                    </a:solidFill>
                  </a:tcPr>
                </a:tc>
              </a:tr>
              <a:tr h="677168">
                <a:tc>
                  <a:txBody>
                    <a:bodyPr/>
                    <a:lstStyle/>
                    <a:p>
                      <a:pPr indent="0" marL="0">
                        <a:lnSpc>
                          <a:spcPts val="2100"/>
                        </a:lnSpc>
                        <a:buNone/>
                      </a:pPr>
                      <a:r>
                        <a:rPr lang="en-US" sz="1500" dirty="0">
                          <a:solidFill>
                            <a:srgbClr val="1A1A1A"/>
                          </a:solidFill>
                          <a:latin typeface="Source Sans 3" pitchFamily="34" charset="0"/>
                          <a:ea typeface="Source Sans 3" pitchFamily="34" charset="-122"/>
                          <a:cs typeface="Source Sans 3" pitchFamily="34" charset="-120"/>
                        </a:rPr>
                        <a:t>Estrategia legal robusta con argumentos técnicos y científicos interdisciplinarios</a:t>
                      </a:r>
                      <a:endParaRPr lang="en-US" sz="1500" dirty="0">
                        <a:latin typeface="Source Sans 3" charset="0"/>
                        <a:ea typeface="Source Sans 3" charset="0"/>
                        <a:cs typeface="Source Sans 3"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54F6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A1A1A"/>
                          </a:solidFill>
                          <a:latin typeface="Source Sans 3" pitchFamily="34" charset="0"/>
                          <a:ea typeface="Source Sans 3" pitchFamily="34" charset="-122"/>
                          <a:cs typeface="Source Sans 3" pitchFamily="34" charset="-120"/>
                        </a:rPr>
                        <a:t>Agenda pública</a:t>
                      </a:r>
                      <a:endParaRPr lang="en-US" sz="1500" dirty="0">
                        <a:latin typeface="Source Sans 3" charset="0"/>
                        <a:ea typeface="Source Sans 3" charset="0"/>
                        <a:cs typeface="Source Sans 3"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54F6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10518">
                <a:tc>
                  <a:txBody>
                    <a:bodyPr/>
                    <a:lstStyle/>
                    <a:p>
                      <a:pPr indent="0" marL="0">
                        <a:lnSpc>
                          <a:spcPts val="2100"/>
                        </a:lnSpc>
                        <a:buNone/>
                      </a:pPr>
                      <a:r>
                        <a:rPr lang="en-US" sz="1500" dirty="0">
                          <a:solidFill>
                            <a:srgbClr val="1A1A1A"/>
                          </a:solidFill>
                          <a:latin typeface="Source Sans 3" pitchFamily="34" charset="0"/>
                          <a:ea typeface="Source Sans 3" pitchFamily="34" charset="-122"/>
                          <a:cs typeface="Source Sans 3" pitchFamily="34" charset="-120"/>
                        </a:rPr>
                        <a:t>Estrategia de comunicaciones</a:t>
                      </a:r>
                      <a:endParaRPr lang="en-US" sz="1500" dirty="0">
                        <a:latin typeface="Source Sans 3" charset="0"/>
                        <a:ea typeface="Source Sans 3" charset="0"/>
                        <a:cs typeface="Source Sans 3"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2C2C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2C2"/>
                      </a:solidFill>
                      <a:prstDash val="solid"/>
                      <a:round/>
                      <a:headEnd type="none" w="med" len="med"/>
                      <a:tailEnd type="none" w="med" len="med"/>
                    </a:lnB>
                    <a:solidFill>
                      <a:srgbClr val="F3F3F3"/>
                    </a:solidFill>
                  </a:tcPr>
                </a:tc>
                <a:tc>
                  <a:txBody>
                    <a:bodyPr/>
                    <a:lstStyle/>
                    <a:p>
                      <a:pPr indent="0" marL="0">
                        <a:lnSpc>
                          <a:spcPts val="2100"/>
                        </a:lnSpc>
                        <a:buNone/>
                      </a:pPr>
                      <a:r>
                        <a:rPr lang="en-US" sz="1500" dirty="0">
                          <a:solidFill>
                            <a:srgbClr val="1A1A1A"/>
                          </a:solidFill>
                          <a:latin typeface="Source Sans 3" pitchFamily="34" charset="0"/>
                          <a:ea typeface="Source Sans 3" pitchFamily="34" charset="-122"/>
                          <a:cs typeface="Source Sans 3" pitchFamily="34" charset="-120"/>
                        </a:rPr>
                        <a:t>Movilización social</a:t>
                      </a:r>
                      <a:endParaRPr lang="en-US" sz="1500" dirty="0">
                        <a:latin typeface="Source Sans 3" charset="0"/>
                        <a:ea typeface="Source Sans 3" charset="0"/>
                        <a:cs typeface="Source Sans 3" charset="0"/>
                      </a:endParaRPr>
                    </a:p>
                  </a:txBody>
                  <a:tcPr marL="66675" marR="66675" marT="66675" marB="66675" anchor="t">
                    <a:lnL w="12700" cap="flat" cmpd="sng" algn="ctr">
                      <a:solidFill>
                        <a:srgbClr val="C2C2C2"/>
                      </a:solidFill>
                      <a:prstDash val="solid"/>
                      <a:round/>
                      <a:headEnd type="none" w="med" len="med"/>
                      <a:tailEnd type="none" w="med" len="med"/>
                    </a:lnL>
                    <a:lnR w="12700" cap="flat" cmpd="sng" algn="ctr">
                      <a:solidFill>
                        <a:srgbClr val="C2C2C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2C2"/>
                      </a:solidFill>
                      <a:prstDash val="solid"/>
                      <a:round/>
                      <a:headEnd type="none" w="med" len="med"/>
                      <a:tailEnd type="none" w="med" len="med"/>
                    </a:lnB>
                    <a:solidFill>
                      <a:srgbClr val="F3F3F3"/>
                    </a:solidFill>
                  </a:tcPr>
                </a:tc>
              </a:tr>
              <a:tr h="410518">
                <a:tc>
                  <a:txBody>
                    <a:bodyPr/>
                    <a:lstStyle/>
                    <a:p>
                      <a:pPr indent="0" marL="0">
                        <a:lnSpc>
                          <a:spcPts val="2100"/>
                        </a:lnSpc>
                        <a:buNone/>
                      </a:pPr>
                      <a:r>
                        <a:rPr lang="en-US" sz="1500" dirty="0">
                          <a:solidFill>
                            <a:srgbClr val="1A1A1A"/>
                          </a:solidFill>
                          <a:latin typeface="Source Sans 3" pitchFamily="34" charset="0"/>
                          <a:ea typeface="Source Sans 3" pitchFamily="34" charset="-122"/>
                          <a:cs typeface="Source Sans 3" pitchFamily="34" charset="-120"/>
                        </a:rPr>
                        <a:t>Organización social y comunitaria</a:t>
                      </a:r>
                      <a:endParaRPr lang="en-US" sz="1500" dirty="0">
                        <a:latin typeface="Source Sans 3" charset="0"/>
                        <a:ea typeface="Source Sans 3" charset="0"/>
                        <a:cs typeface="Source Sans 3"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2C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endParaRPr lang="en-US" sz="1500" dirty="0">
                        <a:latin typeface="Source Sans 3" charset="0"/>
                        <a:ea typeface="Source Sans 3" charset="0"/>
                        <a:cs typeface="Source Sans 3"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2C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10518">
                <a:tc>
                  <a:txBody>
                    <a:bodyPr/>
                    <a:lstStyle/>
                    <a:p>
                      <a:pPr indent="0" marL="0">
                        <a:lnSpc>
                          <a:spcPts val="2100"/>
                        </a:lnSpc>
                        <a:buNone/>
                      </a:pPr>
                      <a:r>
                        <a:rPr lang="en-US" sz="1500" dirty="0">
                          <a:solidFill>
                            <a:srgbClr val="1A1A1A"/>
                          </a:solidFill>
                          <a:latin typeface="Source Sans 3" pitchFamily="34" charset="0"/>
                          <a:ea typeface="Source Sans 3" pitchFamily="34" charset="-122"/>
                          <a:cs typeface="Source Sans 3" pitchFamily="34" charset="-120"/>
                        </a:rPr>
                        <a:t>Estrategia de protección frente a escenarios de riesgo</a:t>
                      </a:r>
                      <a:endParaRPr lang="en-US" sz="1500" dirty="0">
                        <a:latin typeface="Source Sans 3" charset="0"/>
                        <a:ea typeface="Source Sans 3" charset="0"/>
                        <a:cs typeface="Source Sans 3"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2C2C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2C2"/>
                      </a:solidFill>
                      <a:prstDash val="solid"/>
                      <a:round/>
                      <a:headEnd type="none" w="med" len="med"/>
                      <a:tailEnd type="none" w="med" len="med"/>
                    </a:lnB>
                    <a:solidFill>
                      <a:srgbClr val="F3F3F3"/>
                    </a:solidFill>
                  </a:tcPr>
                </a:tc>
                <a:tc>
                  <a:txBody>
                    <a:bodyPr/>
                    <a:lstStyle/>
                    <a:p>
                      <a:pPr indent="0" marL="0">
                        <a:lnSpc>
                          <a:spcPts val="2100"/>
                        </a:lnSpc>
                        <a:buNone/>
                      </a:pPr>
                      <a:r>
                        <a:rPr lang="en-US" sz="1500" dirty="0">
                          <a:solidFill>
                            <a:srgbClr val="1A1A1A"/>
                          </a:solidFill>
                          <a:latin typeface="Source Sans 3" pitchFamily="34" charset="0"/>
                          <a:ea typeface="Source Sans 3" pitchFamily="34" charset="-122"/>
                          <a:cs typeface="Source Sans 3" pitchFamily="34" charset="-120"/>
                        </a:rPr>
                        <a:t>Sistema democrático fortalecido</a:t>
                      </a:r>
                      <a:endParaRPr lang="en-US" sz="1500" dirty="0">
                        <a:latin typeface="Source Sans 3" charset="0"/>
                        <a:ea typeface="Source Sans 3" charset="0"/>
                        <a:cs typeface="Source Sans 3" charset="0"/>
                      </a:endParaRPr>
                    </a:p>
                  </a:txBody>
                  <a:tcPr marL="66675" marR="66675" marT="66675" marB="66675" anchor="t">
                    <a:lnL w="12700" cap="flat" cmpd="sng" algn="ctr">
                      <a:solidFill>
                        <a:srgbClr val="C2C2C2"/>
                      </a:solidFill>
                      <a:prstDash val="solid"/>
                      <a:round/>
                      <a:headEnd type="none" w="med" len="med"/>
                      <a:tailEnd type="none" w="med" len="med"/>
                    </a:lnL>
                    <a:lnR w="12700" cap="flat" cmpd="sng" algn="ctr">
                      <a:solidFill>
                        <a:srgbClr val="C2C2C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2C2C2"/>
                      </a:solidFill>
                      <a:prstDash val="solid"/>
                      <a:round/>
                      <a:headEnd type="none" w="med" len="med"/>
                      <a:tailEnd type="none" w="med" len="med"/>
                    </a:lnB>
                    <a:solidFill>
                      <a:srgbClr val="F3F3F3"/>
                    </a:solidFill>
                  </a:tcPr>
                </a:tc>
              </a:tr>
              <a:tr h="410518">
                <a:tc>
                  <a:txBody>
                    <a:bodyPr/>
                    <a:lstStyle/>
                    <a:p>
                      <a:pPr indent="0" marL="0">
                        <a:lnSpc>
                          <a:spcPts val="2100"/>
                        </a:lnSpc>
                        <a:buNone/>
                      </a:pPr>
                      <a:r>
                        <a:rPr lang="en-US" sz="1500" dirty="0">
                          <a:solidFill>
                            <a:srgbClr val="1A1A1A"/>
                          </a:solidFill>
                          <a:latin typeface="Source Sans 3" pitchFamily="34" charset="0"/>
                          <a:ea typeface="Source Sans 3" pitchFamily="34" charset="-122"/>
                          <a:cs typeface="Source Sans 3" pitchFamily="34" charset="-120"/>
                        </a:rPr>
                        <a:t>Incidencia política en instancias de decisión</a:t>
                      </a:r>
                      <a:endParaRPr lang="en-US" sz="1500" dirty="0">
                        <a:latin typeface="Source Sans 3" charset="0"/>
                        <a:ea typeface="Source Sans 3" charset="0"/>
                        <a:cs typeface="Source Sans 3"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2C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A1A1A"/>
                          </a:solidFill>
                          <a:latin typeface="Source Sans 3" pitchFamily="34" charset="0"/>
                          <a:ea typeface="Source Sans 3" pitchFamily="34" charset="-122"/>
                          <a:cs typeface="Source Sans 3" pitchFamily="34" charset="-120"/>
                        </a:rPr>
                        <a:t>Uso estratégico del derecho</a:t>
                      </a:r>
                      <a:endParaRPr lang="en-US" sz="1500" dirty="0">
                        <a:latin typeface="Source Sans 3" charset="0"/>
                        <a:ea typeface="Source Sans 3" charset="0"/>
                        <a:cs typeface="Source Sans 3"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2C2C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8" name="Text 5"/>
          <p:cNvSpPr/>
          <p:nvPr/>
        </p:nvSpPr>
        <p:spPr>
          <a:xfrm>
            <a:off x="812767" y="6238292"/>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Fuente: Ávila (2023)</a:t>
            </a:r>
            <a:endParaRPr lang="en-US" sz="1200" dirty="0"/>
          </a:p>
        </p:txBody>
      </p:sp>
      <p:sp>
        <p:nvSpPr>
          <p:cNvPr id="9" name="Text 6"/>
          <p:cNvSpPr/>
          <p:nvPr/>
        </p:nvSpPr>
        <p:spPr>
          <a:xfrm>
            <a:off x="7454933" y="6238292"/>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Hinestroza Cuesta · UTCH</a:t>
            </a:r>
            <a:endParaRPr lang="en-US" sz="12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5837"/>
        </a:solidFill>
      </p:bgPr>
    </p:bg>
    <p:spTree>
      <p:nvGrpSpPr>
        <p:cNvPr id="1" name=""/>
        <p:cNvGrpSpPr/>
        <p:nvPr/>
      </p:nvGrpSpPr>
      <p:grpSpPr>
        <a:xfrm>
          <a:off x="0" y="0"/>
          <a:ext cx="0" cy="0"/>
          <a:chOff x="0" y="0"/>
          <a:chExt cx="0" cy="0"/>
        </a:xfrm>
      </p:grpSpPr>
      <p:sp>
        <p:nvSpPr>
          <p:cNvPr id="2" name="Shape 0"/>
          <p:cNvSpPr/>
          <p:nvPr/>
        </p:nvSpPr>
        <p:spPr>
          <a:xfrm rot="180000">
            <a:off x="7772383" y="1905000"/>
            <a:ext cx="3556000" cy="2540000"/>
          </a:xfrm>
          <a:prstGeom prst="rect">
            <a:avLst/>
          </a:prstGeom>
          <a:solidFill>
            <a:srgbClr val="FFFFFF"/>
          </a:solidFill>
          <a:ln/>
          <a:effectLst>
            <a:outerShdw sx="100000" sy="100000" kx="0" ky="0" algn="bl" rotWithShape="0" blurRad="304800" dist="76200" dir="5400000">
              <a:srgbClr val="000000">
                <a:alpha val="35000"/>
              </a:srgbClr>
            </a:outerShdw>
          </a:effectLst>
        </p:spPr>
      </p:sp>
      <p:pic>
        <p:nvPicPr>
          <p:cNvPr id="3" name="Image 0" descr="Cartel de protesta que dice: No es feminismo si no es interseccional">    </p:cNvPr>
          <p:cNvPicPr>
            <a:picLocks noChangeAspect="1"/>
          </p:cNvPicPr>
          <p:nvPr/>
        </p:nvPicPr>
        <p:blipFill>
          <a:blip r:embed="rId1"/>
          <a:srcRect l="1068" r="1068" t="0" b="0"/>
          <a:stretch/>
        </p:blipFill>
        <p:spPr>
          <a:xfrm rot="180000">
            <a:off x="7908025" y="2032209"/>
            <a:ext cx="3302000" cy="1955800"/>
          </a:xfrm>
          <a:prstGeom prst="rect">
            <a:avLst/>
          </a:prstGeom>
        </p:spPr>
      </p:pic>
      <p:sp>
        <p:nvSpPr>
          <p:cNvPr id="4" name="Text 1"/>
          <p:cNvSpPr/>
          <p:nvPr/>
        </p:nvSpPr>
        <p:spPr>
          <a:xfrm>
            <a:off x="812767" y="1889950"/>
            <a:ext cx="1088346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C8400"/>
                </a:solidFill>
                <a:latin typeface="Source Sans 3" pitchFamily="34" charset="0"/>
                <a:ea typeface="Source Sans 3" pitchFamily="34" charset="-122"/>
                <a:cs typeface="Source Sans 3" pitchFamily="34" charset="-120"/>
              </a:rPr>
              <a:t>02</a:t>
            </a:r>
            <a:endParaRPr lang="en-US" sz="8000" dirty="0"/>
          </a:p>
        </p:txBody>
      </p:sp>
      <p:sp>
        <p:nvSpPr>
          <p:cNvPr id="5" name="Text 2"/>
          <p:cNvSpPr/>
          <p:nvPr>
            <p:ph type="title"/>
          </p:nvPr>
        </p:nvSpPr>
        <p:spPr>
          <a:xfrm>
            <a:off x="812767" y="3109100"/>
            <a:ext cx="6409690" cy="612031"/>
          </a:xfrm>
          <a:prstGeom prst="rect">
            <a:avLst/>
          </a:prstGeom>
          <a:noFill/>
          <a:ln/>
        </p:spPr>
        <p:txBody>
          <a:bodyPr wrap="square" lIns="0" tIns="0" rIns="0" bIns="0" rtlCol="0" anchor="t">
            <a:normAutofit/>
          </a:bodyPr>
          <a:lstStyle/>
          <a:p>
            <a:pPr algn="l" indent="0" marL="0">
              <a:lnSpc>
                <a:spcPts val="4620"/>
              </a:lnSpc>
              <a:buNone/>
            </a:pPr>
            <a:r>
              <a:rPr lang="en-US" sz="4400" b="1" i="0" spc="-50" kern="0" dirty="0">
                <a:solidFill>
                  <a:srgbClr val="FFFFFF"/>
                </a:solidFill>
                <a:latin typeface="Source Sans 3" pitchFamily="34" charset="0"/>
                <a:ea typeface="Source Sans 3" pitchFamily="34" charset="-122"/>
                <a:cs typeface="Source Sans 3" pitchFamily="34" charset="-120"/>
              </a:rPr>
              <a:t>Interseccionalidad</a:t>
            </a:r>
            <a:endParaRPr lang="en-US" sz="4400" dirty="0"/>
          </a:p>
        </p:txBody>
      </p:sp>
      <p:sp>
        <p:nvSpPr>
          <p:cNvPr id="6" name="Text 3"/>
          <p:cNvSpPr/>
          <p:nvPr/>
        </p:nvSpPr>
        <p:spPr>
          <a:xfrm>
            <a:off x="812767" y="3898881"/>
            <a:ext cx="627888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D9ECE1"/>
                </a:solidFill>
                <a:latin typeface="Source Sans 3" pitchFamily="34" charset="0"/>
                <a:ea typeface="Source Sans 3" pitchFamily="34" charset="-122"/>
                <a:cs typeface="Source Sans 3" pitchFamily="34" charset="-120"/>
              </a:rPr>
              <a:t>Concepto, origen en un caso judicial y antecedentes en el contexto regional</a:t>
            </a:r>
            <a:endParaRPr lang="en-US" sz="1800" dirty="0"/>
          </a:p>
        </p:txBody>
      </p:sp>
      <p:sp>
        <p:nvSpPr>
          <p:cNvPr id="7" name="Text 4"/>
          <p:cNvSpPr/>
          <p:nvPr/>
        </p:nvSpPr>
        <p:spPr>
          <a:xfrm>
            <a:off x="812767" y="4719172"/>
            <a:ext cx="10883460" cy="274274"/>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D9ECE1"/>
                </a:solidFill>
                <a:latin typeface="Source Sans 3" pitchFamily="34" charset="0"/>
                <a:ea typeface="Source Sans 3" pitchFamily="34" charset="-122"/>
                <a:cs typeface="Source Sans 3" pitchFamily="34" charset="-120"/>
              </a:rPr>
              <a:t>Interseccionalidade</a:t>
            </a:r>
            <a:endParaRPr lang="en-US" sz="14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13" fill="hold">
                      <p:stCondLst>
                        <p:cond delay="indefinite"/>
                        <p:cond evt="onBegin" delay="0">
                          <p:tn val="2"/>
                        </p:cond>
                      </p:stCondLst>
                      <p:childTnLst>
                        <p:par>
                          <p:cTn id="14" fill="hold">
                            <p:stCondLst>
                              <p:cond delay="0"/>
                            </p:stCondLst>
                            <p:childTnLst>
                              <p:par>
                                <p:cTn id="7" presetID="53" presetClass="entr" presetSubtype="16" fill="hold" grpId="0" nodeType="afterEffect">
                                  <p:stCondLst>
                                    <p:cond delay="300"/>
                                  </p:stCondLst>
                                  <p:childTnLst>
                                    <p:set>
                                      <p:cBhvr>
                                        <p:cTn id="3" dur="1" fill="hold">
                                          <p:stCondLst>
                                            <p:cond delay="0"/>
                                          </p:stCondLst>
                                        </p:cTn>
                                        <p:tgtEl>
                                          <p:spTgt spid="2"/>
                                        </p:tgtEl>
                                        <p:attrNameLst>
                                          <p:attrName>style.visibility</p:attrName>
                                        </p:attrNameLst>
                                      </p:cBhvr>
                                      <p:to>
                                        <p:strVal val="visible"/>
                                      </p:to>
                                    </p:set>
                                    <p:animEffect transition="in" filter="fade">
                                      <p:cBhvr>
                                        <p:cTn id="4" dur="600"/>
                                        <p:tgtEl>
                                          <p:spTgt spid="2"/>
                                        </p:tgtEl>
                                      </p:cBhvr>
                                    </p:animEffect>
                                    <p:anim calcmode="lin" valueType="num">
                                      <p:cBhvr>
                                        <p:cTn id="5" dur="600" decel="100000" fill="hold"/>
                                        <p:tgtEl>
                                          <p:spTgt spid="2"/>
                                        </p:tgtEl>
                                        <p:attrNameLst>
                                          <p:attrName>ppt_w</p:attrName>
                                        </p:attrNameLst>
                                      </p:cBhvr>
                                      <p:tavLst>
                                        <p:tav tm="0">
                                          <p:val>
                                            <p:strVal val="0"/>
                                          </p:val>
                                        </p:tav>
                                        <p:tav tm="100000">
                                          <p:val>
                                            <p:strVal val="#ppt_w"/>
                                          </p:val>
                                        </p:tav>
                                      </p:tavLst>
                                    </p:anim>
                                    <p:anim calcmode="lin" valueType="num">
                                      <p:cBhvr>
                                        <p:cTn id="6" dur="600" decel="100000" fill="hold"/>
                                        <p:tgtEl>
                                          <p:spTgt spid="2"/>
                                        </p:tgtEl>
                                        <p:attrNameLst>
                                          <p:attrName>ppt_h</p:attrName>
                                        </p:attrNameLst>
                                      </p:cBhvr>
                                      <p:tavLst>
                                        <p:tav tm="0">
                                          <p:val>
                                            <p:strVal val="0"/>
                                          </p:val>
                                        </p:tav>
                                        <p:tav tm="100000">
                                          <p:val>
                                            <p:strVal val="#ppt_h"/>
                                          </p:val>
                                        </p:tav>
                                      </p:tavLst>
                                    </p:anim>
                                  </p:childTnLst>
                                </p:cTn>
                              </p:par>
                              <p:par>
                                <p:cTn id="12" presetID="53" presetClass="entr" presetSubtype="16" fill="hold" grpId="0" nodeType="withEffect">
                                  <p:stCondLst>
                                    <p:cond delay="30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600"/>
                                        <p:tgtEl>
                                          <p:spTgt spid="3"/>
                                        </p:tgtEl>
                                      </p:cBhvr>
                                    </p:animEffect>
                                    <p:anim calcmode="lin" valueType="num">
                                      <p:cBhvr>
                                        <p:cTn id="10" dur="600" decel="100000" fill="hold"/>
                                        <p:tgtEl>
                                          <p:spTgt spid="3"/>
                                        </p:tgtEl>
                                        <p:attrNameLst>
                                          <p:attrName>ppt_w</p:attrName>
                                        </p:attrNameLst>
                                      </p:cBhvr>
                                      <p:tavLst>
                                        <p:tav tm="0">
                                          <p:val>
                                            <p:strVal val="0"/>
                                          </p:val>
                                        </p:tav>
                                        <p:tav tm="100000">
                                          <p:val>
                                            <p:strVal val="#ppt_w"/>
                                          </p:val>
                                        </p:tav>
                                      </p:tavLst>
                                    </p:anim>
                                    <p:anim calcmode="lin" valueType="num">
                                      <p:cBhvr>
                                        <p:cTn id="11" dur="600" decel="100000" fill="hold"/>
                                        <p:tgtEl>
                                          <p:spTgt spid="3"/>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CONCEPTO</a:t>
            </a:r>
            <a:endParaRPr lang="en-US" sz="1200" dirty="0"/>
          </a:p>
        </p:txBody>
      </p:sp>
      <p:sp>
        <p:nvSpPr>
          <p:cNvPr id="3" name="Text 1"/>
          <p:cNvSpPr/>
          <p:nvPr>
            <p:ph type="title"/>
          </p:nvPr>
        </p:nvSpPr>
        <p:spPr>
          <a:xfrm>
            <a:off x="812767" y="112762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1A1A"/>
                </a:solidFill>
                <a:latin typeface="Source Sans 3" pitchFamily="34" charset="0"/>
                <a:ea typeface="Source Sans 3" pitchFamily="34" charset="-122"/>
                <a:cs typeface="Source Sans 3" pitchFamily="34" charset="-120"/>
              </a:rPr>
              <a:t>¿Qué es la interseccionalidad?</a:t>
            </a:r>
            <a:endParaRPr lang="en-US" sz="3200" dirty="0"/>
          </a:p>
        </p:txBody>
      </p:sp>
      <p:sp>
        <p:nvSpPr>
          <p:cNvPr id="4" name="Shape 2"/>
          <p:cNvSpPr/>
          <p:nvPr/>
        </p:nvSpPr>
        <p:spPr>
          <a:xfrm>
            <a:off x="812767" y="1676133"/>
            <a:ext cx="762000" cy="50767"/>
          </a:xfrm>
          <a:prstGeom prst="rect">
            <a:avLst/>
          </a:prstGeom>
          <a:solidFill>
            <a:srgbClr val="FC8400"/>
          </a:solidFill>
          <a:ln/>
        </p:spPr>
      </p:sp>
      <p:sp>
        <p:nvSpPr>
          <p:cNvPr id="5" name="Text 3"/>
          <p:cNvSpPr/>
          <p:nvPr/>
        </p:nvSpPr>
        <p:spPr>
          <a:xfrm>
            <a:off x="812767" y="2031665"/>
            <a:ext cx="6148070" cy="1590162"/>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1A1A1A"/>
                </a:solidFill>
                <a:latin typeface="Source Sans 3" pitchFamily="34" charset="0"/>
                <a:ea typeface="Source Sans 3" pitchFamily="34" charset="-122"/>
                <a:cs typeface="Source Sans 3" pitchFamily="34" charset="-120"/>
              </a:rPr>
              <a:t>Es la </a:t>
            </a:r>
            <a:r>
              <a:rPr lang="en-US" sz="1700" b="1" dirty="0">
                <a:solidFill>
                  <a:srgbClr val="1A1A1A"/>
                </a:solidFill>
                <a:latin typeface="Source Sans 3" pitchFamily="34" charset="0"/>
                <a:ea typeface="Source Sans 3" pitchFamily="34" charset="-122"/>
                <a:cs typeface="Source Sans 3" pitchFamily="34" charset="-120"/>
              </a:rPr>
              <a:t>interacción entre dos o más factores sociales</a:t>
            </a:r>
            <a:r>
              <a:rPr lang="en-US" sz="1700" dirty="0">
                <a:solidFill>
                  <a:srgbClr val="1A1A1A"/>
                </a:solidFill>
                <a:latin typeface="Source Sans 3" pitchFamily="34" charset="0"/>
                <a:ea typeface="Source Sans 3" pitchFamily="34" charset="-122"/>
                <a:cs typeface="Source Sans 3" pitchFamily="34" charset="-120"/>
              </a:rPr>
              <a:t>, como el género, la raza, la etnia o la clase. Los privilegios y las desventajas de una persona en un tiempo y espacio </a:t>
            </a:r>
            <a:r>
              <a:rPr lang="en-US" sz="1700" b="1" dirty="0">
                <a:solidFill>
                  <a:srgbClr val="1A1A1A"/>
                </a:solidFill>
                <a:latin typeface="Source Sans 3" pitchFamily="34" charset="0"/>
                <a:ea typeface="Source Sans 3" pitchFamily="34" charset="-122"/>
                <a:cs typeface="Source Sans 3" pitchFamily="34" charset="-120"/>
              </a:rPr>
              <a:t>no pueden analizarse apreciando de manera aislada</a:t>
            </a:r>
            <a:r>
              <a:rPr lang="en-US" sz="1700" dirty="0">
                <a:solidFill>
                  <a:srgbClr val="1A1A1A"/>
                </a:solidFill>
                <a:latin typeface="Source Sans 3" pitchFamily="34" charset="0"/>
                <a:ea typeface="Source Sans 3" pitchFamily="34" charset="-122"/>
                <a:cs typeface="Source Sans 3" pitchFamily="34" charset="-120"/>
              </a:rPr>
              <a:t> los elementos que componen su identidad.</a:t>
            </a:r>
            <a:endParaRPr lang="en-US" sz="1700" dirty="0"/>
          </a:p>
        </p:txBody>
      </p:sp>
      <p:sp>
        <p:nvSpPr>
          <p:cNvPr id="6" name="Text 4"/>
          <p:cNvSpPr/>
          <p:nvPr/>
        </p:nvSpPr>
        <p:spPr>
          <a:xfrm>
            <a:off x="812767" y="3850432"/>
            <a:ext cx="61480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85757"/>
                </a:solidFill>
                <a:latin typeface="Source Sans 3" pitchFamily="34" charset="0"/>
                <a:ea typeface="Source Sans 3" pitchFamily="34" charset="-122"/>
                <a:cs typeface="Source Sans 3" pitchFamily="34" charset="-120"/>
              </a:rPr>
              <a:t>Comisión Interamericana de Derechos Humanos (2023)</a:t>
            </a:r>
            <a:endParaRPr lang="en-US" sz="1200" dirty="0"/>
          </a:p>
        </p:txBody>
      </p:sp>
      <p:sp>
        <p:nvSpPr>
          <p:cNvPr id="7" name="Shape 5"/>
          <p:cNvSpPr/>
          <p:nvPr/>
        </p:nvSpPr>
        <p:spPr>
          <a:xfrm>
            <a:off x="812767" y="4317752"/>
            <a:ext cx="5969000" cy="1312912"/>
          </a:xfrm>
          <a:prstGeom prst="rect">
            <a:avLst/>
          </a:prstGeom>
          <a:solidFill>
            <a:srgbClr val="F3F3F3"/>
          </a:solidFill>
          <a:ln/>
        </p:spPr>
      </p:sp>
      <p:sp>
        <p:nvSpPr>
          <p:cNvPr id="8" name="Shape 6"/>
          <p:cNvSpPr/>
          <p:nvPr/>
        </p:nvSpPr>
        <p:spPr>
          <a:xfrm>
            <a:off x="838167" y="4317752"/>
            <a:ext cx="0" cy="1312912"/>
          </a:xfrm>
          <a:prstGeom prst="line">
            <a:avLst/>
          </a:prstGeom>
          <a:noFill/>
          <a:ln w="50800">
            <a:solidFill>
              <a:srgbClr val="156082"/>
            </a:solidFill>
            <a:prstDash val="solid"/>
          </a:ln>
        </p:spPr>
      </p:sp>
      <p:sp>
        <p:nvSpPr>
          <p:cNvPr id="9" name="Text 7"/>
          <p:cNvSpPr/>
          <p:nvPr/>
        </p:nvSpPr>
        <p:spPr>
          <a:xfrm>
            <a:off x="1063542" y="4495515"/>
            <a:ext cx="5680526" cy="71869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6082"/>
                </a:solidFill>
                <a:latin typeface="Source Sans 3" pitchFamily="34" charset="0"/>
                <a:ea typeface="Source Sans 3" pitchFamily="34" charset="-122"/>
                <a:cs typeface="Source Sans 3" pitchFamily="34" charset="-120"/>
              </a:rPr>
              <a:t>Enfoque interseccional:</a:t>
            </a:r>
            <a:r>
              <a:rPr lang="en-US" sz="1300" dirty="0">
                <a:solidFill>
                  <a:srgbClr val="1A1A1A"/>
                </a:solidFill>
                <a:latin typeface="Source Sans 3" pitchFamily="34" charset="0"/>
                <a:ea typeface="Source Sans 3" pitchFamily="34" charset="-122"/>
                <a:cs typeface="Source Sans 3" pitchFamily="34" charset="-120"/>
              </a:rPr>
              <a:t> análisis de la interacción dinámica entre diversos factores como género, edad, ubicación geográfica, discapacidad, clase social y pertenencia étnico-racial.</a:t>
            </a:r>
            <a:endParaRPr lang="en-US" sz="1300" dirty="0"/>
          </a:p>
        </p:txBody>
      </p:sp>
      <p:sp>
        <p:nvSpPr>
          <p:cNvPr id="10" name="Text 8"/>
          <p:cNvSpPr/>
          <p:nvPr/>
        </p:nvSpPr>
        <p:spPr>
          <a:xfrm>
            <a:off x="1063542" y="5239575"/>
            <a:ext cx="56805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Naciones Unidas y RCP LAC (2024)</a:t>
            </a:r>
            <a:endParaRPr lang="en-US" sz="1200" dirty="0"/>
          </a:p>
        </p:txBody>
      </p:sp>
      <p:pic>
        <p:nvPicPr>
          <p:cNvPr id="11" name="Image 0" descr="Tres círculos superpuestos: género, raza y etnia, y clase; en el centro, la experiencia única de la persona">    </p:cNvPr>
          <p:cNvPicPr>
            <a:picLocks noChangeAspect="1"/>
          </p:cNvPicPr>
          <p:nvPr/>
        </p:nvPicPr>
        <p:blipFill>
          <a:blip r:embed="rId1"/>
          <a:srcRect l="0" r="0" t="0" b="0"/>
          <a:stretch/>
        </p:blipFill>
        <p:spPr>
          <a:xfrm>
            <a:off x="7315150" y="1905000"/>
            <a:ext cx="4064000" cy="3810000"/>
          </a:xfrm>
          <a:prstGeom prst="rect">
            <a:avLst/>
          </a:prstGeom>
        </p:spPr>
      </p:pic>
      <p:sp>
        <p:nvSpPr>
          <p:cNvPr id="12" name="Text 9"/>
          <p:cNvSpPr/>
          <p:nvPr/>
        </p:nvSpPr>
        <p:spPr>
          <a:xfrm>
            <a:off x="8559750" y="2286000"/>
            <a:ext cx="1574800" cy="29205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FFFFF"/>
                </a:solidFill>
                <a:latin typeface="Source Sans 3" pitchFamily="34" charset="0"/>
                <a:ea typeface="Source Sans 3" pitchFamily="34" charset="-122"/>
                <a:cs typeface="Source Sans 3" pitchFamily="34" charset="-120"/>
              </a:rPr>
              <a:t>Género</a:t>
            </a:r>
            <a:endParaRPr lang="en-US" sz="1500" dirty="0"/>
          </a:p>
        </p:txBody>
      </p:sp>
      <p:sp>
        <p:nvSpPr>
          <p:cNvPr id="13" name="Text 10"/>
          <p:cNvSpPr/>
          <p:nvPr/>
        </p:nvSpPr>
        <p:spPr>
          <a:xfrm>
            <a:off x="7416750" y="4699000"/>
            <a:ext cx="1574800" cy="29205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A1A1A"/>
                </a:solidFill>
                <a:latin typeface="Source Sans 3" pitchFamily="34" charset="0"/>
                <a:ea typeface="Source Sans 3" pitchFamily="34" charset="-122"/>
                <a:cs typeface="Source Sans 3" pitchFamily="34" charset="-120"/>
              </a:rPr>
              <a:t>Raza y etnia</a:t>
            </a:r>
            <a:endParaRPr lang="en-US" sz="1500" dirty="0"/>
          </a:p>
        </p:txBody>
      </p:sp>
      <p:sp>
        <p:nvSpPr>
          <p:cNvPr id="14" name="Text 11"/>
          <p:cNvSpPr/>
          <p:nvPr/>
        </p:nvSpPr>
        <p:spPr>
          <a:xfrm>
            <a:off x="9702750" y="4699000"/>
            <a:ext cx="1574800" cy="29205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FFFFF"/>
                </a:solidFill>
                <a:latin typeface="Source Sans 3" pitchFamily="34" charset="0"/>
                <a:ea typeface="Source Sans 3" pitchFamily="34" charset="-122"/>
                <a:cs typeface="Source Sans 3" pitchFamily="34" charset="-120"/>
              </a:rPr>
              <a:t>Clase</a:t>
            </a:r>
            <a:endParaRPr lang="en-US" sz="1500" dirty="0"/>
          </a:p>
        </p:txBody>
      </p:sp>
      <p:sp>
        <p:nvSpPr>
          <p:cNvPr id="15" name="Text 12"/>
          <p:cNvSpPr/>
          <p:nvPr/>
        </p:nvSpPr>
        <p:spPr>
          <a:xfrm>
            <a:off x="7454933" y="6238292"/>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Hinestroza Cuesta · UTCH</a:t>
            </a:r>
            <a:endParaRPr lang="en-US" sz="12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767" y="819131"/>
            <a:ext cx="4826000" cy="5016500"/>
          </a:xfrm>
          <a:prstGeom prst="rect">
            <a:avLst/>
          </a:prstGeom>
          <a:solidFill>
            <a:srgbClr val="FFFFFF"/>
          </a:solidFill>
          <a:ln/>
        </p:spPr>
      </p:sp>
      <p:pic>
        <p:nvPicPr>
          <p:cNvPr id="3" name="Image 0" descr="Rueda de la interseccionalidad: ejes sociales que van del privilegio, arriba, a la opresión, abajo">    </p:cNvPr>
          <p:cNvPicPr>
            <a:picLocks noChangeAspect="1"/>
          </p:cNvPicPr>
          <p:nvPr/>
        </p:nvPicPr>
        <p:blipFill>
          <a:blip r:embed="rId1"/>
          <a:srcRect l="-381" r="-381" t="0" b="0"/>
          <a:stretch/>
        </p:blipFill>
        <p:spPr>
          <a:xfrm>
            <a:off x="819117" y="825481"/>
            <a:ext cx="4813300" cy="5003800"/>
          </a:xfrm>
          <a:prstGeom prst="rect">
            <a:avLst/>
          </a:prstGeom>
        </p:spPr>
      </p:pic>
      <p:sp>
        <p:nvSpPr>
          <p:cNvPr id="4" name="Shape 1"/>
          <p:cNvSpPr/>
          <p:nvPr/>
        </p:nvSpPr>
        <p:spPr>
          <a:xfrm>
            <a:off x="815942" y="822306"/>
            <a:ext cx="4819650" cy="5010150"/>
          </a:xfrm>
          <a:prstGeom prst="rect">
            <a:avLst/>
          </a:prstGeom>
          <a:noFill/>
          <a:ln w="6350">
            <a:solidFill>
              <a:srgbClr val="E3E6E4"/>
            </a:solidFill>
            <a:prstDash val="solid"/>
          </a:ln>
        </p:spPr>
      </p:sp>
      <p:sp>
        <p:nvSpPr>
          <p:cNvPr id="5" name="Text 2"/>
          <p:cNvSpPr/>
          <p:nvPr/>
        </p:nvSpPr>
        <p:spPr>
          <a:xfrm>
            <a:off x="6248301" y="1752699"/>
            <a:ext cx="52848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PATRICIA HILL COLLINS</a:t>
            </a:r>
            <a:endParaRPr lang="en-US" sz="1200" dirty="0"/>
          </a:p>
        </p:txBody>
      </p:sp>
      <p:sp>
        <p:nvSpPr>
          <p:cNvPr id="6" name="Text 3"/>
          <p:cNvSpPr/>
          <p:nvPr>
            <p:ph type="title"/>
          </p:nvPr>
        </p:nvSpPr>
        <p:spPr>
          <a:xfrm>
            <a:off x="6248301" y="2169170"/>
            <a:ext cx="5284860"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1A1A"/>
                </a:solidFill>
                <a:latin typeface="Source Sans 3" pitchFamily="34" charset="0"/>
                <a:ea typeface="Source Sans 3" pitchFamily="34" charset="-122"/>
                <a:cs typeface="Source Sans 3" pitchFamily="34" charset="-120"/>
              </a:rPr>
              <a:t>La rueda de la interseccionalidad</a:t>
            </a:r>
            <a:endParaRPr lang="en-US" sz="3200" dirty="0"/>
          </a:p>
        </p:txBody>
      </p:sp>
      <p:sp>
        <p:nvSpPr>
          <p:cNvPr id="7" name="Shape 4"/>
          <p:cNvSpPr/>
          <p:nvPr/>
        </p:nvSpPr>
        <p:spPr>
          <a:xfrm>
            <a:off x="6248301" y="3266281"/>
            <a:ext cx="762000" cy="50767"/>
          </a:xfrm>
          <a:prstGeom prst="rect">
            <a:avLst/>
          </a:prstGeom>
          <a:solidFill>
            <a:srgbClr val="FC8400"/>
          </a:solidFill>
          <a:ln/>
        </p:spPr>
      </p:sp>
      <p:sp>
        <p:nvSpPr>
          <p:cNvPr id="8" name="Text 5"/>
          <p:cNvSpPr/>
          <p:nvPr/>
        </p:nvSpPr>
        <p:spPr>
          <a:xfrm>
            <a:off x="6248301" y="3520194"/>
            <a:ext cx="5284860" cy="614759"/>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A1A1A"/>
                </a:solidFill>
                <a:latin typeface="Source Sans 3" pitchFamily="34" charset="0"/>
                <a:ea typeface="Source Sans 3" pitchFamily="34" charset="-122"/>
                <a:cs typeface="Source Sans 3" pitchFamily="34" charset="-120"/>
              </a:rPr>
              <a:t>Cada radio es un eje social. En un extremo, el </a:t>
            </a:r>
            <a:r>
              <a:rPr lang="en-US" sz="1600" b="1" dirty="0">
                <a:solidFill>
                  <a:srgbClr val="156082"/>
                </a:solidFill>
                <a:latin typeface="Source Sans 3" pitchFamily="34" charset="0"/>
                <a:ea typeface="Source Sans 3" pitchFamily="34" charset="-122"/>
                <a:cs typeface="Source Sans 3" pitchFamily="34" charset="-120"/>
              </a:rPr>
              <a:t>privilegio</a:t>
            </a:r>
            <a:r>
              <a:rPr lang="en-US" sz="1600" dirty="0">
                <a:solidFill>
                  <a:srgbClr val="1A1A1A"/>
                </a:solidFill>
                <a:latin typeface="Source Sans 3" pitchFamily="34" charset="0"/>
                <a:ea typeface="Source Sans 3" pitchFamily="34" charset="-122"/>
                <a:cs typeface="Source Sans 3" pitchFamily="34" charset="-120"/>
              </a:rPr>
              <a:t> y las normas sociales; en el otro, la </a:t>
            </a:r>
            <a:r>
              <a:rPr lang="en-US" sz="1600" b="1" dirty="0">
                <a:solidFill>
                  <a:srgbClr val="C8102E"/>
                </a:solidFill>
                <a:latin typeface="Source Sans 3" pitchFamily="34" charset="0"/>
                <a:ea typeface="Source Sans 3" pitchFamily="34" charset="-122"/>
                <a:cs typeface="Source Sans 3" pitchFamily="34" charset="-120"/>
              </a:rPr>
              <a:t>opresión</a:t>
            </a:r>
            <a:r>
              <a:rPr lang="en-US" sz="1600" dirty="0">
                <a:solidFill>
                  <a:srgbClr val="1A1A1A"/>
                </a:solidFill>
                <a:latin typeface="Source Sans 3" pitchFamily="34" charset="0"/>
                <a:ea typeface="Source Sans 3" pitchFamily="34" charset="-122"/>
                <a:cs typeface="Source Sans 3" pitchFamily="34" charset="-120"/>
              </a:rPr>
              <a:t>.</a:t>
            </a:r>
            <a:endParaRPr lang="en-US" sz="1600" dirty="0"/>
          </a:p>
        </p:txBody>
      </p:sp>
      <p:sp>
        <p:nvSpPr>
          <p:cNvPr id="9" name="Text 6"/>
          <p:cNvSpPr/>
          <p:nvPr/>
        </p:nvSpPr>
        <p:spPr>
          <a:xfrm>
            <a:off x="6248301" y="4312704"/>
            <a:ext cx="5284860" cy="614759"/>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A1A1A"/>
                </a:solidFill>
                <a:latin typeface="Source Sans 3" pitchFamily="34" charset="0"/>
                <a:ea typeface="Source Sans 3" pitchFamily="34" charset="-122"/>
                <a:cs typeface="Source Sans 3" pitchFamily="34" charset="-120"/>
              </a:rPr>
              <a:t>Una misma persona se ubica a la vez en muchos ejes: su posición no se explica por uno solo.</a:t>
            </a:r>
            <a:endParaRPr lang="en-US" sz="1600" dirty="0"/>
          </a:p>
        </p:txBody>
      </p:sp>
      <p:sp>
        <p:nvSpPr>
          <p:cNvPr id="10" name="Text 7"/>
          <p:cNvSpPr/>
          <p:nvPr/>
        </p:nvSpPr>
        <p:spPr>
          <a:xfrm>
            <a:off x="812767" y="6238292"/>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Fuente: rueda de la interseccionalidad de Patricia Hill Collins, tomada de la Universidad de Valencia</a:t>
            </a:r>
            <a:endParaRPr lang="en-US" sz="12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7" y="1892424"/>
            <a:ext cx="405511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ORIGEN DEL TÉRMINO</a:t>
            </a:r>
            <a:endParaRPr lang="en-US" sz="1200" dirty="0"/>
          </a:p>
        </p:txBody>
      </p:sp>
      <p:sp>
        <p:nvSpPr>
          <p:cNvPr id="3" name="Text 1"/>
          <p:cNvSpPr/>
          <p:nvPr/>
        </p:nvSpPr>
        <p:spPr>
          <a:xfrm>
            <a:off x="812767" y="2207282"/>
            <a:ext cx="4055110" cy="1422400"/>
          </a:xfrm>
          <a:prstGeom prst="rect">
            <a:avLst/>
          </a:prstGeom>
          <a:noFill/>
          <a:ln/>
        </p:spPr>
        <p:txBody>
          <a:bodyPr wrap="square" lIns="0" tIns="0" rIns="0" bIns="0" rtlCol="0" anchor="t">
            <a:normAutofit/>
          </a:bodyPr>
          <a:lstStyle/>
          <a:p>
            <a:pPr algn="l" indent="0" marL="0">
              <a:lnSpc>
                <a:spcPts val="11000"/>
              </a:lnSpc>
              <a:buNone/>
            </a:pPr>
            <a:r>
              <a:rPr lang="en-US" sz="11000" b="1" spc="-300" kern="0" dirty="0">
                <a:solidFill>
                  <a:srgbClr val="156082"/>
                </a:solidFill>
                <a:latin typeface="Source Sans 3" pitchFamily="34" charset="0"/>
                <a:ea typeface="Source Sans 3" pitchFamily="34" charset="-122"/>
                <a:cs typeface="Source Sans 3" pitchFamily="34" charset="-120"/>
              </a:rPr>
              <a:t>1989</a:t>
            </a:r>
            <a:endParaRPr lang="en-US" sz="11000" dirty="0"/>
          </a:p>
        </p:txBody>
      </p:sp>
      <p:sp>
        <p:nvSpPr>
          <p:cNvPr id="4" name="Shape 2"/>
          <p:cNvSpPr/>
          <p:nvPr/>
        </p:nvSpPr>
        <p:spPr>
          <a:xfrm>
            <a:off x="812767" y="3705820"/>
            <a:ext cx="762000" cy="50767"/>
          </a:xfrm>
          <a:prstGeom prst="rect">
            <a:avLst/>
          </a:prstGeom>
          <a:solidFill>
            <a:srgbClr val="FC8400"/>
          </a:solidFill>
          <a:ln/>
        </p:spPr>
      </p:sp>
      <p:sp>
        <p:nvSpPr>
          <p:cNvPr id="5" name="Text 3"/>
          <p:cNvSpPr/>
          <p:nvPr/>
        </p:nvSpPr>
        <p:spPr>
          <a:xfrm>
            <a:off x="812767" y="3858121"/>
            <a:ext cx="4055110" cy="59690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1A1A1A"/>
                </a:solidFill>
                <a:latin typeface="Source Sans 3" pitchFamily="34" charset="0"/>
                <a:ea typeface="Source Sans 3" pitchFamily="34" charset="-122"/>
                <a:cs typeface="Source Sans 3" pitchFamily="34" charset="-120"/>
              </a:rPr>
              <a:t>Kimberlé Crenshaw acuña la palabra «interseccionalidad»</a:t>
            </a:r>
            <a:endParaRPr lang="en-US" sz="1800" dirty="0"/>
          </a:p>
        </p:txBody>
      </p:sp>
      <p:sp>
        <p:nvSpPr>
          <p:cNvPr id="6" name="Text 4"/>
          <p:cNvSpPr/>
          <p:nvPr/>
        </p:nvSpPr>
        <p:spPr>
          <a:xfrm>
            <a:off x="812767" y="4531147"/>
            <a:ext cx="4055110" cy="2564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85757"/>
                </a:solidFill>
                <a:latin typeface="Source Sans 3" pitchFamily="34" charset="0"/>
                <a:ea typeface="Source Sans 3" pitchFamily="34" charset="-122"/>
                <a:cs typeface="Source Sans 3" pitchFamily="34" charset="-120"/>
              </a:rPr>
              <a:t>Profesora de Derecho, Universidad de Columbia</a:t>
            </a:r>
            <a:endParaRPr lang="en-US" sz="1300" dirty="0"/>
          </a:p>
        </p:txBody>
      </p:sp>
      <p:sp>
        <p:nvSpPr>
          <p:cNvPr id="7" name="Text 5"/>
          <p:cNvSpPr/>
          <p:nvPr/>
        </p:nvSpPr>
        <p:spPr>
          <a:xfrm>
            <a:off x="5359301" y="1869281"/>
            <a:ext cx="6200530" cy="1204119"/>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A1A1A"/>
                </a:solidFill>
                <a:latin typeface="Source Sans 3" pitchFamily="34" charset="0"/>
                <a:ea typeface="Source Sans 3" pitchFamily="34" charset="-122"/>
                <a:cs typeface="Source Sans 3" pitchFamily="34" charset="-120"/>
              </a:rPr>
              <a:t>Lo hace al analizar el caso </a:t>
            </a:r>
            <a:r>
              <a:rPr lang="en-US" sz="1600" b="1" dirty="0">
                <a:solidFill>
                  <a:srgbClr val="1A1A1A"/>
                </a:solidFill>
                <a:latin typeface="Source Sans 3" pitchFamily="34" charset="0"/>
                <a:ea typeface="Source Sans 3" pitchFamily="34" charset="-122"/>
                <a:cs typeface="Source Sans 3" pitchFamily="34" charset="-120"/>
              </a:rPr>
              <a:t>DeGraffenreid c. General Motors</a:t>
            </a:r>
            <a:r>
              <a:rPr lang="en-US" sz="1600" dirty="0">
                <a:solidFill>
                  <a:srgbClr val="1A1A1A"/>
                </a:solidFill>
                <a:latin typeface="Source Sans 3" pitchFamily="34" charset="0"/>
                <a:ea typeface="Source Sans 3" pitchFamily="34" charset="-122"/>
                <a:cs typeface="Source Sans 3" pitchFamily="34" charset="-120"/>
              </a:rPr>
              <a:t>: cinco mujeres afroamericanas alegaron que el sistema de despidos por antigüedad, aunque formulado en términos neutrales, perpetuaba la discriminación.</a:t>
            </a:r>
            <a:endParaRPr lang="en-US" sz="1600" dirty="0"/>
          </a:p>
        </p:txBody>
      </p:sp>
      <p:sp>
        <p:nvSpPr>
          <p:cNvPr id="8" name="Text 6"/>
          <p:cNvSpPr/>
          <p:nvPr/>
        </p:nvSpPr>
        <p:spPr>
          <a:xfrm>
            <a:off x="5359301" y="3251150"/>
            <a:ext cx="6019932" cy="1534253"/>
          </a:xfrm>
          <a:prstGeom prst="rect">
            <a:avLst/>
          </a:prstGeom>
          <a:solidFill>
            <a:srgbClr val="F3F3F3"/>
          </a:solidFill>
          <a:ln/>
        </p:spPr>
        <p:txBody>
          <a:bodyPr wrap="square" lIns="250825" tIns="177800" rIns="36223" bIns="152400" rtlCol="0" anchor="t">
            <a:normAutofit/>
          </a:bodyPr>
          <a:lstStyle/>
          <a:p>
            <a:pPr algn="l" indent="0" marL="0">
              <a:lnSpc>
                <a:spcPts val="2320"/>
              </a:lnSpc>
              <a:buNone/>
            </a:pPr>
            <a:r>
              <a:rPr lang="en-US" sz="1600" dirty="0">
                <a:solidFill>
                  <a:srgbClr val="1A1A1A"/>
                </a:solidFill>
                <a:latin typeface="Source Sans 3" pitchFamily="34" charset="0"/>
                <a:ea typeface="Source Sans 3" pitchFamily="34" charset="-122"/>
                <a:cs typeface="Source Sans 3" pitchFamily="34" charset="-120"/>
              </a:rPr>
              <a:t>Al proteger solo a los miembros más privilegiados de cada categoría —hombres negros y mujeres blancas— el derecho dejó </a:t>
            </a:r>
            <a:r>
              <a:rPr lang="en-US" sz="1600" b="1" dirty="0">
                <a:solidFill>
                  <a:srgbClr val="1A1A1A"/>
                </a:solidFill>
                <a:latin typeface="Source Sans 3" pitchFamily="34" charset="0"/>
                <a:ea typeface="Source Sans 3" pitchFamily="34" charset="-122"/>
                <a:cs typeface="Source Sans 3" pitchFamily="34" charset="-120"/>
              </a:rPr>
              <a:t>totalmente invisibles a las mujeres negras</a:t>
            </a:r>
            <a:r>
              <a:rPr lang="en-US" sz="1600" dirty="0">
                <a:solidFill>
                  <a:srgbClr val="1A1A1A"/>
                </a:solidFill>
                <a:latin typeface="Source Sans 3" pitchFamily="34" charset="0"/>
                <a:ea typeface="Source Sans 3" pitchFamily="34" charset="-122"/>
                <a:cs typeface="Source Sans 3" pitchFamily="34" charset="-120"/>
              </a:rPr>
              <a:t> frente a las políticas antisexistas y antirracistas.</a:t>
            </a:r>
            <a:endParaRPr lang="en-US" sz="1600" dirty="0"/>
          </a:p>
        </p:txBody>
      </p:sp>
      <p:sp>
        <p:nvSpPr>
          <p:cNvPr id="9" name="Shape 7"/>
          <p:cNvSpPr/>
          <p:nvPr/>
        </p:nvSpPr>
        <p:spPr>
          <a:xfrm>
            <a:off x="5384701" y="3251150"/>
            <a:ext cx="0" cy="1534253"/>
          </a:xfrm>
          <a:prstGeom prst="line">
            <a:avLst/>
          </a:prstGeom>
          <a:noFill/>
          <a:ln w="50800">
            <a:solidFill>
              <a:srgbClr val="C8102E"/>
            </a:solidFill>
            <a:prstDash val="solid"/>
          </a:ln>
        </p:spPr>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DEGRAFFENREID C. GENERAL MOTORS</a:t>
            </a:r>
            <a:endParaRPr lang="en-US" sz="1200" dirty="0"/>
          </a:p>
        </p:txBody>
      </p:sp>
      <p:sp>
        <p:nvSpPr>
          <p:cNvPr id="3" name="Text 1"/>
          <p:cNvSpPr/>
          <p:nvPr>
            <p:ph type="title"/>
          </p:nvPr>
        </p:nvSpPr>
        <p:spPr>
          <a:xfrm>
            <a:off x="812767" y="112762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1A1A"/>
                </a:solidFill>
                <a:latin typeface="Source Sans 3" pitchFamily="34" charset="0"/>
                <a:ea typeface="Source Sans 3" pitchFamily="34" charset="-122"/>
                <a:cs typeface="Source Sans 3" pitchFamily="34" charset="-120"/>
              </a:rPr>
              <a:t>¿Qué pasó?</a:t>
            </a:r>
            <a:endParaRPr lang="en-US" sz="3200" dirty="0"/>
          </a:p>
        </p:txBody>
      </p:sp>
      <p:sp>
        <p:nvSpPr>
          <p:cNvPr id="4" name="Shape 2"/>
          <p:cNvSpPr/>
          <p:nvPr/>
        </p:nvSpPr>
        <p:spPr>
          <a:xfrm>
            <a:off x="812767" y="1676127"/>
            <a:ext cx="762000" cy="50767"/>
          </a:xfrm>
          <a:prstGeom prst="rect">
            <a:avLst/>
          </a:prstGeom>
          <a:solidFill>
            <a:srgbClr val="FC8400"/>
          </a:solidFill>
          <a:ln/>
        </p:spPr>
      </p:sp>
      <p:sp>
        <p:nvSpPr>
          <p:cNvPr id="5" name="Shape 3"/>
          <p:cNvSpPr/>
          <p:nvPr/>
        </p:nvSpPr>
        <p:spPr>
          <a:xfrm>
            <a:off x="812767" y="2870150"/>
            <a:ext cx="10566383" cy="38034"/>
          </a:xfrm>
          <a:prstGeom prst="rect">
            <a:avLst/>
          </a:prstGeom>
          <a:solidFill>
            <a:srgbClr val="C9CFD2"/>
          </a:solidFill>
          <a:ln/>
        </p:spPr>
      </p:sp>
      <p:sp>
        <p:nvSpPr>
          <p:cNvPr id="6" name="Shape 4"/>
          <p:cNvSpPr/>
          <p:nvPr/>
        </p:nvSpPr>
        <p:spPr>
          <a:xfrm>
            <a:off x="812767" y="2743150"/>
            <a:ext cx="292034" cy="292034"/>
          </a:xfrm>
          <a:prstGeom prst="roundRect">
            <a:avLst>
              <a:gd name="adj" fmla="val 50000"/>
            </a:avLst>
          </a:prstGeom>
          <a:solidFill>
            <a:srgbClr val="156082"/>
          </a:solidFill>
          <a:ln/>
        </p:spPr>
      </p:sp>
      <p:sp>
        <p:nvSpPr>
          <p:cNvPr id="7" name="Text 5"/>
          <p:cNvSpPr/>
          <p:nvPr/>
        </p:nvSpPr>
        <p:spPr>
          <a:xfrm>
            <a:off x="812767" y="3238500"/>
            <a:ext cx="248539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56082"/>
                </a:solidFill>
                <a:latin typeface="Source Sans 3" pitchFamily="34" charset="0"/>
                <a:ea typeface="Source Sans 3" pitchFamily="34" charset="-122"/>
                <a:cs typeface="Source Sans 3" pitchFamily="34" charset="-120"/>
              </a:rPr>
              <a:t>1964</a:t>
            </a:r>
            <a:endParaRPr lang="en-US" sz="2400" dirty="0"/>
          </a:p>
        </p:txBody>
      </p:sp>
      <p:sp>
        <p:nvSpPr>
          <p:cNvPr id="8" name="Text 6"/>
          <p:cNvSpPr/>
          <p:nvPr/>
        </p:nvSpPr>
        <p:spPr>
          <a:xfrm>
            <a:off x="812767" y="3741291"/>
            <a:ext cx="2485390" cy="126976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Source Sans 3" pitchFamily="34" charset="0"/>
                <a:ea typeface="Source Sans 3" pitchFamily="34" charset="-122"/>
                <a:cs typeface="Source Sans 3" pitchFamily="34" charset="-120"/>
              </a:rPr>
              <a:t>La Ley de Derechos Civiles prohíbe la discriminación. Solo entonces General Motors empieza a contratar mujeres negras.</a:t>
            </a:r>
            <a:endParaRPr lang="en-US" sz="1400" dirty="0"/>
          </a:p>
        </p:txBody>
      </p:sp>
      <p:sp>
        <p:nvSpPr>
          <p:cNvPr id="9" name="Shape 7"/>
          <p:cNvSpPr/>
          <p:nvPr/>
        </p:nvSpPr>
        <p:spPr>
          <a:xfrm>
            <a:off x="3530534" y="2743150"/>
            <a:ext cx="292034" cy="292034"/>
          </a:xfrm>
          <a:prstGeom prst="roundRect">
            <a:avLst>
              <a:gd name="adj" fmla="val 50000"/>
            </a:avLst>
          </a:prstGeom>
          <a:solidFill>
            <a:srgbClr val="156082"/>
          </a:solidFill>
          <a:ln/>
        </p:spPr>
      </p:sp>
      <p:sp>
        <p:nvSpPr>
          <p:cNvPr id="10" name="Text 8"/>
          <p:cNvSpPr/>
          <p:nvPr/>
        </p:nvSpPr>
        <p:spPr>
          <a:xfrm>
            <a:off x="3530534" y="3238500"/>
            <a:ext cx="248539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56082"/>
                </a:solidFill>
                <a:latin typeface="Source Sans 3" pitchFamily="34" charset="0"/>
                <a:ea typeface="Source Sans 3" pitchFamily="34" charset="-122"/>
                <a:cs typeface="Source Sans 3" pitchFamily="34" charset="-120"/>
              </a:rPr>
              <a:t>Años 70</a:t>
            </a:r>
            <a:endParaRPr lang="en-US" sz="2400" dirty="0"/>
          </a:p>
        </p:txBody>
      </p:sp>
      <p:sp>
        <p:nvSpPr>
          <p:cNvPr id="11" name="Text 9"/>
          <p:cNvSpPr/>
          <p:nvPr/>
        </p:nvSpPr>
        <p:spPr>
          <a:xfrm>
            <a:off x="3530534" y="3741291"/>
            <a:ext cx="2485390" cy="77202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Source Sans 3" pitchFamily="34" charset="0"/>
                <a:ea typeface="Source Sans 3" pitchFamily="34" charset="-122"/>
                <a:cs typeface="Source Sans 3" pitchFamily="34" charset="-120"/>
              </a:rPr>
              <a:t>Crisis económica: despidos con el criterio «último contratado, primer despedido».</a:t>
            </a:r>
            <a:endParaRPr lang="en-US" sz="1400" dirty="0"/>
          </a:p>
        </p:txBody>
      </p:sp>
      <p:sp>
        <p:nvSpPr>
          <p:cNvPr id="12" name="Shape 10"/>
          <p:cNvSpPr/>
          <p:nvPr/>
        </p:nvSpPr>
        <p:spPr>
          <a:xfrm>
            <a:off x="6248383" y="2743150"/>
            <a:ext cx="292034" cy="292034"/>
          </a:xfrm>
          <a:prstGeom prst="roundRect">
            <a:avLst>
              <a:gd name="adj" fmla="val 50000"/>
            </a:avLst>
          </a:prstGeom>
          <a:solidFill>
            <a:srgbClr val="FC8400"/>
          </a:solidFill>
          <a:ln/>
        </p:spPr>
      </p:sp>
      <p:sp>
        <p:nvSpPr>
          <p:cNvPr id="13" name="Text 11"/>
          <p:cNvSpPr/>
          <p:nvPr/>
        </p:nvSpPr>
        <p:spPr>
          <a:xfrm>
            <a:off x="6248383" y="3238500"/>
            <a:ext cx="248539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56082"/>
                </a:solidFill>
                <a:latin typeface="Source Sans 3" pitchFamily="34" charset="0"/>
                <a:ea typeface="Source Sans 3" pitchFamily="34" charset="-122"/>
                <a:cs typeface="Source Sans 3" pitchFamily="34" charset="-120"/>
              </a:rPr>
              <a:t>1976</a:t>
            </a:r>
            <a:endParaRPr lang="en-US" sz="2400" dirty="0"/>
          </a:p>
        </p:txBody>
      </p:sp>
      <p:sp>
        <p:nvSpPr>
          <p:cNvPr id="14" name="Text 12"/>
          <p:cNvSpPr/>
          <p:nvPr/>
        </p:nvSpPr>
        <p:spPr>
          <a:xfrm>
            <a:off x="6248383" y="3741291"/>
            <a:ext cx="2485390" cy="102089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Source Sans 3" pitchFamily="34" charset="0"/>
                <a:ea typeface="Source Sans 3" pitchFamily="34" charset="-122"/>
                <a:cs typeface="Source Sans 3" pitchFamily="34" charset="-120"/>
              </a:rPr>
              <a:t>Emma DeGraffenreid y otras cuatro trabajadoras negras de St. Louis demandan a la empresa.</a:t>
            </a:r>
            <a:endParaRPr lang="en-US" sz="1400" dirty="0"/>
          </a:p>
        </p:txBody>
      </p:sp>
      <p:sp>
        <p:nvSpPr>
          <p:cNvPr id="15" name="Shape 13"/>
          <p:cNvSpPr/>
          <p:nvPr/>
        </p:nvSpPr>
        <p:spPr>
          <a:xfrm>
            <a:off x="8966150" y="2743150"/>
            <a:ext cx="292034" cy="292034"/>
          </a:xfrm>
          <a:prstGeom prst="roundRect">
            <a:avLst>
              <a:gd name="adj" fmla="val 50000"/>
            </a:avLst>
          </a:prstGeom>
          <a:solidFill>
            <a:srgbClr val="C8102E"/>
          </a:solidFill>
          <a:ln/>
        </p:spPr>
      </p:sp>
      <p:sp>
        <p:nvSpPr>
          <p:cNvPr id="16" name="Text 14"/>
          <p:cNvSpPr/>
          <p:nvPr/>
        </p:nvSpPr>
        <p:spPr>
          <a:xfrm>
            <a:off x="8966150" y="3238500"/>
            <a:ext cx="248539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C8102E"/>
                </a:solidFill>
                <a:latin typeface="Source Sans 3" pitchFamily="34" charset="0"/>
                <a:ea typeface="Source Sans 3" pitchFamily="34" charset="-122"/>
                <a:cs typeface="Source Sans 3" pitchFamily="34" charset="-120"/>
              </a:rPr>
              <a:t>Fallo</a:t>
            </a:r>
            <a:endParaRPr lang="en-US" sz="2400" dirty="0"/>
          </a:p>
        </p:txBody>
      </p:sp>
      <p:sp>
        <p:nvSpPr>
          <p:cNvPr id="17" name="Text 15"/>
          <p:cNvSpPr/>
          <p:nvPr/>
        </p:nvSpPr>
        <p:spPr>
          <a:xfrm>
            <a:off x="8966150" y="3741291"/>
            <a:ext cx="2485390" cy="52314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Source Sans 3" pitchFamily="34" charset="0"/>
                <a:ea typeface="Source Sans 3" pitchFamily="34" charset="-122"/>
                <a:cs typeface="Source Sans 3" pitchFamily="34" charset="-120"/>
              </a:rPr>
              <a:t>La demanda es rechazada «por carecer de fundamento legal».</a:t>
            </a:r>
            <a:endParaRPr lang="en-US" sz="1400" dirty="0"/>
          </a:p>
        </p:txBody>
      </p:sp>
      <p:sp>
        <p:nvSpPr>
          <p:cNvPr id="18" name="Text 16"/>
          <p:cNvSpPr/>
          <p:nvPr/>
        </p:nvSpPr>
        <p:spPr>
          <a:xfrm>
            <a:off x="812767" y="6238292"/>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Fuente: elfeminismo.com</a:t>
            </a:r>
            <a:endParaRPr lang="en-US" sz="1200" dirty="0"/>
          </a:p>
        </p:txBody>
      </p:sp>
      <p:sp>
        <p:nvSpPr>
          <p:cNvPr id="19" name="Text 17"/>
          <p:cNvSpPr/>
          <p:nvPr/>
        </p:nvSpPr>
        <p:spPr>
          <a:xfrm>
            <a:off x="7454933" y="6238292"/>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Hinestroza Cuesta · UTCH</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7" presetID="42" presetClass="entr" presetSubtype="0" fill="hold" grpId="0"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600"/>
                                        <p:tgtEl>
                                          <p:spTgt spid="6"/>
                                        </p:tgtEl>
                                      </p:cBhvr>
                                    </p:animEffect>
                                    <p:anim calcmode="lin" valueType="num">
                                      <p:cBhvr>
                                        <p:cTn id="5" dur="600" decel="100000" fill="hold"/>
                                        <p:tgtEl>
                                          <p:spTgt spid="6"/>
                                        </p:tgtEl>
                                        <p:attrNameLst>
                                          <p:attrName>ppt_x</p:attrName>
                                        </p:attrNameLst>
                                      </p:cBhvr>
                                      <p:tavLst>
                                        <p:tav tm="0">
                                          <p:val>
                                            <p:strVal val="#ppt_x"/>
                                          </p:val>
                                        </p:tav>
                                        <p:tav tm="100000">
                                          <p:val>
                                            <p:strVal val="#ppt_x"/>
                                          </p:val>
                                        </p:tav>
                                      </p:tavLst>
                                    </p:anim>
                                    <p:anim calcmode="lin" valueType="num">
                                      <p:cBhvr>
                                        <p:cTn id="6" dur="600" decel="100000" fill="hold"/>
                                        <p:tgtEl>
                                          <p:spTgt spid="6"/>
                                        </p:tgtEl>
                                        <p:attrNameLst>
                                          <p:attrName>ppt_y</p:attrName>
                                        </p:attrNameLst>
                                      </p:cBhvr>
                                      <p:tavLst>
                                        <p:tav tm="0">
                                          <p:val>
                                            <p:strVal val="#ppt_y+.06"/>
                                          </p:val>
                                        </p:tav>
                                        <p:tav tm="100000">
                                          <p:val>
                                            <p:strVal val="#ppt_y"/>
                                          </p:val>
                                        </p:tav>
                                      </p:tavLst>
                                    </p:anim>
                                  </p:childTnLst>
                                </p:cTn>
                              </p:par>
                              <p:par>
                                <p:cTn id="12" presetID="42"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600"/>
                                        <p:tgtEl>
                                          <p:spTgt spid="7"/>
                                        </p:tgtEl>
                                      </p:cBhvr>
                                    </p:animEffect>
                                    <p:anim calcmode="lin" valueType="num">
                                      <p:cBhvr>
                                        <p:cTn id="10" dur="600" decel="100000" fill="hold"/>
                                        <p:tgtEl>
                                          <p:spTgt spid="7"/>
                                        </p:tgtEl>
                                        <p:attrNameLst>
                                          <p:attrName>ppt_x</p:attrName>
                                        </p:attrNameLst>
                                      </p:cBhvr>
                                      <p:tavLst>
                                        <p:tav tm="0">
                                          <p:val>
                                            <p:strVal val="#ppt_x"/>
                                          </p:val>
                                        </p:tav>
                                        <p:tav tm="100000">
                                          <p:val>
                                            <p:strVal val="#ppt_x"/>
                                          </p:val>
                                        </p:tav>
                                      </p:tavLst>
                                    </p:anim>
                                    <p:anim calcmode="lin" valueType="num">
                                      <p:cBhvr>
                                        <p:cTn id="11" dur="600" decel="100000" fill="hold"/>
                                        <p:tgtEl>
                                          <p:spTgt spid="7"/>
                                        </p:tgtEl>
                                        <p:attrNameLst>
                                          <p:attrName>ppt_y</p:attrName>
                                        </p:attrNameLst>
                                      </p:cBhvr>
                                      <p:tavLst>
                                        <p:tav tm="0">
                                          <p:val>
                                            <p:strVal val="#ppt_y+.06"/>
                                          </p:val>
                                        </p:tav>
                                        <p:tav tm="100000">
                                          <p:val>
                                            <p:strVal val="#ppt_y"/>
                                          </p:val>
                                        </p:tav>
                                      </p:tavLst>
                                    </p:anim>
                                  </p:childTnLst>
                                </p:cTn>
                              </p:par>
                              <p:par>
                                <p:cTn id="17" presetID="42"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600"/>
                                        <p:tgtEl>
                                          <p:spTgt spid="8"/>
                                        </p:tgtEl>
                                      </p:cBhvr>
                                    </p:animEffect>
                                    <p:anim calcmode="lin" valueType="num">
                                      <p:cBhvr>
                                        <p:cTn id="15" dur="600" decel="100000" fill="hold"/>
                                        <p:tgtEl>
                                          <p:spTgt spid="8"/>
                                        </p:tgtEl>
                                        <p:attrNameLst>
                                          <p:attrName>ppt_x</p:attrName>
                                        </p:attrNameLst>
                                      </p:cBhvr>
                                      <p:tavLst>
                                        <p:tav tm="0">
                                          <p:val>
                                            <p:strVal val="#ppt_x"/>
                                          </p:val>
                                        </p:tav>
                                        <p:tav tm="100000">
                                          <p:val>
                                            <p:strVal val="#ppt_x"/>
                                          </p:val>
                                        </p:tav>
                                      </p:tavLst>
                                    </p:anim>
                                    <p:anim calcmode="lin" valueType="num">
                                      <p:cBhvr>
                                        <p:cTn id="16" dur="600" decel="100000" fill="hold"/>
                                        <p:tgtEl>
                                          <p:spTgt spid="8"/>
                                        </p:tgtEl>
                                        <p:attrNameLst>
                                          <p:attrName>ppt_y</p:attrName>
                                        </p:attrNameLst>
                                      </p:cBhvr>
                                      <p:tavLst>
                                        <p:tav tm="0">
                                          <p:val>
                                            <p:strVal val="#ppt_y+.06"/>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24"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600"/>
                                        <p:tgtEl>
                                          <p:spTgt spid="9"/>
                                        </p:tgtEl>
                                      </p:cBhvr>
                                    </p:animEffect>
                                    <p:anim calcmode="lin" valueType="num">
                                      <p:cBhvr>
                                        <p:cTn id="22" dur="600" decel="100000" fill="hold"/>
                                        <p:tgtEl>
                                          <p:spTgt spid="9"/>
                                        </p:tgtEl>
                                        <p:attrNameLst>
                                          <p:attrName>ppt_x</p:attrName>
                                        </p:attrNameLst>
                                      </p:cBhvr>
                                      <p:tavLst>
                                        <p:tav tm="0">
                                          <p:val>
                                            <p:strVal val="#ppt_x"/>
                                          </p:val>
                                        </p:tav>
                                        <p:tav tm="100000">
                                          <p:val>
                                            <p:strVal val="#ppt_x"/>
                                          </p:val>
                                        </p:tav>
                                      </p:tavLst>
                                    </p:anim>
                                    <p:anim calcmode="lin" valueType="num">
                                      <p:cBhvr>
                                        <p:cTn id="23" dur="600" decel="100000" fill="hold"/>
                                        <p:tgtEl>
                                          <p:spTgt spid="9"/>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600"/>
                                        <p:tgtEl>
                                          <p:spTgt spid="10"/>
                                        </p:tgtEl>
                                      </p:cBhvr>
                                    </p:animEffect>
                                    <p:anim calcmode="lin" valueType="num">
                                      <p:cBhvr>
                                        <p:cTn id="27" dur="600" decel="100000" fill="hold"/>
                                        <p:tgtEl>
                                          <p:spTgt spid="10"/>
                                        </p:tgtEl>
                                        <p:attrNameLst>
                                          <p:attrName>ppt_x</p:attrName>
                                        </p:attrNameLst>
                                      </p:cBhvr>
                                      <p:tavLst>
                                        <p:tav tm="0">
                                          <p:val>
                                            <p:strVal val="#ppt_x"/>
                                          </p:val>
                                        </p:tav>
                                        <p:tav tm="100000">
                                          <p:val>
                                            <p:strVal val="#ppt_x"/>
                                          </p:val>
                                        </p:tav>
                                      </p:tavLst>
                                    </p:anim>
                                    <p:anim calcmode="lin" valueType="num">
                                      <p:cBhvr>
                                        <p:cTn id="28" dur="600" decel="100000" fill="hold"/>
                                        <p:tgtEl>
                                          <p:spTgt spid="10"/>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600"/>
                                        <p:tgtEl>
                                          <p:spTgt spid="11"/>
                                        </p:tgtEl>
                                      </p:cBhvr>
                                    </p:animEffect>
                                    <p:anim calcmode="lin" valueType="num">
                                      <p:cBhvr>
                                        <p:cTn id="32" dur="600" decel="100000" fill="hold"/>
                                        <p:tgtEl>
                                          <p:spTgt spid="11"/>
                                        </p:tgtEl>
                                        <p:attrNameLst>
                                          <p:attrName>ppt_x</p:attrName>
                                        </p:attrNameLst>
                                      </p:cBhvr>
                                      <p:tavLst>
                                        <p:tav tm="0">
                                          <p:val>
                                            <p:strVal val="#ppt_x"/>
                                          </p:val>
                                        </p:tav>
                                        <p:tav tm="100000">
                                          <p:val>
                                            <p:strVal val="#ppt_x"/>
                                          </p:val>
                                        </p:tav>
                                      </p:tavLst>
                                    </p:anim>
                                    <p:anim calcmode="lin" valueType="num">
                                      <p:cBhvr>
                                        <p:cTn id="33" dur="600" decel="100000" fill="hold"/>
                                        <p:tgtEl>
                                          <p:spTgt spid="11"/>
                                        </p:tgtEl>
                                        <p:attrNameLst>
                                          <p:attrName>ppt_y</p:attrName>
                                        </p:attrNameLst>
                                      </p:cBhvr>
                                      <p:tavLst>
                                        <p:tav tm="0">
                                          <p:val>
                                            <p:strVal val="#ppt_y+.06"/>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41" presetID="42"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600"/>
                                        <p:tgtEl>
                                          <p:spTgt spid="12"/>
                                        </p:tgtEl>
                                      </p:cBhvr>
                                    </p:animEffect>
                                    <p:anim calcmode="lin" valueType="num">
                                      <p:cBhvr>
                                        <p:cTn id="39" dur="600" decel="100000" fill="hold"/>
                                        <p:tgtEl>
                                          <p:spTgt spid="12"/>
                                        </p:tgtEl>
                                        <p:attrNameLst>
                                          <p:attrName>ppt_x</p:attrName>
                                        </p:attrNameLst>
                                      </p:cBhvr>
                                      <p:tavLst>
                                        <p:tav tm="0">
                                          <p:val>
                                            <p:strVal val="#ppt_x"/>
                                          </p:val>
                                        </p:tav>
                                        <p:tav tm="100000">
                                          <p:val>
                                            <p:strVal val="#ppt_x"/>
                                          </p:val>
                                        </p:tav>
                                      </p:tavLst>
                                    </p:anim>
                                    <p:anim calcmode="lin" valueType="num">
                                      <p:cBhvr>
                                        <p:cTn id="40" dur="600" decel="100000" fill="hold"/>
                                        <p:tgtEl>
                                          <p:spTgt spid="12"/>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600"/>
                                        <p:tgtEl>
                                          <p:spTgt spid="13"/>
                                        </p:tgtEl>
                                      </p:cBhvr>
                                    </p:animEffect>
                                    <p:anim calcmode="lin" valueType="num">
                                      <p:cBhvr>
                                        <p:cTn id="44" dur="600" decel="100000" fill="hold"/>
                                        <p:tgtEl>
                                          <p:spTgt spid="13"/>
                                        </p:tgtEl>
                                        <p:attrNameLst>
                                          <p:attrName>ppt_x</p:attrName>
                                        </p:attrNameLst>
                                      </p:cBhvr>
                                      <p:tavLst>
                                        <p:tav tm="0">
                                          <p:val>
                                            <p:strVal val="#ppt_x"/>
                                          </p:val>
                                        </p:tav>
                                        <p:tav tm="100000">
                                          <p:val>
                                            <p:strVal val="#ppt_x"/>
                                          </p:val>
                                        </p:tav>
                                      </p:tavLst>
                                    </p:anim>
                                    <p:anim calcmode="lin" valueType="num">
                                      <p:cBhvr>
                                        <p:cTn id="45" dur="600" decel="100000" fill="hold"/>
                                        <p:tgtEl>
                                          <p:spTgt spid="13"/>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600"/>
                                        <p:tgtEl>
                                          <p:spTgt spid="14"/>
                                        </p:tgtEl>
                                      </p:cBhvr>
                                    </p:animEffect>
                                    <p:anim calcmode="lin" valueType="num">
                                      <p:cBhvr>
                                        <p:cTn id="49" dur="600" decel="100000" fill="hold"/>
                                        <p:tgtEl>
                                          <p:spTgt spid="14"/>
                                        </p:tgtEl>
                                        <p:attrNameLst>
                                          <p:attrName>ppt_x</p:attrName>
                                        </p:attrNameLst>
                                      </p:cBhvr>
                                      <p:tavLst>
                                        <p:tav tm="0">
                                          <p:val>
                                            <p:strVal val="#ppt_x"/>
                                          </p:val>
                                        </p:tav>
                                        <p:tav tm="100000">
                                          <p:val>
                                            <p:strVal val="#ppt_x"/>
                                          </p:val>
                                        </p:tav>
                                      </p:tavLst>
                                    </p:anim>
                                    <p:anim calcmode="lin" valueType="num">
                                      <p:cBhvr>
                                        <p:cTn id="50" dur="600" decel="100000" fill="hold"/>
                                        <p:tgtEl>
                                          <p:spTgt spid="14"/>
                                        </p:tgtEl>
                                        <p:attrNameLst>
                                          <p:attrName>ppt_y</p:attrName>
                                        </p:attrNameLst>
                                      </p:cBhvr>
                                      <p:tavLst>
                                        <p:tav tm="0">
                                          <p:val>
                                            <p:strVal val="#ppt_y+.06"/>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58" presetID="42"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600"/>
                                        <p:tgtEl>
                                          <p:spTgt spid="15"/>
                                        </p:tgtEl>
                                      </p:cBhvr>
                                    </p:animEffect>
                                    <p:anim calcmode="lin" valueType="num">
                                      <p:cBhvr>
                                        <p:cTn id="56" dur="600" decel="100000" fill="hold"/>
                                        <p:tgtEl>
                                          <p:spTgt spid="15"/>
                                        </p:tgtEl>
                                        <p:attrNameLst>
                                          <p:attrName>ppt_x</p:attrName>
                                        </p:attrNameLst>
                                      </p:cBhvr>
                                      <p:tavLst>
                                        <p:tav tm="0">
                                          <p:val>
                                            <p:strVal val="#ppt_x"/>
                                          </p:val>
                                        </p:tav>
                                        <p:tav tm="100000">
                                          <p:val>
                                            <p:strVal val="#ppt_x"/>
                                          </p:val>
                                        </p:tav>
                                      </p:tavLst>
                                    </p:anim>
                                    <p:anim calcmode="lin" valueType="num">
                                      <p:cBhvr>
                                        <p:cTn id="57" dur="600" decel="100000" fill="hold"/>
                                        <p:tgtEl>
                                          <p:spTgt spid="15"/>
                                        </p:tgtEl>
                                        <p:attrNameLst>
                                          <p:attrName>ppt_y</p:attrName>
                                        </p:attrNameLst>
                                      </p:cBhvr>
                                      <p:tavLst>
                                        <p:tav tm="0">
                                          <p:val>
                                            <p:strVal val="#ppt_y+.06"/>
                                          </p:val>
                                        </p:tav>
                                        <p:tav tm="100000">
                                          <p:val>
                                            <p:strVal val="#ppt_y"/>
                                          </p:val>
                                        </p:tav>
                                      </p:tavLst>
                                    </p:anim>
                                  </p:childTnLst>
                                </p:cTn>
                              </p:par>
                              <p:par>
                                <p:cTn id="63" presetID="42" presetClass="entr" presetSubtype="0" fill="hold" grpId="0" nodeType="with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600"/>
                                        <p:tgtEl>
                                          <p:spTgt spid="16"/>
                                        </p:tgtEl>
                                      </p:cBhvr>
                                    </p:animEffect>
                                    <p:anim calcmode="lin" valueType="num">
                                      <p:cBhvr>
                                        <p:cTn id="61" dur="600" decel="100000" fill="hold"/>
                                        <p:tgtEl>
                                          <p:spTgt spid="16"/>
                                        </p:tgtEl>
                                        <p:attrNameLst>
                                          <p:attrName>ppt_x</p:attrName>
                                        </p:attrNameLst>
                                      </p:cBhvr>
                                      <p:tavLst>
                                        <p:tav tm="0">
                                          <p:val>
                                            <p:strVal val="#ppt_x"/>
                                          </p:val>
                                        </p:tav>
                                        <p:tav tm="100000">
                                          <p:val>
                                            <p:strVal val="#ppt_x"/>
                                          </p:val>
                                        </p:tav>
                                      </p:tavLst>
                                    </p:anim>
                                    <p:anim calcmode="lin" valueType="num">
                                      <p:cBhvr>
                                        <p:cTn id="62" dur="600" decel="100000" fill="hold"/>
                                        <p:tgtEl>
                                          <p:spTgt spid="16"/>
                                        </p:tgtEl>
                                        <p:attrNameLst>
                                          <p:attrName>ppt_y</p:attrName>
                                        </p:attrNameLst>
                                      </p:cBhvr>
                                      <p:tavLst>
                                        <p:tav tm="0">
                                          <p:val>
                                            <p:strVal val="#ppt_y+.06"/>
                                          </p:val>
                                        </p:tav>
                                        <p:tav tm="100000">
                                          <p:val>
                                            <p:strVal val="#ppt_y"/>
                                          </p:val>
                                        </p:tav>
                                      </p:tavLst>
                                    </p:anim>
                                  </p:childTnLst>
                                </p:cTn>
                              </p:par>
                              <p:par>
                                <p:cTn id="68" presetID="42" presetClass="entr" presetSubtype="0" fill="hold" grpId="0" nodeType="with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600"/>
                                        <p:tgtEl>
                                          <p:spTgt spid="17"/>
                                        </p:tgtEl>
                                      </p:cBhvr>
                                    </p:animEffect>
                                    <p:anim calcmode="lin" valueType="num">
                                      <p:cBhvr>
                                        <p:cTn id="66" dur="600" decel="100000" fill="hold"/>
                                        <p:tgtEl>
                                          <p:spTgt spid="17"/>
                                        </p:tgtEl>
                                        <p:attrNameLst>
                                          <p:attrName>ppt_x</p:attrName>
                                        </p:attrNameLst>
                                      </p:cBhvr>
                                      <p:tavLst>
                                        <p:tav tm="0">
                                          <p:val>
                                            <p:strVal val="#ppt_x"/>
                                          </p:val>
                                        </p:tav>
                                        <p:tav tm="100000">
                                          <p:val>
                                            <p:strVal val="#ppt_x"/>
                                          </p:val>
                                        </p:tav>
                                      </p:tavLst>
                                    </p:anim>
                                    <p:anim calcmode="lin" valueType="num">
                                      <p:cBhvr>
                                        <p:cTn id="67" dur="600" decel="100000" fill="hold"/>
                                        <p:tgtEl>
                                          <p:spTgt spid="1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EL RAZONAMIENTO DEL TRIBUNAL</a:t>
            </a:r>
            <a:endParaRPr lang="en-US" sz="1200" dirty="0"/>
          </a:p>
        </p:txBody>
      </p:sp>
      <p:sp>
        <p:nvSpPr>
          <p:cNvPr id="3" name="Text 1"/>
          <p:cNvSpPr/>
          <p:nvPr>
            <p:ph type="title"/>
          </p:nvPr>
        </p:nvSpPr>
        <p:spPr>
          <a:xfrm>
            <a:off x="812767" y="112762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1A1A"/>
                </a:solidFill>
                <a:latin typeface="Source Sans 3" pitchFamily="34" charset="0"/>
                <a:ea typeface="Source Sans 3" pitchFamily="34" charset="-122"/>
                <a:cs typeface="Source Sans 3" pitchFamily="34" charset="-120"/>
              </a:rPr>
              <a:t>Dos categorías separadas, nadie en medio</a:t>
            </a:r>
            <a:endParaRPr lang="en-US" sz="3200" dirty="0"/>
          </a:p>
        </p:txBody>
      </p:sp>
      <p:sp>
        <p:nvSpPr>
          <p:cNvPr id="4" name="Shape 2"/>
          <p:cNvSpPr/>
          <p:nvPr/>
        </p:nvSpPr>
        <p:spPr>
          <a:xfrm>
            <a:off x="812767" y="1676127"/>
            <a:ext cx="762000" cy="50767"/>
          </a:xfrm>
          <a:prstGeom prst="rect">
            <a:avLst/>
          </a:prstGeom>
          <a:solidFill>
            <a:srgbClr val="FC8400"/>
          </a:solidFill>
          <a:ln/>
        </p:spPr>
      </p:sp>
      <p:pic>
        <p:nvPicPr>
          <p:cNvPr id="5" name="!!circ-raza" descr="ellipse">    </p:cNvPr>
          <p:cNvPicPr>
            <a:picLocks noChangeAspect="1"/>
          </p:cNvPicPr>
          <p:nvPr/>
        </p:nvPicPr>
        <p:blipFill>
          <a:blip r:embed="rId1"/>
          <a:srcRect l="0" r="0" t="0" b="0"/>
          <a:stretch/>
        </p:blipFill>
        <p:spPr>
          <a:xfrm>
            <a:off x="1447767" y="2159000"/>
            <a:ext cx="3556000" cy="3556000"/>
          </a:xfrm>
          <a:prstGeom prst="rect">
            <a:avLst/>
          </a:prstGeom>
        </p:spPr>
      </p:pic>
      <p:pic>
        <p:nvPicPr>
          <p:cNvPr id="6" name="!!circ-sexo" descr="ellipse">    </p:cNvPr>
          <p:cNvPicPr>
            <a:picLocks noChangeAspect="1"/>
          </p:cNvPicPr>
          <p:nvPr/>
        </p:nvPicPr>
        <p:blipFill>
          <a:blip r:embed="rId2"/>
          <a:srcRect l="0" r="0" t="0" b="0"/>
          <a:stretch/>
        </p:blipFill>
        <p:spPr>
          <a:xfrm>
            <a:off x="7188150" y="2159000"/>
            <a:ext cx="3556000" cy="3556000"/>
          </a:xfrm>
          <a:prstGeom prst="rect">
            <a:avLst/>
          </a:prstGeom>
        </p:spPr>
      </p:pic>
      <p:sp>
        <p:nvSpPr>
          <p:cNvPr id="7" name="!!lbl-raza"/>
          <p:cNvSpPr/>
          <p:nvPr/>
        </p:nvSpPr>
        <p:spPr>
          <a:xfrm>
            <a:off x="1865377" y="3048000"/>
            <a:ext cx="2720780" cy="292050"/>
          </a:xfrm>
          <a:prstGeom prst="rect">
            <a:avLst/>
          </a:prstGeom>
          <a:noFill/>
          <a:ln/>
        </p:spPr>
        <p:txBody>
          <a:bodyPr wrap="square" lIns="0" tIns="0" rIns="0" bIns="0" rtlCol="0" anchor="t">
            <a:normAutofit/>
          </a:bodyPr>
          <a:lstStyle/>
          <a:p>
            <a:pPr algn="ctr" indent="0" marL="0">
              <a:lnSpc>
                <a:spcPts val="2100"/>
              </a:lnSpc>
              <a:buNone/>
            </a:pPr>
            <a:r>
              <a:rPr lang="en-US" sz="1500" b="1" spc="100" kern="0" dirty="0">
                <a:solidFill>
                  <a:srgbClr val="FFFFFF"/>
                </a:solidFill>
                <a:latin typeface="Source Sans 3" pitchFamily="34" charset="0"/>
                <a:ea typeface="Source Sans 3" pitchFamily="34" charset="-122"/>
                <a:cs typeface="Source Sans 3" pitchFamily="34" charset="-120"/>
              </a:rPr>
              <a:t>RAZA</a:t>
            </a:r>
            <a:endParaRPr lang="en-US" sz="1500" dirty="0"/>
          </a:p>
        </p:txBody>
      </p:sp>
      <p:sp>
        <p:nvSpPr>
          <p:cNvPr id="8" name="Text 4"/>
          <p:cNvSpPr/>
          <p:nvPr/>
        </p:nvSpPr>
        <p:spPr>
          <a:xfrm>
            <a:off x="1865377" y="3390801"/>
            <a:ext cx="2720780" cy="796826"/>
          </a:xfrm>
          <a:prstGeom prst="rect">
            <a:avLst/>
          </a:prstGeom>
          <a:noFill/>
          <a:ln/>
        </p:spPr>
        <p:txBody>
          <a:bodyPr wrap="square" lIns="0" tIns="0" rIns="0" bIns="0" rtlCol="0" anchor="t">
            <a:normAutofit/>
          </a:bodyPr>
          <a:lstStyle/>
          <a:p>
            <a:pPr algn="ctr" indent="0" marL="0">
              <a:lnSpc>
                <a:spcPts val="2025"/>
              </a:lnSpc>
              <a:buNone/>
            </a:pPr>
            <a:r>
              <a:rPr lang="en-US" sz="1500" dirty="0">
                <a:solidFill>
                  <a:srgbClr val="FFFFFF"/>
                </a:solidFill>
                <a:latin typeface="Source Sans 3" pitchFamily="34" charset="0"/>
                <a:ea typeface="Source Sans 3" pitchFamily="34" charset="-122"/>
                <a:cs typeface="Source Sans 3" pitchFamily="34" charset="-120"/>
              </a:rPr>
              <a:t>Muchos hombres negros seguían trabajando: no hay discriminación racial</a:t>
            </a:r>
            <a:endParaRPr lang="en-US" sz="1500" dirty="0"/>
          </a:p>
        </p:txBody>
      </p:sp>
      <p:sp>
        <p:nvSpPr>
          <p:cNvPr id="9" name="!!lbl-sexo"/>
          <p:cNvSpPr/>
          <p:nvPr/>
        </p:nvSpPr>
        <p:spPr>
          <a:xfrm>
            <a:off x="7605760" y="3048000"/>
            <a:ext cx="2720780" cy="292050"/>
          </a:xfrm>
          <a:prstGeom prst="rect">
            <a:avLst/>
          </a:prstGeom>
          <a:noFill/>
          <a:ln/>
        </p:spPr>
        <p:txBody>
          <a:bodyPr wrap="square" lIns="0" tIns="0" rIns="0" bIns="0" rtlCol="0" anchor="t">
            <a:normAutofit/>
          </a:bodyPr>
          <a:lstStyle/>
          <a:p>
            <a:pPr algn="ctr" indent="0" marL="0">
              <a:lnSpc>
                <a:spcPts val="2100"/>
              </a:lnSpc>
              <a:buNone/>
            </a:pPr>
            <a:r>
              <a:rPr lang="en-US" sz="1500" b="1" spc="100" kern="0" dirty="0">
                <a:solidFill>
                  <a:srgbClr val="1A1A1A"/>
                </a:solidFill>
                <a:latin typeface="Source Sans 3" pitchFamily="34" charset="0"/>
                <a:ea typeface="Source Sans 3" pitchFamily="34" charset="-122"/>
                <a:cs typeface="Source Sans 3" pitchFamily="34" charset="-120"/>
              </a:rPr>
              <a:t>SEXO</a:t>
            </a:r>
            <a:endParaRPr lang="en-US" sz="1500" dirty="0"/>
          </a:p>
        </p:txBody>
      </p:sp>
      <p:sp>
        <p:nvSpPr>
          <p:cNvPr id="10" name="Text 6"/>
          <p:cNvSpPr/>
          <p:nvPr/>
        </p:nvSpPr>
        <p:spPr>
          <a:xfrm>
            <a:off x="7605760" y="3390801"/>
            <a:ext cx="2720780" cy="1053968"/>
          </a:xfrm>
          <a:prstGeom prst="rect">
            <a:avLst/>
          </a:prstGeom>
          <a:noFill/>
          <a:ln/>
        </p:spPr>
        <p:txBody>
          <a:bodyPr wrap="square" lIns="0" tIns="0" rIns="0" bIns="0" rtlCol="0" anchor="t">
            <a:normAutofit/>
          </a:bodyPr>
          <a:lstStyle/>
          <a:p>
            <a:pPr algn="ctr" indent="0" marL="0">
              <a:lnSpc>
                <a:spcPts val="2025"/>
              </a:lnSpc>
              <a:buNone/>
            </a:pPr>
            <a:r>
              <a:rPr lang="en-US" sz="1500" dirty="0">
                <a:solidFill>
                  <a:srgbClr val="1A1A1A"/>
                </a:solidFill>
                <a:latin typeface="Source Sans 3" pitchFamily="34" charset="0"/>
                <a:ea typeface="Source Sans 3" pitchFamily="34" charset="-122"/>
                <a:cs typeface="Source Sans 3" pitchFamily="34" charset="-120"/>
              </a:rPr>
              <a:t>Muchas mujeres blancas, contratadas antes de 1964, seguían trabajando: no hay discriminación sexual</a:t>
            </a:r>
            <a:endParaRPr lang="en-US" sz="1500" dirty="0"/>
          </a:p>
        </p:txBody>
      </p:sp>
      <p:sp>
        <p:nvSpPr>
          <p:cNvPr id="11" name="Text 7"/>
          <p:cNvSpPr/>
          <p:nvPr/>
        </p:nvSpPr>
        <p:spPr>
          <a:xfrm>
            <a:off x="5114925" y="3556000"/>
            <a:ext cx="1962150" cy="273033"/>
          </a:xfrm>
          <a:prstGeom prst="rect">
            <a:avLst/>
          </a:prstGeom>
          <a:noFill/>
          <a:ln/>
        </p:spPr>
        <p:txBody>
          <a:bodyPr wrap="square" lIns="0" tIns="0" rIns="0" bIns="0" rtlCol="0" anchor="t">
            <a:normAutofit/>
          </a:bodyPr>
          <a:lstStyle/>
          <a:p>
            <a:pPr algn="ctr" indent="0" marL="0">
              <a:lnSpc>
                <a:spcPts val="1950"/>
              </a:lnSpc>
              <a:buNone/>
            </a:pPr>
            <a:r>
              <a:rPr lang="en-US" sz="1500" b="1" dirty="0">
                <a:solidFill>
                  <a:srgbClr val="C8102E"/>
                </a:solidFill>
                <a:latin typeface="Source Sans 3" pitchFamily="34" charset="0"/>
                <a:ea typeface="Source Sans 3" pitchFamily="34" charset="-122"/>
                <a:cs typeface="Source Sans 3" pitchFamily="34" charset="-120"/>
              </a:rPr>
              <a:t>¿Y las mujeres negras?</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grpId="0"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600"/>
                                        <p:tgtEl>
                                          <p:spTgt spid="11"/>
                                        </p:tgtEl>
                                      </p:cBhvr>
                                    </p:animEffect>
                                    <p:anim calcmode="lin" valueType="num">
                                      <p:cBhvr>
                                        <p:cTn id="5" dur="600" decel="100000" fill="hold"/>
                                        <p:tgtEl>
                                          <p:spTgt spid="11"/>
                                        </p:tgtEl>
                                        <p:attrNameLst>
                                          <p:attrName>ppt_w</p:attrName>
                                        </p:attrNameLst>
                                      </p:cBhvr>
                                      <p:tavLst>
                                        <p:tav tm="0">
                                          <p:val>
                                            <p:strVal val="0"/>
                                          </p:val>
                                        </p:tav>
                                        <p:tav tm="100000">
                                          <p:val>
                                            <p:strVal val="#ppt_w"/>
                                          </p:val>
                                        </p:tav>
                                      </p:tavLst>
                                    </p:anim>
                                    <p:anim calcmode="lin" valueType="num">
                                      <p:cBhvr>
                                        <p:cTn id="6" dur="600" decel="100000" fill="hold"/>
                                        <p:tgtEl>
                                          <p:spTgt spid="11"/>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QUÉ DEMOSTRÓ CRENSHAW</a:t>
            </a:r>
            <a:endParaRPr lang="en-US" sz="1200" dirty="0"/>
          </a:p>
        </p:txBody>
      </p:sp>
      <p:sp>
        <p:nvSpPr>
          <p:cNvPr id="3" name="Text 1"/>
          <p:cNvSpPr/>
          <p:nvPr>
            <p:ph type="title"/>
          </p:nvPr>
        </p:nvSpPr>
        <p:spPr>
          <a:xfrm>
            <a:off x="812767" y="1127621"/>
            <a:ext cx="5886450"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1A1A"/>
                </a:solidFill>
                <a:latin typeface="Source Sans 3" pitchFamily="34" charset="0"/>
                <a:ea typeface="Source Sans 3" pitchFamily="34" charset="-122"/>
                <a:cs typeface="Source Sans 3" pitchFamily="34" charset="-120"/>
              </a:rPr>
              <a:t>No es una suma: es una intersección</a:t>
            </a:r>
            <a:endParaRPr lang="en-US" sz="3200" dirty="0"/>
          </a:p>
        </p:txBody>
      </p:sp>
      <p:sp>
        <p:nvSpPr>
          <p:cNvPr id="4" name="Shape 2"/>
          <p:cNvSpPr/>
          <p:nvPr/>
        </p:nvSpPr>
        <p:spPr>
          <a:xfrm>
            <a:off x="812767" y="2123108"/>
            <a:ext cx="762000" cy="50767"/>
          </a:xfrm>
          <a:prstGeom prst="rect">
            <a:avLst/>
          </a:prstGeom>
          <a:solidFill>
            <a:srgbClr val="FC8400"/>
          </a:solidFill>
          <a:ln/>
        </p:spPr>
      </p:sp>
      <p:sp>
        <p:nvSpPr>
          <p:cNvPr id="5" name="Text 3"/>
          <p:cNvSpPr/>
          <p:nvPr/>
        </p:nvSpPr>
        <p:spPr>
          <a:xfrm>
            <a:off x="812767" y="2478646"/>
            <a:ext cx="5232400" cy="1204119"/>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A1A1A"/>
                </a:solidFill>
                <a:latin typeface="Source Sans 3" pitchFamily="34" charset="0"/>
                <a:ea typeface="Source Sans 3" pitchFamily="34" charset="-122"/>
                <a:cs typeface="Source Sans 3" pitchFamily="34" charset="-120"/>
              </a:rPr>
              <a:t>La experiencia de una mujer negra no puede explicarse como la simple suma del sexismo que viven las mujeres (blancas) y el racismo que viven las personas negras (hombres).</a:t>
            </a:r>
            <a:endParaRPr lang="en-US" sz="1600" dirty="0"/>
          </a:p>
        </p:txBody>
      </p:sp>
      <p:sp>
        <p:nvSpPr>
          <p:cNvPr id="6" name="Text 4"/>
          <p:cNvSpPr/>
          <p:nvPr/>
        </p:nvSpPr>
        <p:spPr>
          <a:xfrm>
            <a:off x="812767" y="3860515"/>
            <a:ext cx="5232400" cy="1498798"/>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A1A1A"/>
                </a:solidFill>
                <a:latin typeface="Source Sans 3" pitchFamily="34" charset="0"/>
                <a:ea typeface="Source Sans 3" pitchFamily="34" charset="-122"/>
                <a:cs typeface="Source Sans 3" pitchFamily="34" charset="-120"/>
              </a:rPr>
              <a:t>La intersección de los ejes de raza y género produce </a:t>
            </a:r>
            <a:r>
              <a:rPr lang="en-US" sz="1600" b="1" dirty="0">
                <a:solidFill>
                  <a:srgbClr val="1A1A1A"/>
                </a:solidFill>
                <a:latin typeface="Source Sans 3" pitchFamily="34" charset="0"/>
                <a:ea typeface="Source Sans 3" pitchFamily="34" charset="-122"/>
                <a:cs typeface="Source Sans 3" pitchFamily="34" charset="-120"/>
              </a:rPr>
              <a:t>realidades y formas de discriminación muy específicas</a:t>
            </a:r>
            <a:r>
              <a:rPr lang="en-US" sz="1600" dirty="0">
                <a:solidFill>
                  <a:srgbClr val="1A1A1A"/>
                </a:solidFill>
                <a:latin typeface="Source Sans 3" pitchFamily="34" charset="0"/>
                <a:ea typeface="Source Sans 3" pitchFamily="34" charset="-122"/>
                <a:cs typeface="Source Sans 3" pitchFamily="34" charset="-120"/>
              </a:rPr>
              <a:t>, más amplias que el estrecho marco legal antidiscriminatorio que trataba el sexismo y el racismo como categorías excluyentes.</a:t>
            </a:r>
            <a:endParaRPr lang="en-US" sz="1600" dirty="0"/>
          </a:p>
        </p:txBody>
      </p:sp>
      <p:pic>
        <p:nvPicPr>
          <p:cNvPr id="7" name="!!circ-raza" descr="ellipse">    </p:cNvPr>
          <p:cNvPicPr>
            <a:picLocks noChangeAspect="1"/>
          </p:cNvPicPr>
          <p:nvPr/>
        </p:nvPicPr>
        <p:blipFill>
          <a:blip r:embed="rId1"/>
          <a:srcRect l="0" r="0" t="0" b="0"/>
          <a:stretch/>
        </p:blipFill>
        <p:spPr>
          <a:xfrm>
            <a:off x="6350000" y="2095500"/>
            <a:ext cx="3048000" cy="3048000"/>
          </a:xfrm>
          <a:prstGeom prst="rect">
            <a:avLst/>
          </a:prstGeom>
        </p:spPr>
      </p:pic>
      <p:pic>
        <p:nvPicPr>
          <p:cNvPr id="8" name="!!circ-sexo" descr="ellipse">    </p:cNvPr>
          <p:cNvPicPr>
            <a:picLocks noChangeAspect="1"/>
          </p:cNvPicPr>
          <p:nvPr/>
        </p:nvPicPr>
        <p:blipFill>
          <a:blip r:embed="rId2"/>
          <a:srcRect l="0" r="0" t="0" b="0"/>
          <a:stretch/>
        </p:blipFill>
        <p:spPr>
          <a:xfrm>
            <a:off x="8331150" y="2095500"/>
            <a:ext cx="3048000" cy="3048000"/>
          </a:xfrm>
          <a:prstGeom prst="rect">
            <a:avLst/>
          </a:prstGeom>
        </p:spPr>
      </p:pic>
      <p:pic>
        <p:nvPicPr>
          <p:cNvPr id="9" name="Image 2" descr="ellipse">    </p:cNvPr>
          <p:cNvPicPr>
            <a:picLocks noChangeAspect="1"/>
          </p:cNvPicPr>
          <p:nvPr/>
        </p:nvPicPr>
        <p:blipFill>
          <a:blip r:embed="rId3"/>
          <a:srcRect l="0" r="0" t="0" b="0"/>
          <a:stretch/>
        </p:blipFill>
        <p:spPr>
          <a:xfrm>
            <a:off x="8267650" y="3086026"/>
            <a:ext cx="1193767" cy="1193767"/>
          </a:xfrm>
          <a:prstGeom prst="rect">
            <a:avLst/>
          </a:prstGeom>
        </p:spPr>
      </p:pic>
      <p:sp>
        <p:nvSpPr>
          <p:cNvPr id="10" name="Text 5"/>
          <p:cNvSpPr/>
          <p:nvPr/>
        </p:nvSpPr>
        <p:spPr>
          <a:xfrm>
            <a:off x="8267633" y="3429000"/>
            <a:ext cx="1193800" cy="223507"/>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FFFFFF"/>
                </a:solidFill>
                <a:latin typeface="Source Sans 3" pitchFamily="34" charset="0"/>
                <a:ea typeface="Source Sans 3" pitchFamily="34" charset="-122"/>
                <a:cs typeface="Source Sans 3" pitchFamily="34" charset="-120"/>
              </a:rPr>
              <a:t>Mujeres negras</a:t>
            </a:r>
            <a:endParaRPr lang="en-US" sz="1300" dirty="0"/>
          </a:p>
        </p:txBody>
      </p:sp>
      <p:sp>
        <p:nvSpPr>
          <p:cNvPr id="11" name="!!lbl-raza"/>
          <p:cNvSpPr/>
          <p:nvPr/>
        </p:nvSpPr>
        <p:spPr>
          <a:xfrm>
            <a:off x="6642100" y="3492500"/>
            <a:ext cx="1447800" cy="292050"/>
          </a:xfrm>
          <a:prstGeom prst="rect">
            <a:avLst/>
          </a:prstGeom>
          <a:noFill/>
          <a:ln/>
        </p:spPr>
        <p:txBody>
          <a:bodyPr wrap="square" lIns="0" tIns="0" rIns="0" bIns="0" rtlCol="0" anchor="t">
            <a:normAutofit/>
          </a:bodyPr>
          <a:lstStyle/>
          <a:p>
            <a:pPr algn="ctr" indent="0" marL="0">
              <a:lnSpc>
                <a:spcPts val="2100"/>
              </a:lnSpc>
              <a:buNone/>
            </a:pPr>
            <a:r>
              <a:rPr lang="en-US" sz="1500" b="1" spc="100" kern="0" dirty="0">
                <a:solidFill>
                  <a:srgbClr val="FFFFFF"/>
                </a:solidFill>
                <a:latin typeface="Source Sans 3" pitchFamily="34" charset="0"/>
                <a:ea typeface="Source Sans 3" pitchFamily="34" charset="-122"/>
                <a:cs typeface="Source Sans 3" pitchFamily="34" charset="-120"/>
              </a:rPr>
              <a:t>RAZA</a:t>
            </a:r>
            <a:endParaRPr lang="en-US" sz="1500" dirty="0"/>
          </a:p>
        </p:txBody>
      </p:sp>
      <p:sp>
        <p:nvSpPr>
          <p:cNvPr id="12" name="!!lbl-sexo"/>
          <p:cNvSpPr/>
          <p:nvPr/>
        </p:nvSpPr>
        <p:spPr>
          <a:xfrm>
            <a:off x="9690100" y="3492500"/>
            <a:ext cx="1447800" cy="292050"/>
          </a:xfrm>
          <a:prstGeom prst="rect">
            <a:avLst/>
          </a:prstGeom>
          <a:noFill/>
          <a:ln/>
        </p:spPr>
        <p:txBody>
          <a:bodyPr wrap="square" lIns="0" tIns="0" rIns="0" bIns="0" rtlCol="0" anchor="t">
            <a:normAutofit/>
          </a:bodyPr>
          <a:lstStyle/>
          <a:p>
            <a:pPr algn="ctr" indent="0" marL="0">
              <a:lnSpc>
                <a:spcPts val="2100"/>
              </a:lnSpc>
              <a:buNone/>
            </a:pPr>
            <a:r>
              <a:rPr lang="en-US" sz="1500" b="1" spc="100" kern="0" dirty="0">
                <a:solidFill>
                  <a:srgbClr val="1A1A1A"/>
                </a:solidFill>
                <a:latin typeface="Source Sans 3" pitchFamily="34" charset="0"/>
                <a:ea typeface="Source Sans 3" pitchFamily="34" charset="-122"/>
                <a:cs typeface="Source Sans 3" pitchFamily="34" charset="-120"/>
              </a:rPr>
              <a:t>SEXO</a:t>
            </a:r>
            <a:endParaRPr lang="en-US" sz="1500" dirty="0"/>
          </a:p>
        </p:txBody>
      </p:sp>
      <p:sp>
        <p:nvSpPr>
          <p:cNvPr id="13" name="Text 8"/>
          <p:cNvSpPr/>
          <p:nvPr/>
        </p:nvSpPr>
        <p:spPr>
          <a:xfrm>
            <a:off x="7454933" y="6238292"/>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Hinestroza Cuesta · UTCH</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3" fill="hold">
                      <p:stCondLst>
                        <p:cond delay="indefinite"/>
                        <p:cond evt="onBegin" delay="0">
                          <p:tn val="2"/>
                        </p:cond>
                      </p:stCondLst>
                      <p:childTnLst>
                        <p:par>
                          <p:cTn id="14" fill="hold">
                            <p:stCondLst>
                              <p:cond delay="0"/>
                            </p:stCondLst>
                            <p:childTnLst>
                              <p:par>
                                <p:cTn id="7" presetID="53" presetClass="entr" presetSubtype="16" fill="hold" grpId="0" nodeType="afterEffect">
                                  <p:stCondLst>
                                    <p:cond delay="40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600"/>
                                        <p:tgtEl>
                                          <p:spTgt spid="9"/>
                                        </p:tgtEl>
                                      </p:cBhvr>
                                    </p:animEffect>
                                    <p:anim calcmode="lin" valueType="num">
                                      <p:cBhvr>
                                        <p:cTn id="5" dur="600" decel="100000" fill="hold"/>
                                        <p:tgtEl>
                                          <p:spTgt spid="9"/>
                                        </p:tgtEl>
                                        <p:attrNameLst>
                                          <p:attrName>ppt_w</p:attrName>
                                        </p:attrNameLst>
                                      </p:cBhvr>
                                      <p:tavLst>
                                        <p:tav tm="0">
                                          <p:val>
                                            <p:strVal val="0"/>
                                          </p:val>
                                        </p:tav>
                                        <p:tav tm="100000">
                                          <p:val>
                                            <p:strVal val="#ppt_w"/>
                                          </p:val>
                                        </p:tav>
                                      </p:tavLst>
                                    </p:anim>
                                    <p:anim calcmode="lin" valueType="num">
                                      <p:cBhvr>
                                        <p:cTn id="6" dur="600" decel="100000" fill="hold"/>
                                        <p:tgtEl>
                                          <p:spTgt spid="9"/>
                                        </p:tgtEl>
                                        <p:attrNameLst>
                                          <p:attrName>ppt_h</p:attrName>
                                        </p:attrNameLst>
                                      </p:cBhvr>
                                      <p:tavLst>
                                        <p:tav tm="0">
                                          <p:val>
                                            <p:strVal val="0"/>
                                          </p:val>
                                        </p:tav>
                                        <p:tav tm="100000">
                                          <p:val>
                                            <p:strVal val="#ppt_h"/>
                                          </p:val>
                                        </p:tav>
                                      </p:tavLst>
                                    </p:anim>
                                  </p:childTnLst>
                                </p:cTn>
                              </p:par>
                              <p:par>
                                <p:cTn id="12" presetID="53" presetClass="entr" presetSubtype="16" fill="hold" grpId="0" nodeType="withEffect">
                                  <p:stCondLst>
                                    <p:cond delay="40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600"/>
                                        <p:tgtEl>
                                          <p:spTgt spid="10"/>
                                        </p:tgtEl>
                                      </p:cBhvr>
                                    </p:animEffect>
                                    <p:anim calcmode="lin" valueType="num">
                                      <p:cBhvr>
                                        <p:cTn id="10" dur="600" decel="100000" fill="hold"/>
                                        <p:tgtEl>
                                          <p:spTgt spid="10"/>
                                        </p:tgtEl>
                                        <p:attrNameLst>
                                          <p:attrName>ppt_w</p:attrName>
                                        </p:attrNameLst>
                                      </p:cBhvr>
                                      <p:tavLst>
                                        <p:tav tm="0">
                                          <p:val>
                                            <p:strVal val="0"/>
                                          </p:val>
                                        </p:tav>
                                        <p:tav tm="100000">
                                          <p:val>
                                            <p:strVal val="#ppt_w"/>
                                          </p:val>
                                        </p:tav>
                                      </p:tavLst>
                                    </p:anim>
                                    <p:anim calcmode="lin" valueType="num">
                                      <p:cBhvr>
                                        <p:cTn id="11" dur="600" decel="100000" fill="hold"/>
                                        <p:tgtEl>
                                          <p:spTgt spid="10"/>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7" y="6238292"/>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Fuente: Viveros (2016)</a:t>
            </a:r>
            <a:endParaRPr lang="en-US" sz="1200" dirty="0"/>
          </a:p>
        </p:txBody>
      </p:sp>
      <p:sp>
        <p:nvSpPr>
          <p:cNvPr id="3" name="Text 1"/>
          <p:cNvSpPr/>
          <p:nvPr/>
        </p:nvSpPr>
        <p:spPr>
          <a:xfrm>
            <a:off x="812767" y="812763"/>
            <a:ext cx="670401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ANTECEDENTES</a:t>
            </a:r>
            <a:endParaRPr lang="en-US" sz="1200" dirty="0"/>
          </a:p>
        </p:txBody>
      </p:sp>
      <p:sp>
        <p:nvSpPr>
          <p:cNvPr id="4" name="Text 2"/>
          <p:cNvSpPr/>
          <p:nvPr>
            <p:ph type="title"/>
          </p:nvPr>
        </p:nvSpPr>
        <p:spPr>
          <a:xfrm>
            <a:off x="812767" y="1127621"/>
            <a:ext cx="6704013"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1A1A"/>
                </a:solidFill>
                <a:latin typeface="Source Sans 3" pitchFamily="34" charset="0"/>
                <a:ea typeface="Source Sans 3" pitchFamily="34" charset="-122"/>
                <a:cs typeface="Source Sans 3" pitchFamily="34" charset="-120"/>
              </a:rPr>
              <a:t>Genealogías de la interseccionalidad</a:t>
            </a:r>
            <a:endParaRPr lang="en-US" sz="3200" dirty="0"/>
          </a:p>
        </p:txBody>
      </p:sp>
      <p:sp>
        <p:nvSpPr>
          <p:cNvPr id="5" name="Shape 3"/>
          <p:cNvSpPr/>
          <p:nvPr/>
        </p:nvSpPr>
        <p:spPr>
          <a:xfrm>
            <a:off x="812767" y="2123108"/>
            <a:ext cx="762000" cy="50767"/>
          </a:xfrm>
          <a:prstGeom prst="rect">
            <a:avLst/>
          </a:prstGeom>
          <a:solidFill>
            <a:srgbClr val="FC8400"/>
          </a:solidFill>
          <a:ln/>
        </p:spPr>
      </p:sp>
      <p:sp>
        <p:nvSpPr>
          <p:cNvPr id="6" name="Shape 4"/>
          <p:cNvSpPr/>
          <p:nvPr/>
        </p:nvSpPr>
        <p:spPr>
          <a:xfrm>
            <a:off x="825467" y="2427883"/>
            <a:ext cx="0" cy="2417630"/>
          </a:xfrm>
          <a:prstGeom prst="line">
            <a:avLst/>
          </a:prstGeom>
          <a:noFill/>
          <a:ln w="25400">
            <a:solidFill>
              <a:srgbClr val="C9CFD2"/>
            </a:solidFill>
            <a:prstDash val="solid"/>
          </a:ln>
        </p:spPr>
      </p:sp>
      <p:sp>
        <p:nvSpPr>
          <p:cNvPr id="7" name="Text 5"/>
          <p:cNvSpPr/>
          <p:nvPr/>
        </p:nvSpPr>
        <p:spPr>
          <a:xfrm>
            <a:off x="1037084" y="2427883"/>
            <a:ext cx="6472966" cy="471058"/>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56082"/>
                </a:solidFill>
                <a:latin typeface="Source Sans 3" pitchFamily="34" charset="0"/>
                <a:ea typeface="Source Sans 3" pitchFamily="34" charset="-122"/>
                <a:cs typeface="Source Sans 3" pitchFamily="34" charset="-120"/>
              </a:rPr>
              <a:t>Olympe de Gouges</a:t>
            </a:r>
            <a:r>
              <a:rPr lang="en-US" sz="1300" dirty="0">
                <a:solidFill>
                  <a:srgbClr val="1A1A1A"/>
                </a:solidFill>
                <a:latin typeface="Source Sans 3" pitchFamily="34" charset="0"/>
                <a:ea typeface="Source Sans 3" pitchFamily="34" charset="-122"/>
                <a:cs typeface="Source Sans 3" pitchFamily="34" charset="-120"/>
              </a:rPr>
              <a:t> · </a:t>
            </a:r>
            <a:r>
              <a:rPr lang="en-US" sz="1300" i="1" dirty="0">
                <a:solidFill>
                  <a:srgbClr val="1A1A1A"/>
                </a:solidFill>
                <a:latin typeface="Source Sans 3" pitchFamily="34" charset="0"/>
                <a:ea typeface="Source Sans 3" pitchFamily="34" charset="-122"/>
                <a:cs typeface="Source Sans 3" pitchFamily="34" charset="-120"/>
              </a:rPr>
              <a:t>Declaración de los derechos de la mujer</a:t>
            </a:r>
            <a:r>
              <a:rPr lang="en-US" sz="1300" dirty="0">
                <a:solidFill>
                  <a:srgbClr val="1A1A1A"/>
                </a:solidFill>
                <a:latin typeface="Source Sans 3" pitchFamily="34" charset="0"/>
                <a:ea typeface="Source Sans 3" pitchFamily="34" charset="-122"/>
                <a:cs typeface="Source Sans 3" pitchFamily="34" charset="-120"/>
              </a:rPr>
              <a:t>: compara la dominación colonial con la patriarcal.</a:t>
            </a:r>
            <a:endParaRPr lang="en-US" sz="1300" dirty="0"/>
          </a:p>
        </p:txBody>
      </p:sp>
      <p:sp>
        <p:nvSpPr>
          <p:cNvPr id="8" name="Text 6"/>
          <p:cNvSpPr/>
          <p:nvPr/>
        </p:nvSpPr>
        <p:spPr>
          <a:xfrm>
            <a:off x="1037084" y="3000536"/>
            <a:ext cx="6472966" cy="471058"/>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56082"/>
                </a:solidFill>
                <a:latin typeface="Source Sans 3" pitchFamily="34" charset="0"/>
                <a:ea typeface="Source Sans 3" pitchFamily="34" charset="-122"/>
                <a:cs typeface="Source Sans 3" pitchFamily="34" charset="-120"/>
              </a:rPr>
              <a:t>Siglo XIX</a:t>
            </a:r>
            <a:r>
              <a:rPr lang="en-US" sz="1300" dirty="0">
                <a:solidFill>
                  <a:srgbClr val="1A1A1A"/>
                </a:solidFill>
                <a:latin typeface="Source Sans 3" pitchFamily="34" charset="0"/>
                <a:ea typeface="Source Sans 3" pitchFamily="34" charset="-122"/>
                <a:cs typeface="Source Sans 3" pitchFamily="34" charset="-120"/>
              </a:rPr>
              <a:t> · Las campañas comunes por el sufragio de la población negra y de las mujeres evidencian que racismo y sexismo funcionan de forma similar.</a:t>
            </a:r>
            <a:endParaRPr lang="en-US" sz="1300" dirty="0"/>
          </a:p>
        </p:txBody>
      </p:sp>
      <p:sp>
        <p:nvSpPr>
          <p:cNvPr id="9" name="Text 7"/>
          <p:cNvSpPr/>
          <p:nvPr/>
        </p:nvSpPr>
        <p:spPr>
          <a:xfrm>
            <a:off x="1037084" y="3573190"/>
            <a:ext cx="6472966" cy="248229"/>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56082"/>
                </a:solidFill>
                <a:latin typeface="Source Sans 3" pitchFamily="34" charset="0"/>
                <a:ea typeface="Source Sans 3" pitchFamily="34" charset="-122"/>
                <a:cs typeface="Source Sans 3" pitchFamily="34" charset="-120"/>
              </a:rPr>
              <a:t>1851</a:t>
            </a:r>
            <a:r>
              <a:rPr lang="en-US" sz="1300" dirty="0">
                <a:solidFill>
                  <a:srgbClr val="1A1A1A"/>
                </a:solidFill>
                <a:latin typeface="Source Sans 3" pitchFamily="34" charset="0"/>
                <a:ea typeface="Source Sans 3" pitchFamily="34" charset="-122"/>
                <a:cs typeface="Source Sans 3" pitchFamily="34" charset="-120"/>
              </a:rPr>
              <a:t> · Sojourner Truth: «¿Acaso no soy una mujer?»</a:t>
            </a:r>
            <a:endParaRPr lang="en-US" sz="1300" dirty="0"/>
          </a:p>
        </p:txBody>
      </p:sp>
      <p:sp>
        <p:nvSpPr>
          <p:cNvPr id="10" name="Text 8"/>
          <p:cNvSpPr/>
          <p:nvPr/>
        </p:nvSpPr>
        <p:spPr>
          <a:xfrm>
            <a:off x="1037084" y="3923023"/>
            <a:ext cx="6472966" cy="248229"/>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56082"/>
                </a:solidFill>
                <a:latin typeface="Source Sans 3" pitchFamily="34" charset="0"/>
                <a:ea typeface="Source Sans 3" pitchFamily="34" charset="-122"/>
                <a:cs typeface="Source Sans 3" pitchFamily="34" charset="-120"/>
              </a:rPr>
              <a:t>1899</a:t>
            </a:r>
            <a:r>
              <a:rPr lang="en-US" sz="1300" dirty="0">
                <a:solidFill>
                  <a:srgbClr val="1A1A1A"/>
                </a:solidFill>
                <a:latin typeface="Source Sans 3" pitchFamily="34" charset="0"/>
                <a:ea typeface="Source Sans 3" pitchFamily="34" charset="-122"/>
                <a:cs typeface="Source Sans 3" pitchFamily="34" charset="-120"/>
              </a:rPr>
              <a:t> · Clorinda Matto de Turner, </a:t>
            </a:r>
            <a:r>
              <a:rPr lang="en-US" sz="1300" i="1" dirty="0">
                <a:solidFill>
                  <a:srgbClr val="1A1A1A"/>
                </a:solidFill>
                <a:latin typeface="Source Sans 3" pitchFamily="34" charset="0"/>
                <a:ea typeface="Source Sans 3" pitchFamily="34" charset="-122"/>
                <a:cs typeface="Source Sans 3" pitchFamily="34" charset="-120"/>
              </a:rPr>
              <a:t>Aves sin nido</a:t>
            </a:r>
            <a:r>
              <a:rPr lang="en-US" sz="1300" dirty="0">
                <a:solidFill>
                  <a:srgbClr val="1A1A1A"/>
                </a:solidFill>
                <a:latin typeface="Source Sans 3" pitchFamily="34" charset="0"/>
                <a:ea typeface="Source Sans 3" pitchFamily="34" charset="-122"/>
                <a:cs typeface="Source Sans 3" pitchFamily="34" charset="-120"/>
              </a:rPr>
              <a:t>.</a:t>
            </a:r>
            <a:endParaRPr lang="en-US" sz="1300" dirty="0"/>
          </a:p>
        </p:txBody>
      </p:sp>
      <p:sp>
        <p:nvSpPr>
          <p:cNvPr id="11" name="Text 9"/>
          <p:cNvSpPr/>
          <p:nvPr/>
        </p:nvSpPr>
        <p:spPr>
          <a:xfrm>
            <a:off x="1037084" y="4272855"/>
            <a:ext cx="6472966" cy="248229"/>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56082"/>
                </a:solidFill>
                <a:latin typeface="Source Sans 3" pitchFamily="34" charset="0"/>
                <a:ea typeface="Source Sans 3" pitchFamily="34" charset="-122"/>
                <a:cs typeface="Source Sans 3" pitchFamily="34" charset="-120"/>
              </a:rPr>
              <a:t>1903</a:t>
            </a:r>
            <a:r>
              <a:rPr lang="en-US" sz="1300" dirty="0">
                <a:solidFill>
                  <a:srgbClr val="1A1A1A"/>
                </a:solidFill>
                <a:latin typeface="Source Sans 3" pitchFamily="34" charset="0"/>
                <a:ea typeface="Source Sans 3" pitchFamily="34" charset="-122"/>
                <a:cs typeface="Source Sans 3" pitchFamily="34" charset="-120"/>
              </a:rPr>
              <a:t> · W. E. B. Du Bois: la pobreza en medio de la segregación racial.</a:t>
            </a:r>
            <a:endParaRPr lang="en-US" sz="1300" dirty="0"/>
          </a:p>
        </p:txBody>
      </p:sp>
      <p:sp>
        <p:nvSpPr>
          <p:cNvPr id="12" name="Text 10"/>
          <p:cNvSpPr/>
          <p:nvPr/>
        </p:nvSpPr>
        <p:spPr>
          <a:xfrm>
            <a:off x="1037084" y="4622676"/>
            <a:ext cx="6472966" cy="248229"/>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56082"/>
                </a:solidFill>
                <a:latin typeface="Source Sans 3" pitchFamily="34" charset="0"/>
                <a:ea typeface="Source Sans 3" pitchFamily="34" charset="-122"/>
                <a:cs typeface="Source Sans 3" pitchFamily="34" charset="-120"/>
              </a:rPr>
              <a:t>1923</a:t>
            </a:r>
            <a:r>
              <a:rPr lang="en-US" sz="1300" dirty="0">
                <a:solidFill>
                  <a:srgbClr val="1A1A1A"/>
                </a:solidFill>
                <a:latin typeface="Source Sans 3" pitchFamily="34" charset="0"/>
                <a:ea typeface="Source Sans 3" pitchFamily="34" charset="-122"/>
                <a:cs typeface="Source Sans 3" pitchFamily="34" charset="-120"/>
              </a:rPr>
              <a:t> · Tarsila do Amaral, obra de arte.</a:t>
            </a:r>
            <a:endParaRPr lang="en-US" sz="1300" dirty="0"/>
          </a:p>
        </p:txBody>
      </p:sp>
      <p:pic>
        <p:nvPicPr>
          <p:cNvPr id="13" name="Image 0" descr="Retrato de Sojourner Truth, 1797–1883">    </p:cNvPr>
          <p:cNvPicPr>
            <a:picLocks noChangeAspect="1"/>
          </p:cNvPicPr>
          <p:nvPr/>
        </p:nvPicPr>
        <p:blipFill>
          <a:blip r:embed="rId1"/>
          <a:srcRect l="24531" r="23087" t="0" b="0"/>
          <a:stretch/>
        </p:blipFill>
        <p:spPr>
          <a:xfrm>
            <a:off x="7823150" y="812763"/>
            <a:ext cx="4382327" cy="4699000"/>
          </a:xfrm>
          <a:prstGeom prst="roundRect">
            <a:avLst>
              <a:gd name="adj" fmla="val 580"/>
            </a:avLst>
          </a:prstGeom>
        </p:spPr>
      </p:pic>
      <p:sp>
        <p:nvSpPr>
          <p:cNvPr id="14" name="Text 11"/>
          <p:cNvSpPr/>
          <p:nvPr/>
        </p:nvSpPr>
        <p:spPr>
          <a:xfrm>
            <a:off x="7823150" y="5613301"/>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Sojourner Truth (1797–1883)</a:t>
            </a:r>
            <a:endParaRPr lang="en-US" sz="12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3F3"/>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SIGLO XX · CONTEXTO REGIONAL</a:t>
            </a:r>
            <a:endParaRPr lang="en-US" sz="1200" dirty="0"/>
          </a:p>
        </p:txBody>
      </p:sp>
      <p:sp>
        <p:nvSpPr>
          <p:cNvPr id="3" name="Text 1"/>
          <p:cNvSpPr/>
          <p:nvPr>
            <p:ph type="title"/>
          </p:nvPr>
        </p:nvSpPr>
        <p:spPr>
          <a:xfrm>
            <a:off x="812767" y="1127621"/>
            <a:ext cx="11379233"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1A1A"/>
                </a:solidFill>
                <a:latin typeface="Source Sans 3" pitchFamily="34" charset="0"/>
                <a:ea typeface="Source Sans 3" pitchFamily="34" charset="-122"/>
                <a:cs typeface="Source Sans 3" pitchFamily="34" charset="-120"/>
              </a:rPr>
              <a:t>Contra un feminismo que solo miraba a las mujeres blancas</a:t>
            </a:r>
            <a:endParaRPr lang="en-US" sz="3200" dirty="0"/>
          </a:p>
        </p:txBody>
      </p:sp>
      <p:sp>
        <p:nvSpPr>
          <p:cNvPr id="4" name="Shape 2"/>
          <p:cNvSpPr/>
          <p:nvPr/>
        </p:nvSpPr>
        <p:spPr>
          <a:xfrm>
            <a:off x="812767" y="1676127"/>
            <a:ext cx="762000" cy="50767"/>
          </a:xfrm>
          <a:prstGeom prst="rect">
            <a:avLst/>
          </a:prstGeom>
          <a:solidFill>
            <a:srgbClr val="FC8400"/>
          </a:solidFill>
          <a:ln/>
        </p:spPr>
      </p:sp>
      <p:sp>
        <p:nvSpPr>
          <p:cNvPr id="5" name="Shape 3"/>
          <p:cNvSpPr/>
          <p:nvPr/>
        </p:nvSpPr>
        <p:spPr>
          <a:xfrm>
            <a:off x="812767" y="2031665"/>
            <a:ext cx="3386667" cy="2043741"/>
          </a:xfrm>
          <a:prstGeom prst="rect">
            <a:avLst/>
          </a:prstGeom>
          <a:solidFill>
            <a:srgbClr val="FFFFFF"/>
          </a:solidFill>
          <a:ln/>
        </p:spPr>
      </p:sp>
      <p:sp>
        <p:nvSpPr>
          <p:cNvPr id="6" name="Shape 4"/>
          <p:cNvSpPr/>
          <p:nvPr/>
        </p:nvSpPr>
        <p:spPr>
          <a:xfrm>
            <a:off x="812767" y="2057065"/>
            <a:ext cx="3386667" cy="0"/>
          </a:xfrm>
          <a:prstGeom prst="line">
            <a:avLst/>
          </a:prstGeom>
          <a:noFill/>
          <a:ln w="50800">
            <a:solidFill>
              <a:srgbClr val="156082"/>
            </a:solidFill>
            <a:prstDash val="solid"/>
          </a:ln>
        </p:spPr>
      </p:sp>
      <p:sp>
        <p:nvSpPr>
          <p:cNvPr id="7" name="Text 5"/>
          <p:cNvSpPr/>
          <p:nvPr/>
        </p:nvSpPr>
        <p:spPr>
          <a:xfrm>
            <a:off x="1066767" y="2333290"/>
            <a:ext cx="2965027" cy="416487"/>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56082"/>
                </a:solidFill>
                <a:latin typeface="Source Sans 3" pitchFamily="34" charset="0"/>
                <a:ea typeface="Source Sans 3" pitchFamily="34" charset="-122"/>
                <a:cs typeface="Source Sans 3" pitchFamily="34" charset="-120"/>
              </a:rPr>
              <a:t>1977</a:t>
            </a:r>
            <a:endParaRPr lang="en-US" sz="2200" dirty="0"/>
          </a:p>
        </p:txBody>
      </p:sp>
      <p:sp>
        <p:nvSpPr>
          <p:cNvPr id="8" name="Text 6"/>
          <p:cNvSpPr/>
          <p:nvPr/>
        </p:nvSpPr>
        <p:spPr>
          <a:xfrm>
            <a:off x="1066767" y="2825911"/>
            <a:ext cx="2965027" cy="77202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Source Sans 3" pitchFamily="34" charset="0"/>
                <a:ea typeface="Source Sans 3" pitchFamily="34" charset="-122"/>
                <a:cs typeface="Source Sans 3" pitchFamily="34" charset="-120"/>
              </a:rPr>
              <a:t>Manifiesto de la Colectiva del Río Combahee: política de identidad feminista negra.</a:t>
            </a:r>
            <a:endParaRPr lang="en-US" sz="1400" dirty="0"/>
          </a:p>
        </p:txBody>
      </p:sp>
      <p:sp>
        <p:nvSpPr>
          <p:cNvPr id="9" name="Shape 7"/>
          <p:cNvSpPr/>
          <p:nvPr/>
        </p:nvSpPr>
        <p:spPr>
          <a:xfrm>
            <a:off x="4402584" y="2031665"/>
            <a:ext cx="3386749" cy="2043741"/>
          </a:xfrm>
          <a:prstGeom prst="rect">
            <a:avLst/>
          </a:prstGeom>
          <a:solidFill>
            <a:srgbClr val="FFFFFF"/>
          </a:solidFill>
          <a:ln/>
        </p:spPr>
      </p:sp>
      <p:sp>
        <p:nvSpPr>
          <p:cNvPr id="10" name="Shape 8"/>
          <p:cNvSpPr/>
          <p:nvPr/>
        </p:nvSpPr>
        <p:spPr>
          <a:xfrm>
            <a:off x="4402584" y="2057065"/>
            <a:ext cx="3386749" cy="0"/>
          </a:xfrm>
          <a:prstGeom prst="line">
            <a:avLst/>
          </a:prstGeom>
          <a:noFill/>
          <a:ln w="50800">
            <a:solidFill>
              <a:srgbClr val="0C5837"/>
            </a:solidFill>
            <a:prstDash val="solid"/>
          </a:ln>
        </p:spPr>
      </p:sp>
      <p:sp>
        <p:nvSpPr>
          <p:cNvPr id="11" name="Text 9"/>
          <p:cNvSpPr/>
          <p:nvPr/>
        </p:nvSpPr>
        <p:spPr>
          <a:xfrm>
            <a:off x="4656584" y="2333290"/>
            <a:ext cx="2965112" cy="416487"/>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C5837"/>
                </a:solidFill>
                <a:latin typeface="Source Sans 3" pitchFamily="34" charset="0"/>
                <a:ea typeface="Source Sans 3" pitchFamily="34" charset="-122"/>
                <a:cs typeface="Source Sans 3" pitchFamily="34" charset="-120"/>
              </a:rPr>
              <a:t>Brasil</a:t>
            </a:r>
            <a:endParaRPr lang="en-US" sz="2200" dirty="0"/>
          </a:p>
        </p:txBody>
      </p:sp>
      <p:sp>
        <p:nvSpPr>
          <p:cNvPr id="12" name="Text 10"/>
          <p:cNvSpPr/>
          <p:nvPr/>
        </p:nvSpPr>
        <p:spPr>
          <a:xfrm>
            <a:off x="4656584" y="2825911"/>
            <a:ext cx="2965112" cy="102089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Source Sans 3" pitchFamily="34" charset="0"/>
                <a:ea typeface="Source Sans 3" pitchFamily="34" charset="-122"/>
                <a:cs typeface="Source Sans 3" pitchFamily="34" charset="-120"/>
              </a:rPr>
              <a:t>Thereza Santos, Lélia González, Maria Beatriz do Nascimento, Luiza Bairros, Jurema Werneck y Sueli Carneiro: la tríada «raza-clase-género».</a:t>
            </a:r>
            <a:endParaRPr lang="en-US" sz="1400" dirty="0"/>
          </a:p>
        </p:txBody>
      </p:sp>
      <p:sp>
        <p:nvSpPr>
          <p:cNvPr id="13" name="Shape 11"/>
          <p:cNvSpPr/>
          <p:nvPr/>
        </p:nvSpPr>
        <p:spPr>
          <a:xfrm>
            <a:off x="7992483" y="2031665"/>
            <a:ext cx="3386749" cy="2043741"/>
          </a:xfrm>
          <a:prstGeom prst="rect">
            <a:avLst/>
          </a:prstGeom>
          <a:solidFill>
            <a:srgbClr val="FFFFFF"/>
          </a:solidFill>
          <a:ln/>
        </p:spPr>
      </p:sp>
      <p:sp>
        <p:nvSpPr>
          <p:cNvPr id="14" name="Shape 12"/>
          <p:cNvSpPr/>
          <p:nvPr/>
        </p:nvSpPr>
        <p:spPr>
          <a:xfrm>
            <a:off x="7992483" y="2057065"/>
            <a:ext cx="3386749" cy="0"/>
          </a:xfrm>
          <a:prstGeom prst="line">
            <a:avLst/>
          </a:prstGeom>
          <a:noFill/>
          <a:ln w="50800">
            <a:solidFill>
              <a:srgbClr val="FC8400"/>
            </a:solidFill>
            <a:prstDash val="solid"/>
          </a:ln>
        </p:spPr>
      </p:sp>
      <p:sp>
        <p:nvSpPr>
          <p:cNvPr id="15" name="Text 13"/>
          <p:cNvSpPr/>
          <p:nvPr/>
        </p:nvSpPr>
        <p:spPr>
          <a:xfrm>
            <a:off x="8246483" y="2333290"/>
            <a:ext cx="2965112" cy="416487"/>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56082"/>
                </a:solidFill>
                <a:latin typeface="Source Sans 3" pitchFamily="34" charset="0"/>
                <a:ea typeface="Source Sans 3" pitchFamily="34" charset="-122"/>
                <a:cs typeface="Source Sans 3" pitchFamily="34" charset="-120"/>
              </a:rPr>
              <a:t>1983</a:t>
            </a:r>
            <a:endParaRPr lang="en-US" sz="2200" dirty="0"/>
          </a:p>
        </p:txBody>
      </p:sp>
      <p:sp>
        <p:nvSpPr>
          <p:cNvPr id="16" name="Text 14"/>
          <p:cNvSpPr/>
          <p:nvPr/>
        </p:nvSpPr>
        <p:spPr>
          <a:xfrm>
            <a:off x="8246483" y="2825911"/>
            <a:ext cx="2965112" cy="52314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Source Sans 3" pitchFamily="34" charset="0"/>
                <a:ea typeface="Source Sans 3" pitchFamily="34" charset="-122"/>
                <a:cs typeface="Source Sans 3" pitchFamily="34" charset="-120"/>
              </a:rPr>
              <a:t>Segundo Encuentro Feminista de América Latina y el Caribe, en Lima.</a:t>
            </a:r>
            <a:endParaRPr lang="en-US" sz="1400" dirty="0"/>
          </a:p>
        </p:txBody>
      </p:sp>
      <p:sp>
        <p:nvSpPr>
          <p:cNvPr id="17" name="Text 15"/>
          <p:cNvSpPr/>
          <p:nvPr/>
        </p:nvSpPr>
        <p:spPr>
          <a:xfrm>
            <a:off x="812767" y="4380173"/>
            <a:ext cx="1088346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85757"/>
                </a:solidFill>
                <a:latin typeface="Source Sans 3" pitchFamily="34" charset="0"/>
                <a:ea typeface="Source Sans 3" pitchFamily="34" charset="-122"/>
                <a:cs typeface="Source Sans 3" pitchFamily="34" charset="-120"/>
              </a:rPr>
              <a:t>También Angela Davis, Audre Lorde, bell hooks, June Jordan, Norma Alarcón, Chela Sandoval, Cherríe Moraga, Gloria Anzaldúa, Chandra Talpade Mohanty y María Lugones cuestionaron los sesgos de raza y género de la categoría «mujer».</a:t>
            </a:r>
            <a:endParaRPr lang="en-US" sz="1300" dirty="0"/>
          </a:p>
        </p:txBody>
      </p:sp>
      <p:sp>
        <p:nvSpPr>
          <p:cNvPr id="18" name="Text 16"/>
          <p:cNvSpPr/>
          <p:nvPr/>
        </p:nvSpPr>
        <p:spPr>
          <a:xfrm>
            <a:off x="812767" y="6238292"/>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Fuente: Viveros (2016)</a:t>
            </a:r>
            <a:endParaRPr lang="en-US" sz="1200" dirty="0"/>
          </a:p>
        </p:txBody>
      </p:sp>
      <p:sp>
        <p:nvSpPr>
          <p:cNvPr id="19" name="Text 17"/>
          <p:cNvSpPr/>
          <p:nvPr/>
        </p:nvSpPr>
        <p:spPr>
          <a:xfrm>
            <a:off x="7454933" y="6238292"/>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Hinestroza Cuesta · UTCH</a:t>
            </a:r>
            <a:endParaRPr lang="en-US" sz="12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583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6" r="-6" t="0" b="0"/>
          <a:stretch/>
        </p:blipFill>
        <p:spPr>
          <a:xfrm>
            <a:off x="7366000" y="0"/>
            <a:ext cx="4826000" cy="6858000"/>
          </a:xfrm>
          <a:prstGeom prst="rect">
            <a:avLst/>
          </a:prstGeom>
        </p:spPr>
      </p:pic>
      <p:sp>
        <p:nvSpPr>
          <p:cNvPr id="3" name="Text 0"/>
          <p:cNvSpPr/>
          <p:nvPr/>
        </p:nvSpPr>
        <p:spPr>
          <a:xfrm>
            <a:off x="812767" y="1596591"/>
            <a:ext cx="1088346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C8400"/>
                </a:solidFill>
                <a:latin typeface="Source Sans 3" pitchFamily="34" charset="0"/>
                <a:ea typeface="Source Sans 3" pitchFamily="34" charset="-122"/>
                <a:cs typeface="Source Sans 3" pitchFamily="34" charset="-120"/>
              </a:rPr>
              <a:t>03</a:t>
            </a:r>
            <a:endParaRPr lang="en-US" sz="8000" dirty="0"/>
          </a:p>
        </p:txBody>
      </p:sp>
      <p:sp>
        <p:nvSpPr>
          <p:cNvPr id="4" name="Text 1"/>
          <p:cNvSpPr/>
          <p:nvPr>
            <p:ph type="title"/>
          </p:nvPr>
        </p:nvSpPr>
        <p:spPr>
          <a:xfrm>
            <a:off x="812767" y="2815741"/>
            <a:ext cx="7194550" cy="1198662"/>
          </a:xfrm>
          <a:prstGeom prst="rect">
            <a:avLst/>
          </a:prstGeom>
          <a:noFill/>
          <a:ln/>
        </p:spPr>
        <p:txBody>
          <a:bodyPr wrap="square" lIns="0" tIns="0" rIns="0" bIns="0" rtlCol="0" anchor="t">
            <a:normAutofit/>
          </a:bodyPr>
          <a:lstStyle/>
          <a:p>
            <a:pPr algn="l" indent="0" marL="0">
              <a:lnSpc>
                <a:spcPts val="4620"/>
              </a:lnSpc>
              <a:buNone/>
            </a:pPr>
            <a:r>
              <a:rPr lang="en-US" sz="4400" b="1" i="0" spc="-50" kern="0" dirty="0">
                <a:solidFill>
                  <a:srgbClr val="FFFFFF"/>
                </a:solidFill>
                <a:latin typeface="Source Sans 3" pitchFamily="34" charset="0"/>
                <a:ea typeface="Source Sans 3" pitchFamily="34" charset="-122"/>
                <a:cs typeface="Source Sans 3" pitchFamily="34" charset="-120"/>
              </a:rPr>
              <a:t>La interseccionalidad en las decisiones judiciales</a:t>
            </a:r>
            <a:endParaRPr lang="en-US" sz="4400" dirty="0"/>
          </a:p>
        </p:txBody>
      </p:sp>
      <p:sp>
        <p:nvSpPr>
          <p:cNvPr id="5" name="Text 2"/>
          <p:cNvSpPr/>
          <p:nvPr/>
        </p:nvSpPr>
        <p:spPr>
          <a:xfrm>
            <a:off x="812767" y="4192153"/>
            <a:ext cx="65405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D9ECE1"/>
                </a:solidFill>
                <a:latin typeface="Source Sans 3" pitchFamily="34" charset="0"/>
                <a:ea typeface="Source Sans 3" pitchFamily="34" charset="-122"/>
                <a:cs typeface="Source Sans 3" pitchFamily="34" charset="-120"/>
              </a:rPr>
              <a:t>¿Importante en el litigio estratégico de género? </a:t>
            </a:r>
            <a:r>
              <a:rPr lang="en-US" sz="1800" b="1" dirty="0">
                <a:solidFill>
                  <a:srgbClr val="FCCC00"/>
                </a:solidFill>
                <a:latin typeface="Source Sans 3" pitchFamily="34" charset="0"/>
                <a:ea typeface="Source Sans 3" pitchFamily="34" charset="-122"/>
                <a:cs typeface="Source Sans 3" pitchFamily="34" charset="-120"/>
              </a:rPr>
              <a:t>¡Garantizar derechos fundamentales!</a:t>
            </a:r>
            <a:endParaRPr lang="en-US" sz="1800" dirty="0"/>
          </a:p>
        </p:txBody>
      </p:sp>
      <p:sp>
        <p:nvSpPr>
          <p:cNvPr id="6" name="Text 3"/>
          <p:cNvSpPr/>
          <p:nvPr/>
        </p:nvSpPr>
        <p:spPr>
          <a:xfrm>
            <a:off x="812767" y="5012444"/>
            <a:ext cx="10883460" cy="274274"/>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D9ECE1"/>
                </a:solidFill>
                <a:latin typeface="Source Sans 3" pitchFamily="34" charset="0"/>
                <a:ea typeface="Source Sans 3" pitchFamily="34" charset="-122"/>
                <a:cs typeface="Source Sans 3" pitchFamily="34" charset="-120"/>
              </a:rPr>
              <a:t>A interseccionalidade nas decisões judiciais</a:t>
            </a:r>
            <a:endParaRPr lang="en-US" sz="1400" dirty="0"/>
          </a:p>
        </p:txBody>
      </p:sp>
    </p:spTree>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¿PARA QUÉ?</a:t>
            </a:r>
            <a:endParaRPr lang="en-US" sz="1200" dirty="0"/>
          </a:p>
        </p:txBody>
      </p:sp>
      <p:sp>
        <p:nvSpPr>
          <p:cNvPr id="3" name="Text 1"/>
          <p:cNvSpPr/>
          <p:nvPr>
            <p:ph type="title"/>
          </p:nvPr>
        </p:nvSpPr>
        <p:spPr>
          <a:xfrm>
            <a:off x="812767" y="112762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1A1A"/>
                </a:solidFill>
                <a:latin typeface="Source Sans 3" pitchFamily="34" charset="0"/>
                <a:ea typeface="Source Sans 3" pitchFamily="34" charset="-122"/>
                <a:cs typeface="Source Sans 3" pitchFamily="34" charset="-120"/>
              </a:rPr>
              <a:t>La valoración probatoria no es neutra</a:t>
            </a:r>
            <a:endParaRPr lang="en-US" sz="3200" dirty="0"/>
          </a:p>
        </p:txBody>
      </p:sp>
      <p:sp>
        <p:nvSpPr>
          <p:cNvPr id="4" name="Shape 2"/>
          <p:cNvSpPr/>
          <p:nvPr/>
        </p:nvSpPr>
        <p:spPr>
          <a:xfrm>
            <a:off x="812767" y="1676127"/>
            <a:ext cx="762000" cy="50767"/>
          </a:xfrm>
          <a:prstGeom prst="rect">
            <a:avLst/>
          </a:prstGeom>
          <a:solidFill>
            <a:srgbClr val="FC8400"/>
          </a:solidFill>
          <a:ln/>
        </p:spPr>
      </p:sp>
      <p:sp>
        <p:nvSpPr>
          <p:cNvPr id="5" name="Shape 3"/>
          <p:cNvSpPr/>
          <p:nvPr/>
        </p:nvSpPr>
        <p:spPr>
          <a:xfrm>
            <a:off x="812767" y="2159000"/>
            <a:ext cx="5181534" cy="1714500"/>
          </a:xfrm>
          <a:prstGeom prst="rect">
            <a:avLst/>
          </a:prstGeom>
          <a:solidFill>
            <a:srgbClr val="156082"/>
          </a:solidFill>
          <a:ln/>
        </p:spPr>
      </p:sp>
      <p:pic>
        <p:nvPicPr>
          <p:cNvPr id="6" name="Image 0" descr="Book">    </p:cNvPr>
          <p:cNvPicPr>
            <a:picLocks noChangeAspect="1"/>
          </p:cNvPicPr>
          <p:nvPr/>
        </p:nvPicPr>
        <p:blipFill>
          <a:blip r:embed="rId1"/>
          <a:srcRect l="0" r="0" t="0" b="0"/>
          <a:stretch/>
        </p:blipFill>
        <p:spPr>
          <a:xfrm>
            <a:off x="1066767" y="2413000"/>
            <a:ext cx="355534" cy="355534"/>
          </a:xfrm>
          <a:prstGeom prst="rect">
            <a:avLst/>
          </a:prstGeom>
        </p:spPr>
      </p:pic>
      <p:sp>
        <p:nvSpPr>
          <p:cNvPr id="7" name="Text 4"/>
          <p:cNvSpPr/>
          <p:nvPr/>
        </p:nvSpPr>
        <p:spPr>
          <a:xfrm>
            <a:off x="1066767" y="2870064"/>
            <a:ext cx="4813740" cy="57408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FFFFFF"/>
                </a:solidFill>
                <a:latin typeface="Source Sans 3" pitchFamily="34" charset="0"/>
                <a:ea typeface="Source Sans 3" pitchFamily="34" charset="-122"/>
                <a:cs typeface="Source Sans 3" pitchFamily="34" charset="-120"/>
              </a:rPr>
              <a:t>Mandato de incorporar la perspectiva de género con enfoque interseccional</a:t>
            </a:r>
            <a:endParaRPr lang="en-US" sz="1600" dirty="0"/>
          </a:p>
        </p:txBody>
      </p:sp>
      <p:sp>
        <p:nvSpPr>
          <p:cNvPr id="8" name="Shape 5"/>
          <p:cNvSpPr/>
          <p:nvPr/>
        </p:nvSpPr>
        <p:spPr>
          <a:xfrm>
            <a:off x="6197534" y="2159000"/>
            <a:ext cx="5181534" cy="1714500"/>
          </a:xfrm>
          <a:prstGeom prst="rect">
            <a:avLst/>
          </a:prstGeom>
          <a:solidFill>
            <a:srgbClr val="F3F3F3"/>
          </a:solidFill>
          <a:ln/>
        </p:spPr>
      </p:sp>
      <p:sp>
        <p:nvSpPr>
          <p:cNvPr id="9" name="Shape 6"/>
          <p:cNvSpPr/>
          <p:nvPr/>
        </p:nvSpPr>
        <p:spPr>
          <a:xfrm>
            <a:off x="6197534" y="2184400"/>
            <a:ext cx="5181534" cy="0"/>
          </a:xfrm>
          <a:prstGeom prst="line">
            <a:avLst/>
          </a:prstGeom>
          <a:noFill/>
          <a:ln w="50800">
            <a:solidFill>
              <a:srgbClr val="156082"/>
            </a:solidFill>
            <a:prstDash val="solid"/>
          </a:ln>
        </p:spPr>
      </p:sp>
      <p:pic>
        <p:nvPicPr>
          <p:cNvPr id="10" name="Image 1" descr="Search">    </p:cNvPr>
          <p:cNvPicPr>
            <a:picLocks noChangeAspect="1"/>
          </p:cNvPicPr>
          <p:nvPr/>
        </p:nvPicPr>
        <p:blipFill>
          <a:blip r:embed="rId2"/>
          <a:srcRect l="0" r="0" t="0" b="0"/>
          <a:stretch/>
        </p:blipFill>
        <p:spPr>
          <a:xfrm>
            <a:off x="6451534" y="2460625"/>
            <a:ext cx="355534" cy="355534"/>
          </a:xfrm>
          <a:prstGeom prst="rect">
            <a:avLst/>
          </a:prstGeom>
        </p:spPr>
      </p:pic>
      <p:sp>
        <p:nvSpPr>
          <p:cNvPr id="11" name="Text 7"/>
          <p:cNvSpPr/>
          <p:nvPr/>
        </p:nvSpPr>
        <p:spPr>
          <a:xfrm>
            <a:off x="6451534" y="2917689"/>
            <a:ext cx="4813740" cy="57408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A1A1A"/>
                </a:solidFill>
                <a:latin typeface="Source Sans 3" pitchFamily="34" charset="0"/>
                <a:ea typeface="Source Sans 3" pitchFamily="34" charset="-122"/>
                <a:cs typeface="Source Sans 3" pitchFamily="34" charset="-120"/>
              </a:rPr>
              <a:t>La valoración de la prueba exige reconocer los contextos de discriminación estructural</a:t>
            </a:r>
            <a:endParaRPr lang="en-US" sz="1600" dirty="0"/>
          </a:p>
        </p:txBody>
      </p:sp>
      <p:sp>
        <p:nvSpPr>
          <p:cNvPr id="12" name="Shape 8"/>
          <p:cNvSpPr/>
          <p:nvPr/>
        </p:nvSpPr>
        <p:spPr>
          <a:xfrm>
            <a:off x="812767" y="4076650"/>
            <a:ext cx="5181534" cy="1714500"/>
          </a:xfrm>
          <a:prstGeom prst="rect">
            <a:avLst/>
          </a:prstGeom>
          <a:solidFill>
            <a:srgbClr val="F3F3F3"/>
          </a:solidFill>
          <a:ln/>
        </p:spPr>
      </p:sp>
      <p:sp>
        <p:nvSpPr>
          <p:cNvPr id="13" name="Shape 9"/>
          <p:cNvSpPr/>
          <p:nvPr/>
        </p:nvSpPr>
        <p:spPr>
          <a:xfrm>
            <a:off x="812767" y="4102050"/>
            <a:ext cx="5181534" cy="0"/>
          </a:xfrm>
          <a:prstGeom prst="line">
            <a:avLst/>
          </a:prstGeom>
          <a:noFill/>
          <a:ln w="50800">
            <a:solidFill>
              <a:srgbClr val="156082"/>
            </a:solidFill>
            <a:prstDash val="solid"/>
          </a:ln>
        </p:spPr>
      </p:sp>
      <p:pic>
        <p:nvPicPr>
          <p:cNvPr id="14" name="Image 2" descr="Warning">    </p:cNvPr>
          <p:cNvPicPr>
            <a:picLocks noChangeAspect="1"/>
          </p:cNvPicPr>
          <p:nvPr/>
        </p:nvPicPr>
        <p:blipFill>
          <a:blip r:embed="rId3"/>
          <a:srcRect l="0" r="0" t="0" b="0"/>
          <a:stretch/>
        </p:blipFill>
        <p:spPr>
          <a:xfrm>
            <a:off x="1066767" y="4378275"/>
            <a:ext cx="355534" cy="355534"/>
          </a:xfrm>
          <a:prstGeom prst="rect">
            <a:avLst/>
          </a:prstGeom>
        </p:spPr>
      </p:pic>
      <p:sp>
        <p:nvSpPr>
          <p:cNvPr id="15" name="Text 10"/>
          <p:cNvSpPr/>
          <p:nvPr/>
        </p:nvSpPr>
        <p:spPr>
          <a:xfrm>
            <a:off x="1066767" y="4835339"/>
            <a:ext cx="4813740" cy="57408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A1A1A"/>
                </a:solidFill>
                <a:latin typeface="Source Sans 3" pitchFamily="34" charset="0"/>
                <a:ea typeface="Source Sans 3" pitchFamily="34" charset="-122"/>
                <a:cs typeface="Source Sans 3" pitchFamily="34" charset="-120"/>
              </a:rPr>
              <a:t>Deber judicial obligatorio en casos de personas en situación de vulnerabilidad histórica</a:t>
            </a:r>
            <a:endParaRPr lang="en-US" sz="1600" dirty="0"/>
          </a:p>
        </p:txBody>
      </p:sp>
      <p:sp>
        <p:nvSpPr>
          <p:cNvPr id="16" name="Shape 11"/>
          <p:cNvSpPr/>
          <p:nvPr/>
        </p:nvSpPr>
        <p:spPr>
          <a:xfrm>
            <a:off x="6197534" y="4076650"/>
            <a:ext cx="5181534" cy="1714500"/>
          </a:xfrm>
          <a:prstGeom prst="rect">
            <a:avLst/>
          </a:prstGeom>
          <a:solidFill>
            <a:srgbClr val="F3F3F3"/>
          </a:solidFill>
          <a:ln/>
        </p:spPr>
      </p:sp>
      <p:sp>
        <p:nvSpPr>
          <p:cNvPr id="17" name="Shape 12"/>
          <p:cNvSpPr/>
          <p:nvPr/>
        </p:nvSpPr>
        <p:spPr>
          <a:xfrm>
            <a:off x="6197534" y="4102050"/>
            <a:ext cx="5181534" cy="0"/>
          </a:xfrm>
          <a:prstGeom prst="line">
            <a:avLst/>
          </a:prstGeom>
          <a:noFill/>
          <a:ln w="50800">
            <a:solidFill>
              <a:srgbClr val="156082"/>
            </a:solidFill>
            <a:prstDash val="solid"/>
          </a:ln>
        </p:spPr>
      </p:sp>
      <p:pic>
        <p:nvPicPr>
          <p:cNvPr id="18" name="Image 3" descr="Trust">    </p:cNvPr>
          <p:cNvPicPr>
            <a:picLocks noChangeAspect="1"/>
          </p:cNvPicPr>
          <p:nvPr/>
        </p:nvPicPr>
        <p:blipFill>
          <a:blip r:embed="rId4"/>
          <a:srcRect l="0" r="0" t="0" b="0"/>
          <a:stretch/>
        </p:blipFill>
        <p:spPr>
          <a:xfrm>
            <a:off x="6451534" y="4378275"/>
            <a:ext cx="355534" cy="355534"/>
          </a:xfrm>
          <a:prstGeom prst="rect">
            <a:avLst/>
          </a:prstGeom>
        </p:spPr>
      </p:pic>
      <p:sp>
        <p:nvSpPr>
          <p:cNvPr id="19" name="Text 13"/>
          <p:cNvSpPr/>
          <p:nvPr/>
        </p:nvSpPr>
        <p:spPr>
          <a:xfrm>
            <a:off x="6451534" y="4835339"/>
            <a:ext cx="4813740" cy="57408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A1A1A"/>
                </a:solidFill>
                <a:latin typeface="Source Sans 3" pitchFamily="34" charset="0"/>
                <a:ea typeface="Source Sans 3" pitchFamily="34" charset="-122"/>
                <a:cs typeface="Source Sans 3" pitchFamily="34" charset="-120"/>
              </a:rPr>
              <a:t>Evitar la revictimización y garantizar la igualdad material</a:t>
            </a:r>
            <a:endParaRPr lang="en-US" sz="1600" dirty="0"/>
          </a:p>
        </p:txBody>
      </p:sp>
      <p:sp>
        <p:nvSpPr>
          <p:cNvPr id="20" name="Text 14"/>
          <p:cNvSpPr/>
          <p:nvPr/>
        </p:nvSpPr>
        <p:spPr>
          <a:xfrm>
            <a:off x="7454933" y="6238292"/>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Hinestroza Cuesta · UTCH</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7" presetID="42" presetClass="entr" presetSubtype="0"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600"/>
                                        <p:tgtEl>
                                          <p:spTgt spid="5"/>
                                        </p:tgtEl>
                                      </p:cBhvr>
                                    </p:animEffect>
                                    <p:anim calcmode="lin" valueType="num">
                                      <p:cBhvr>
                                        <p:cTn id="5" dur="600" decel="100000" fill="hold"/>
                                        <p:tgtEl>
                                          <p:spTgt spid="5"/>
                                        </p:tgtEl>
                                        <p:attrNameLst>
                                          <p:attrName>ppt_x</p:attrName>
                                        </p:attrNameLst>
                                      </p:cBhvr>
                                      <p:tavLst>
                                        <p:tav tm="0">
                                          <p:val>
                                            <p:strVal val="#ppt_x"/>
                                          </p:val>
                                        </p:tav>
                                        <p:tav tm="100000">
                                          <p:val>
                                            <p:strVal val="#ppt_x"/>
                                          </p:val>
                                        </p:tav>
                                      </p:tavLst>
                                    </p:anim>
                                    <p:anim calcmode="lin" valueType="num">
                                      <p:cBhvr>
                                        <p:cTn id="6" dur="600" decel="100000" fill="hold"/>
                                        <p:tgtEl>
                                          <p:spTgt spid="5"/>
                                        </p:tgtEl>
                                        <p:attrNameLst>
                                          <p:attrName>ppt_y</p:attrName>
                                        </p:attrNameLst>
                                      </p:cBhvr>
                                      <p:tavLst>
                                        <p:tav tm="0">
                                          <p:val>
                                            <p:strVal val="#ppt_y+.06"/>
                                          </p:val>
                                        </p:tav>
                                        <p:tav tm="100000">
                                          <p:val>
                                            <p:strVal val="#ppt_y"/>
                                          </p:val>
                                        </p:tav>
                                      </p:tavLst>
                                    </p:anim>
                                  </p:childTnLst>
                                </p:cTn>
                              </p:par>
                              <p:par>
                                <p:cTn id="12" presetID="42"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600"/>
                                        <p:tgtEl>
                                          <p:spTgt spid="6"/>
                                        </p:tgtEl>
                                      </p:cBhvr>
                                    </p:animEffect>
                                    <p:anim calcmode="lin" valueType="num">
                                      <p:cBhvr>
                                        <p:cTn id="10" dur="600" decel="100000" fill="hold"/>
                                        <p:tgtEl>
                                          <p:spTgt spid="6"/>
                                        </p:tgtEl>
                                        <p:attrNameLst>
                                          <p:attrName>ppt_x</p:attrName>
                                        </p:attrNameLst>
                                      </p:cBhvr>
                                      <p:tavLst>
                                        <p:tav tm="0">
                                          <p:val>
                                            <p:strVal val="#ppt_x"/>
                                          </p:val>
                                        </p:tav>
                                        <p:tav tm="100000">
                                          <p:val>
                                            <p:strVal val="#ppt_x"/>
                                          </p:val>
                                        </p:tav>
                                      </p:tavLst>
                                    </p:anim>
                                    <p:anim calcmode="lin" valueType="num">
                                      <p:cBhvr>
                                        <p:cTn id="11" dur="600" decel="100000" fill="hold"/>
                                        <p:tgtEl>
                                          <p:spTgt spid="6"/>
                                        </p:tgtEl>
                                        <p:attrNameLst>
                                          <p:attrName>ppt_y</p:attrName>
                                        </p:attrNameLst>
                                      </p:cBhvr>
                                      <p:tavLst>
                                        <p:tav tm="0">
                                          <p:val>
                                            <p:strVal val="#ppt_y+.06"/>
                                          </p:val>
                                        </p:tav>
                                        <p:tav tm="100000">
                                          <p:val>
                                            <p:strVal val="#ppt_y"/>
                                          </p:val>
                                        </p:tav>
                                      </p:tavLst>
                                    </p:anim>
                                  </p:childTnLst>
                                </p:cTn>
                              </p:par>
                              <p:par>
                                <p:cTn id="17" presetID="42"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600"/>
                                        <p:tgtEl>
                                          <p:spTgt spid="7"/>
                                        </p:tgtEl>
                                      </p:cBhvr>
                                    </p:animEffect>
                                    <p:anim calcmode="lin" valueType="num">
                                      <p:cBhvr>
                                        <p:cTn id="15" dur="600" decel="100000" fill="hold"/>
                                        <p:tgtEl>
                                          <p:spTgt spid="7"/>
                                        </p:tgtEl>
                                        <p:attrNameLst>
                                          <p:attrName>ppt_x</p:attrName>
                                        </p:attrNameLst>
                                      </p:cBhvr>
                                      <p:tavLst>
                                        <p:tav tm="0">
                                          <p:val>
                                            <p:strVal val="#ppt_x"/>
                                          </p:val>
                                        </p:tav>
                                        <p:tav tm="100000">
                                          <p:val>
                                            <p:strVal val="#ppt_x"/>
                                          </p:val>
                                        </p:tav>
                                      </p:tavLst>
                                    </p:anim>
                                    <p:anim calcmode="lin" valueType="num">
                                      <p:cBhvr>
                                        <p:cTn id="16" dur="600" decel="100000" fill="hold"/>
                                        <p:tgtEl>
                                          <p:spTgt spid="7"/>
                                        </p:tgtEl>
                                        <p:attrNameLst>
                                          <p:attrName>ppt_y</p:attrName>
                                        </p:attrNameLst>
                                      </p:cBhvr>
                                      <p:tavLst>
                                        <p:tav tm="0">
                                          <p:val>
                                            <p:strVal val="#ppt_y+.06"/>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24"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anim calcmode="lin" valueType="num">
                                      <p:cBhvr>
                                        <p:cTn id="22" dur="600" decel="100000" fill="hold"/>
                                        <p:tgtEl>
                                          <p:spTgt spid="8"/>
                                        </p:tgtEl>
                                        <p:attrNameLst>
                                          <p:attrName>ppt_x</p:attrName>
                                        </p:attrNameLst>
                                      </p:cBhvr>
                                      <p:tavLst>
                                        <p:tav tm="0">
                                          <p:val>
                                            <p:strVal val="#ppt_x"/>
                                          </p:val>
                                        </p:tav>
                                        <p:tav tm="100000">
                                          <p:val>
                                            <p:strVal val="#ppt_x"/>
                                          </p:val>
                                        </p:tav>
                                      </p:tavLst>
                                    </p:anim>
                                    <p:anim calcmode="lin" valueType="num">
                                      <p:cBhvr>
                                        <p:cTn id="23" dur="600" decel="100000" fill="hold"/>
                                        <p:tgtEl>
                                          <p:spTgt spid="8"/>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600"/>
                                        <p:tgtEl>
                                          <p:spTgt spid="9"/>
                                        </p:tgtEl>
                                      </p:cBhvr>
                                    </p:animEffect>
                                    <p:anim calcmode="lin" valueType="num">
                                      <p:cBhvr>
                                        <p:cTn id="27" dur="600" decel="100000" fill="hold"/>
                                        <p:tgtEl>
                                          <p:spTgt spid="9"/>
                                        </p:tgtEl>
                                        <p:attrNameLst>
                                          <p:attrName>ppt_x</p:attrName>
                                        </p:attrNameLst>
                                      </p:cBhvr>
                                      <p:tavLst>
                                        <p:tav tm="0">
                                          <p:val>
                                            <p:strVal val="#ppt_x"/>
                                          </p:val>
                                        </p:tav>
                                        <p:tav tm="100000">
                                          <p:val>
                                            <p:strVal val="#ppt_x"/>
                                          </p:val>
                                        </p:tav>
                                      </p:tavLst>
                                    </p:anim>
                                    <p:anim calcmode="lin" valueType="num">
                                      <p:cBhvr>
                                        <p:cTn id="28" dur="600" decel="100000" fill="hold"/>
                                        <p:tgtEl>
                                          <p:spTgt spid="9"/>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600"/>
                                        <p:tgtEl>
                                          <p:spTgt spid="10"/>
                                        </p:tgtEl>
                                      </p:cBhvr>
                                    </p:animEffect>
                                    <p:anim calcmode="lin" valueType="num">
                                      <p:cBhvr>
                                        <p:cTn id="32" dur="600" decel="100000" fill="hold"/>
                                        <p:tgtEl>
                                          <p:spTgt spid="10"/>
                                        </p:tgtEl>
                                        <p:attrNameLst>
                                          <p:attrName>ppt_x</p:attrName>
                                        </p:attrNameLst>
                                      </p:cBhvr>
                                      <p:tavLst>
                                        <p:tav tm="0">
                                          <p:val>
                                            <p:strVal val="#ppt_x"/>
                                          </p:val>
                                        </p:tav>
                                        <p:tav tm="100000">
                                          <p:val>
                                            <p:strVal val="#ppt_x"/>
                                          </p:val>
                                        </p:tav>
                                      </p:tavLst>
                                    </p:anim>
                                    <p:anim calcmode="lin" valueType="num">
                                      <p:cBhvr>
                                        <p:cTn id="33" dur="600" decel="100000" fill="hold"/>
                                        <p:tgtEl>
                                          <p:spTgt spid="10"/>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600"/>
                                        <p:tgtEl>
                                          <p:spTgt spid="11"/>
                                        </p:tgtEl>
                                      </p:cBhvr>
                                    </p:animEffect>
                                    <p:anim calcmode="lin" valueType="num">
                                      <p:cBhvr>
                                        <p:cTn id="37" dur="600" decel="100000" fill="hold"/>
                                        <p:tgtEl>
                                          <p:spTgt spid="11"/>
                                        </p:tgtEl>
                                        <p:attrNameLst>
                                          <p:attrName>ppt_x</p:attrName>
                                        </p:attrNameLst>
                                      </p:cBhvr>
                                      <p:tavLst>
                                        <p:tav tm="0">
                                          <p:val>
                                            <p:strVal val="#ppt_x"/>
                                          </p:val>
                                        </p:tav>
                                        <p:tav tm="100000">
                                          <p:val>
                                            <p:strVal val="#ppt_x"/>
                                          </p:val>
                                        </p:tav>
                                      </p:tavLst>
                                    </p:anim>
                                    <p:anim calcmode="lin" valueType="num">
                                      <p:cBhvr>
                                        <p:cTn id="38" dur="600" decel="100000" fill="hold"/>
                                        <p:tgtEl>
                                          <p:spTgt spid="11"/>
                                        </p:tgtEl>
                                        <p:attrNameLst>
                                          <p:attrName>ppt_y</p:attrName>
                                        </p:attrNameLst>
                                      </p:cBhvr>
                                      <p:tavLst>
                                        <p:tav tm="0">
                                          <p:val>
                                            <p:strVal val="#ppt_y+.06"/>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46" presetID="42"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600"/>
                                        <p:tgtEl>
                                          <p:spTgt spid="12"/>
                                        </p:tgtEl>
                                      </p:cBhvr>
                                    </p:animEffect>
                                    <p:anim calcmode="lin" valueType="num">
                                      <p:cBhvr>
                                        <p:cTn id="44" dur="600" decel="100000" fill="hold"/>
                                        <p:tgtEl>
                                          <p:spTgt spid="12"/>
                                        </p:tgtEl>
                                        <p:attrNameLst>
                                          <p:attrName>ppt_x</p:attrName>
                                        </p:attrNameLst>
                                      </p:cBhvr>
                                      <p:tavLst>
                                        <p:tav tm="0">
                                          <p:val>
                                            <p:strVal val="#ppt_x"/>
                                          </p:val>
                                        </p:tav>
                                        <p:tav tm="100000">
                                          <p:val>
                                            <p:strVal val="#ppt_x"/>
                                          </p:val>
                                        </p:tav>
                                      </p:tavLst>
                                    </p:anim>
                                    <p:anim calcmode="lin" valueType="num">
                                      <p:cBhvr>
                                        <p:cTn id="45" dur="600" decel="100000" fill="hold"/>
                                        <p:tgtEl>
                                          <p:spTgt spid="12"/>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600"/>
                                        <p:tgtEl>
                                          <p:spTgt spid="13"/>
                                        </p:tgtEl>
                                      </p:cBhvr>
                                    </p:animEffect>
                                    <p:anim calcmode="lin" valueType="num">
                                      <p:cBhvr>
                                        <p:cTn id="49" dur="600" decel="100000" fill="hold"/>
                                        <p:tgtEl>
                                          <p:spTgt spid="13"/>
                                        </p:tgtEl>
                                        <p:attrNameLst>
                                          <p:attrName>ppt_x</p:attrName>
                                        </p:attrNameLst>
                                      </p:cBhvr>
                                      <p:tavLst>
                                        <p:tav tm="0">
                                          <p:val>
                                            <p:strVal val="#ppt_x"/>
                                          </p:val>
                                        </p:tav>
                                        <p:tav tm="100000">
                                          <p:val>
                                            <p:strVal val="#ppt_x"/>
                                          </p:val>
                                        </p:tav>
                                      </p:tavLst>
                                    </p:anim>
                                    <p:anim calcmode="lin" valueType="num">
                                      <p:cBhvr>
                                        <p:cTn id="50" dur="600" decel="100000" fill="hold"/>
                                        <p:tgtEl>
                                          <p:spTgt spid="13"/>
                                        </p:tgtEl>
                                        <p:attrNameLst>
                                          <p:attrName>ppt_y</p:attrName>
                                        </p:attrNameLst>
                                      </p:cBhvr>
                                      <p:tavLst>
                                        <p:tav tm="0">
                                          <p:val>
                                            <p:strVal val="#ppt_y+.06"/>
                                          </p:val>
                                        </p:tav>
                                        <p:tav tm="100000">
                                          <p:val>
                                            <p:strVal val="#ppt_y"/>
                                          </p:val>
                                        </p:tav>
                                      </p:tavLst>
                                    </p:anim>
                                  </p:childTnLst>
                                </p:cTn>
                              </p:par>
                              <p:par>
                                <p:cTn id="56" presetID="42"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600"/>
                                        <p:tgtEl>
                                          <p:spTgt spid="14"/>
                                        </p:tgtEl>
                                      </p:cBhvr>
                                    </p:animEffect>
                                    <p:anim calcmode="lin" valueType="num">
                                      <p:cBhvr>
                                        <p:cTn id="54" dur="600" decel="100000" fill="hold"/>
                                        <p:tgtEl>
                                          <p:spTgt spid="14"/>
                                        </p:tgtEl>
                                        <p:attrNameLst>
                                          <p:attrName>ppt_x</p:attrName>
                                        </p:attrNameLst>
                                      </p:cBhvr>
                                      <p:tavLst>
                                        <p:tav tm="0">
                                          <p:val>
                                            <p:strVal val="#ppt_x"/>
                                          </p:val>
                                        </p:tav>
                                        <p:tav tm="100000">
                                          <p:val>
                                            <p:strVal val="#ppt_x"/>
                                          </p:val>
                                        </p:tav>
                                      </p:tavLst>
                                    </p:anim>
                                    <p:anim calcmode="lin" valueType="num">
                                      <p:cBhvr>
                                        <p:cTn id="55" dur="600" decel="100000" fill="hold"/>
                                        <p:tgtEl>
                                          <p:spTgt spid="14"/>
                                        </p:tgtEl>
                                        <p:attrNameLst>
                                          <p:attrName>ppt_y</p:attrName>
                                        </p:attrNameLst>
                                      </p:cBhvr>
                                      <p:tavLst>
                                        <p:tav tm="0">
                                          <p:val>
                                            <p:strVal val="#ppt_y+.06"/>
                                          </p:val>
                                        </p:tav>
                                        <p:tav tm="100000">
                                          <p:val>
                                            <p:strVal val="#ppt_y"/>
                                          </p:val>
                                        </p:tav>
                                      </p:tavLst>
                                    </p:anim>
                                  </p:childTnLst>
                                </p:cTn>
                              </p:par>
                              <p:par>
                                <p:cTn id="61" presetID="42"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600"/>
                                        <p:tgtEl>
                                          <p:spTgt spid="15"/>
                                        </p:tgtEl>
                                      </p:cBhvr>
                                    </p:animEffect>
                                    <p:anim calcmode="lin" valueType="num">
                                      <p:cBhvr>
                                        <p:cTn id="59" dur="600" decel="100000" fill="hold"/>
                                        <p:tgtEl>
                                          <p:spTgt spid="15"/>
                                        </p:tgtEl>
                                        <p:attrNameLst>
                                          <p:attrName>ppt_x</p:attrName>
                                        </p:attrNameLst>
                                      </p:cBhvr>
                                      <p:tavLst>
                                        <p:tav tm="0">
                                          <p:val>
                                            <p:strVal val="#ppt_x"/>
                                          </p:val>
                                        </p:tav>
                                        <p:tav tm="100000">
                                          <p:val>
                                            <p:strVal val="#ppt_x"/>
                                          </p:val>
                                        </p:tav>
                                      </p:tavLst>
                                    </p:anim>
                                    <p:anim calcmode="lin" valueType="num">
                                      <p:cBhvr>
                                        <p:cTn id="60" dur="600" decel="100000" fill="hold"/>
                                        <p:tgtEl>
                                          <p:spTgt spid="15"/>
                                        </p:tgtEl>
                                        <p:attrNameLst>
                                          <p:attrName>ppt_y</p:attrName>
                                        </p:attrNameLst>
                                      </p:cBhvr>
                                      <p:tavLst>
                                        <p:tav tm="0">
                                          <p:val>
                                            <p:strVal val="#ppt_y+.06"/>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68" presetID="42" presetClass="entr" presetSubtype="0" fill="hold" grpId="0" nodeType="click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600"/>
                                        <p:tgtEl>
                                          <p:spTgt spid="16"/>
                                        </p:tgtEl>
                                      </p:cBhvr>
                                    </p:animEffect>
                                    <p:anim calcmode="lin" valueType="num">
                                      <p:cBhvr>
                                        <p:cTn id="66" dur="600" decel="100000" fill="hold"/>
                                        <p:tgtEl>
                                          <p:spTgt spid="16"/>
                                        </p:tgtEl>
                                        <p:attrNameLst>
                                          <p:attrName>ppt_x</p:attrName>
                                        </p:attrNameLst>
                                      </p:cBhvr>
                                      <p:tavLst>
                                        <p:tav tm="0">
                                          <p:val>
                                            <p:strVal val="#ppt_x"/>
                                          </p:val>
                                        </p:tav>
                                        <p:tav tm="100000">
                                          <p:val>
                                            <p:strVal val="#ppt_x"/>
                                          </p:val>
                                        </p:tav>
                                      </p:tavLst>
                                    </p:anim>
                                    <p:anim calcmode="lin" valueType="num">
                                      <p:cBhvr>
                                        <p:cTn id="67" dur="600" decel="100000" fill="hold"/>
                                        <p:tgtEl>
                                          <p:spTgt spid="16"/>
                                        </p:tgtEl>
                                        <p:attrNameLst>
                                          <p:attrName>ppt_y</p:attrName>
                                        </p:attrNameLst>
                                      </p:cBhvr>
                                      <p:tavLst>
                                        <p:tav tm="0">
                                          <p:val>
                                            <p:strVal val="#ppt_y+.06"/>
                                          </p:val>
                                        </p:tav>
                                        <p:tav tm="100000">
                                          <p:val>
                                            <p:strVal val="#ppt_y"/>
                                          </p:val>
                                        </p:tav>
                                      </p:tavLst>
                                    </p:anim>
                                  </p:childTnLst>
                                </p:cTn>
                              </p:par>
                              <p:par>
                                <p:cTn id="73" presetID="42" presetClass="entr" presetSubtype="0"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600"/>
                                        <p:tgtEl>
                                          <p:spTgt spid="17"/>
                                        </p:tgtEl>
                                      </p:cBhvr>
                                    </p:animEffect>
                                    <p:anim calcmode="lin" valueType="num">
                                      <p:cBhvr>
                                        <p:cTn id="71" dur="600" decel="100000" fill="hold"/>
                                        <p:tgtEl>
                                          <p:spTgt spid="17"/>
                                        </p:tgtEl>
                                        <p:attrNameLst>
                                          <p:attrName>ppt_x</p:attrName>
                                        </p:attrNameLst>
                                      </p:cBhvr>
                                      <p:tavLst>
                                        <p:tav tm="0">
                                          <p:val>
                                            <p:strVal val="#ppt_x"/>
                                          </p:val>
                                        </p:tav>
                                        <p:tav tm="100000">
                                          <p:val>
                                            <p:strVal val="#ppt_x"/>
                                          </p:val>
                                        </p:tav>
                                      </p:tavLst>
                                    </p:anim>
                                    <p:anim calcmode="lin" valueType="num">
                                      <p:cBhvr>
                                        <p:cTn id="72" dur="600" decel="100000" fill="hold"/>
                                        <p:tgtEl>
                                          <p:spTgt spid="17"/>
                                        </p:tgtEl>
                                        <p:attrNameLst>
                                          <p:attrName>ppt_y</p:attrName>
                                        </p:attrNameLst>
                                      </p:cBhvr>
                                      <p:tavLst>
                                        <p:tav tm="0">
                                          <p:val>
                                            <p:strVal val="#ppt_y+.06"/>
                                          </p:val>
                                        </p:tav>
                                        <p:tav tm="100000">
                                          <p:val>
                                            <p:strVal val="#ppt_y"/>
                                          </p:val>
                                        </p:tav>
                                      </p:tavLst>
                                    </p:anim>
                                  </p:childTnLst>
                                </p:cTn>
                              </p:par>
                              <p:par>
                                <p:cTn id="78" presetID="42" presetClass="entr" presetSubtype="0"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600"/>
                                        <p:tgtEl>
                                          <p:spTgt spid="18"/>
                                        </p:tgtEl>
                                      </p:cBhvr>
                                    </p:animEffect>
                                    <p:anim calcmode="lin" valueType="num">
                                      <p:cBhvr>
                                        <p:cTn id="76" dur="600" decel="100000" fill="hold"/>
                                        <p:tgtEl>
                                          <p:spTgt spid="18"/>
                                        </p:tgtEl>
                                        <p:attrNameLst>
                                          <p:attrName>ppt_x</p:attrName>
                                        </p:attrNameLst>
                                      </p:cBhvr>
                                      <p:tavLst>
                                        <p:tav tm="0">
                                          <p:val>
                                            <p:strVal val="#ppt_x"/>
                                          </p:val>
                                        </p:tav>
                                        <p:tav tm="100000">
                                          <p:val>
                                            <p:strVal val="#ppt_x"/>
                                          </p:val>
                                        </p:tav>
                                      </p:tavLst>
                                    </p:anim>
                                    <p:anim calcmode="lin" valueType="num">
                                      <p:cBhvr>
                                        <p:cTn id="77" dur="600" decel="100000" fill="hold"/>
                                        <p:tgtEl>
                                          <p:spTgt spid="18"/>
                                        </p:tgtEl>
                                        <p:attrNameLst>
                                          <p:attrName>ppt_y</p:attrName>
                                        </p:attrNameLst>
                                      </p:cBhvr>
                                      <p:tavLst>
                                        <p:tav tm="0">
                                          <p:val>
                                            <p:strVal val="#ppt_y+.06"/>
                                          </p:val>
                                        </p:tav>
                                        <p:tav tm="100000">
                                          <p:val>
                                            <p:strVal val="#ppt_y"/>
                                          </p:val>
                                        </p:tav>
                                      </p:tavLst>
                                    </p:anim>
                                  </p:childTnLst>
                                </p:cTn>
                              </p:par>
                              <p:par>
                                <p:cTn id="83" presetID="42" presetClass="entr" presetSubtype="0" fill="hold" grpId="0" nodeType="withEffect">
                                  <p:stCondLst>
                                    <p:cond delay="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600"/>
                                        <p:tgtEl>
                                          <p:spTgt spid="19"/>
                                        </p:tgtEl>
                                      </p:cBhvr>
                                    </p:animEffect>
                                    <p:anim calcmode="lin" valueType="num">
                                      <p:cBhvr>
                                        <p:cTn id="81" dur="600" decel="100000" fill="hold"/>
                                        <p:tgtEl>
                                          <p:spTgt spid="19"/>
                                        </p:tgtEl>
                                        <p:attrNameLst>
                                          <p:attrName>ppt_x</p:attrName>
                                        </p:attrNameLst>
                                      </p:cBhvr>
                                      <p:tavLst>
                                        <p:tav tm="0">
                                          <p:val>
                                            <p:strVal val="#ppt_x"/>
                                          </p:val>
                                        </p:tav>
                                        <p:tav tm="100000">
                                          <p:val>
                                            <p:strVal val="#ppt_x"/>
                                          </p:val>
                                        </p:tav>
                                      </p:tavLst>
                                    </p:anim>
                                    <p:anim calcmode="lin" valueType="num">
                                      <p:cBhvr>
                                        <p:cTn id="82" dur="600" decel="100000" fill="hold"/>
                                        <p:tgtEl>
                                          <p:spTgt spid="19"/>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1" grpId="0" animBg="1"/>
      <p:bldP spid="12" grpId="0" animBg="1"/>
      <p:bldP spid="13" grpId="0" animBg="1"/>
      <p:bldP spid="15" grpId="0" animBg="1"/>
      <p:bldP spid="16" grpId="0" animBg="1"/>
      <p:bldP spid="17" grpId="0" animBg="1"/>
      <p:bldP spid="1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¿PARA QUÉ?</a:t>
            </a:r>
            <a:endParaRPr lang="en-US" sz="1200" dirty="0"/>
          </a:p>
        </p:txBody>
      </p:sp>
      <p:sp>
        <p:nvSpPr>
          <p:cNvPr id="3" name="Text 1"/>
          <p:cNvSpPr/>
          <p:nvPr>
            <p:ph type="title"/>
          </p:nvPr>
        </p:nvSpPr>
        <p:spPr>
          <a:xfrm>
            <a:off x="812767" y="112762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1A1A"/>
                </a:solidFill>
                <a:latin typeface="Source Sans 3" pitchFamily="34" charset="0"/>
                <a:ea typeface="Source Sans 3" pitchFamily="34" charset="-122"/>
                <a:cs typeface="Source Sans 3" pitchFamily="34" charset="-120"/>
              </a:rPr>
              <a:t>Una herramienta de transformación</a:t>
            </a:r>
            <a:endParaRPr lang="en-US" sz="3200" dirty="0"/>
          </a:p>
        </p:txBody>
      </p:sp>
      <p:sp>
        <p:nvSpPr>
          <p:cNvPr id="4" name="Shape 2"/>
          <p:cNvSpPr/>
          <p:nvPr/>
        </p:nvSpPr>
        <p:spPr>
          <a:xfrm>
            <a:off x="812767" y="1676127"/>
            <a:ext cx="762000" cy="50767"/>
          </a:xfrm>
          <a:prstGeom prst="rect">
            <a:avLst/>
          </a:prstGeom>
          <a:solidFill>
            <a:srgbClr val="FC8400"/>
          </a:solidFill>
          <a:ln/>
        </p:spPr>
      </p:sp>
      <p:sp>
        <p:nvSpPr>
          <p:cNvPr id="5" name="Text 3"/>
          <p:cNvSpPr/>
          <p:nvPr/>
        </p:nvSpPr>
        <p:spPr>
          <a:xfrm>
            <a:off x="812767" y="2031665"/>
            <a:ext cx="3420566" cy="1086859"/>
          </a:xfrm>
          <a:prstGeom prst="rect">
            <a:avLst/>
          </a:prstGeom>
          <a:solidFill>
            <a:srgbClr val="F3F3F3"/>
          </a:solidFill>
          <a:ln/>
        </p:spPr>
        <p:txBody>
          <a:bodyPr wrap="square" lIns="177800" tIns="214842" rIns="85851" bIns="152400" rtlCol="0" anchor="t">
            <a:normAutofit/>
          </a:bodyPr>
          <a:lstStyle/>
          <a:p>
            <a:pPr algn="l" indent="0" marL="0">
              <a:lnSpc>
                <a:spcPts val="1823"/>
              </a:lnSpc>
              <a:buNone/>
            </a:pPr>
            <a:r>
              <a:rPr lang="en-US" sz="1350" dirty="0">
                <a:solidFill>
                  <a:srgbClr val="1A1A1A"/>
                </a:solidFill>
                <a:latin typeface="Source Sans 3" pitchFamily="34" charset="0"/>
                <a:ea typeface="Source Sans 3" pitchFamily="34" charset="-122"/>
                <a:cs typeface="Source Sans 3" pitchFamily="34" charset="-120"/>
              </a:rPr>
              <a:t>Definir estrategias y medidas de acción colectiva</a:t>
            </a:r>
            <a:endParaRPr lang="en-US" sz="1350" dirty="0"/>
          </a:p>
        </p:txBody>
      </p:sp>
      <p:sp>
        <p:nvSpPr>
          <p:cNvPr id="6" name="Shape 4"/>
          <p:cNvSpPr/>
          <p:nvPr/>
        </p:nvSpPr>
        <p:spPr>
          <a:xfrm>
            <a:off x="812767" y="2050715"/>
            <a:ext cx="3420566" cy="0"/>
          </a:xfrm>
          <a:prstGeom prst="line">
            <a:avLst/>
          </a:prstGeom>
          <a:noFill/>
          <a:ln w="38100">
            <a:solidFill>
              <a:srgbClr val="156082"/>
            </a:solidFill>
            <a:prstDash val="solid"/>
          </a:ln>
        </p:spPr>
      </p:sp>
      <p:sp>
        <p:nvSpPr>
          <p:cNvPr id="7" name="Text 5"/>
          <p:cNvSpPr/>
          <p:nvPr/>
        </p:nvSpPr>
        <p:spPr>
          <a:xfrm>
            <a:off x="4385717" y="2031665"/>
            <a:ext cx="3420566" cy="1086859"/>
          </a:xfrm>
          <a:prstGeom prst="rect">
            <a:avLst/>
          </a:prstGeom>
          <a:solidFill>
            <a:srgbClr val="F3F3F3"/>
          </a:solidFill>
          <a:ln/>
        </p:spPr>
        <p:txBody>
          <a:bodyPr wrap="square" lIns="177800" tIns="214842" rIns="85851" bIns="152400" rtlCol="0" anchor="t">
            <a:normAutofit/>
          </a:bodyPr>
          <a:lstStyle/>
          <a:p>
            <a:pPr algn="l" indent="0" marL="0">
              <a:lnSpc>
                <a:spcPts val="1823"/>
              </a:lnSpc>
              <a:buNone/>
            </a:pPr>
            <a:r>
              <a:rPr lang="en-US" sz="1350" dirty="0">
                <a:solidFill>
                  <a:srgbClr val="1A1A1A"/>
                </a:solidFill>
                <a:latin typeface="Source Sans 3" pitchFamily="34" charset="0"/>
                <a:ea typeface="Source Sans 3" pitchFamily="34" charset="-122"/>
                <a:cs typeface="Source Sans 3" pitchFamily="34" charset="-120"/>
              </a:rPr>
              <a:t>Definir políticas públicas para cerrar brechas de desigualdad, exclusión y desventaja</a:t>
            </a:r>
            <a:endParaRPr lang="en-US" sz="1350" dirty="0"/>
          </a:p>
        </p:txBody>
      </p:sp>
      <p:sp>
        <p:nvSpPr>
          <p:cNvPr id="8" name="Shape 6"/>
          <p:cNvSpPr/>
          <p:nvPr/>
        </p:nvSpPr>
        <p:spPr>
          <a:xfrm>
            <a:off x="4385717" y="2050715"/>
            <a:ext cx="3420566" cy="0"/>
          </a:xfrm>
          <a:prstGeom prst="line">
            <a:avLst/>
          </a:prstGeom>
          <a:noFill/>
          <a:ln w="38100">
            <a:solidFill>
              <a:srgbClr val="156082"/>
            </a:solidFill>
            <a:prstDash val="solid"/>
          </a:ln>
        </p:spPr>
      </p:sp>
      <p:sp>
        <p:nvSpPr>
          <p:cNvPr id="9" name="Text 7"/>
          <p:cNvSpPr/>
          <p:nvPr/>
        </p:nvSpPr>
        <p:spPr>
          <a:xfrm>
            <a:off x="7958666" y="2031665"/>
            <a:ext cx="3420566" cy="1086859"/>
          </a:xfrm>
          <a:prstGeom prst="rect">
            <a:avLst/>
          </a:prstGeom>
          <a:solidFill>
            <a:srgbClr val="F3F3F3"/>
          </a:solidFill>
          <a:ln/>
        </p:spPr>
        <p:txBody>
          <a:bodyPr wrap="square" lIns="177800" tIns="214842" rIns="85851" bIns="152400" rtlCol="0" anchor="t">
            <a:normAutofit/>
          </a:bodyPr>
          <a:lstStyle/>
          <a:p>
            <a:pPr algn="l" indent="0" marL="0">
              <a:lnSpc>
                <a:spcPts val="1823"/>
              </a:lnSpc>
              <a:buNone/>
            </a:pPr>
            <a:r>
              <a:rPr lang="en-US" sz="1350" dirty="0">
                <a:solidFill>
                  <a:srgbClr val="1A1A1A"/>
                </a:solidFill>
                <a:latin typeface="Source Sans 3" pitchFamily="34" charset="0"/>
                <a:ea typeface="Source Sans 3" pitchFamily="34" charset="-122"/>
                <a:cs typeface="Source Sans 3" pitchFamily="34" charset="-120"/>
              </a:rPr>
              <a:t>Identificar situaciones de oportunidad y de acceso a derechos</a:t>
            </a:r>
            <a:endParaRPr lang="en-US" sz="1350" dirty="0"/>
          </a:p>
        </p:txBody>
      </p:sp>
      <p:sp>
        <p:nvSpPr>
          <p:cNvPr id="10" name="Shape 8"/>
          <p:cNvSpPr/>
          <p:nvPr/>
        </p:nvSpPr>
        <p:spPr>
          <a:xfrm>
            <a:off x="7958666" y="2050715"/>
            <a:ext cx="3420566" cy="0"/>
          </a:xfrm>
          <a:prstGeom prst="line">
            <a:avLst/>
          </a:prstGeom>
          <a:noFill/>
          <a:ln w="38100">
            <a:solidFill>
              <a:srgbClr val="156082"/>
            </a:solidFill>
            <a:prstDash val="solid"/>
          </a:ln>
        </p:spPr>
      </p:sp>
      <p:sp>
        <p:nvSpPr>
          <p:cNvPr id="11" name="Text 9"/>
          <p:cNvSpPr/>
          <p:nvPr/>
        </p:nvSpPr>
        <p:spPr>
          <a:xfrm>
            <a:off x="812767" y="3270907"/>
            <a:ext cx="3420566" cy="1086859"/>
          </a:xfrm>
          <a:prstGeom prst="rect">
            <a:avLst/>
          </a:prstGeom>
          <a:solidFill>
            <a:srgbClr val="F3F3F3"/>
          </a:solidFill>
          <a:ln/>
        </p:spPr>
        <p:txBody>
          <a:bodyPr wrap="square" lIns="177800" tIns="214842" rIns="85851" bIns="152400" rtlCol="0" anchor="t">
            <a:normAutofit/>
          </a:bodyPr>
          <a:lstStyle/>
          <a:p>
            <a:pPr algn="l" indent="0" marL="0">
              <a:lnSpc>
                <a:spcPts val="1823"/>
              </a:lnSpc>
              <a:buNone/>
            </a:pPr>
            <a:r>
              <a:rPr lang="en-US" sz="1350" dirty="0">
                <a:solidFill>
                  <a:srgbClr val="1A1A1A"/>
                </a:solidFill>
                <a:latin typeface="Source Sans 3" pitchFamily="34" charset="0"/>
                <a:ea typeface="Source Sans 3" pitchFamily="34" charset="-122"/>
                <a:cs typeface="Source Sans 3" pitchFamily="34" charset="-120"/>
              </a:rPr>
              <a:t>Promover un relacionamiento consciente, sensible a la discriminación sutil del lenguaje verbal y no verbal</a:t>
            </a:r>
            <a:endParaRPr lang="en-US" sz="1350" dirty="0"/>
          </a:p>
        </p:txBody>
      </p:sp>
      <p:sp>
        <p:nvSpPr>
          <p:cNvPr id="12" name="Shape 10"/>
          <p:cNvSpPr/>
          <p:nvPr/>
        </p:nvSpPr>
        <p:spPr>
          <a:xfrm>
            <a:off x="812767" y="3289957"/>
            <a:ext cx="3420566" cy="0"/>
          </a:xfrm>
          <a:prstGeom prst="line">
            <a:avLst/>
          </a:prstGeom>
          <a:noFill/>
          <a:ln w="38100">
            <a:solidFill>
              <a:srgbClr val="0C5837"/>
            </a:solidFill>
            <a:prstDash val="solid"/>
          </a:ln>
        </p:spPr>
      </p:sp>
      <p:sp>
        <p:nvSpPr>
          <p:cNvPr id="13" name="Text 11"/>
          <p:cNvSpPr/>
          <p:nvPr/>
        </p:nvSpPr>
        <p:spPr>
          <a:xfrm>
            <a:off x="4385717" y="3270907"/>
            <a:ext cx="3420566" cy="1086859"/>
          </a:xfrm>
          <a:prstGeom prst="rect">
            <a:avLst/>
          </a:prstGeom>
          <a:solidFill>
            <a:srgbClr val="F3F3F3"/>
          </a:solidFill>
          <a:ln/>
        </p:spPr>
        <p:txBody>
          <a:bodyPr wrap="square" lIns="177800" tIns="214842" rIns="85851" bIns="152400" rtlCol="0" anchor="t">
            <a:normAutofit/>
          </a:bodyPr>
          <a:lstStyle/>
          <a:p>
            <a:pPr algn="l" indent="0" marL="0">
              <a:lnSpc>
                <a:spcPts val="1823"/>
              </a:lnSpc>
              <a:buNone/>
            </a:pPr>
            <a:r>
              <a:rPr lang="en-US" sz="1350" dirty="0">
                <a:solidFill>
                  <a:srgbClr val="1A1A1A"/>
                </a:solidFill>
                <a:latin typeface="Source Sans 3" pitchFamily="34" charset="0"/>
                <a:ea typeface="Source Sans 3" pitchFamily="34" charset="-122"/>
                <a:cs typeface="Source Sans 3" pitchFamily="34" charset="-120"/>
              </a:rPr>
              <a:t>Interpretar los derechos humanos como interdependientes, interrelacionados e indivisibles</a:t>
            </a:r>
            <a:endParaRPr lang="en-US" sz="1350" dirty="0"/>
          </a:p>
        </p:txBody>
      </p:sp>
      <p:sp>
        <p:nvSpPr>
          <p:cNvPr id="14" name="Shape 12"/>
          <p:cNvSpPr/>
          <p:nvPr/>
        </p:nvSpPr>
        <p:spPr>
          <a:xfrm>
            <a:off x="4385717" y="3289957"/>
            <a:ext cx="3420566" cy="0"/>
          </a:xfrm>
          <a:prstGeom prst="line">
            <a:avLst/>
          </a:prstGeom>
          <a:noFill/>
          <a:ln w="38100">
            <a:solidFill>
              <a:srgbClr val="0C5837"/>
            </a:solidFill>
            <a:prstDash val="solid"/>
          </a:ln>
        </p:spPr>
      </p:sp>
      <p:sp>
        <p:nvSpPr>
          <p:cNvPr id="15" name="Text 13"/>
          <p:cNvSpPr/>
          <p:nvPr/>
        </p:nvSpPr>
        <p:spPr>
          <a:xfrm>
            <a:off x="7958666" y="3270907"/>
            <a:ext cx="3420566" cy="1086859"/>
          </a:xfrm>
          <a:prstGeom prst="rect">
            <a:avLst/>
          </a:prstGeom>
          <a:solidFill>
            <a:srgbClr val="F3F3F3"/>
          </a:solidFill>
          <a:ln/>
        </p:spPr>
        <p:txBody>
          <a:bodyPr wrap="square" lIns="177800" tIns="214842" rIns="85851" bIns="152400" rtlCol="0" anchor="t">
            <a:normAutofit/>
          </a:bodyPr>
          <a:lstStyle/>
          <a:p>
            <a:pPr algn="l" indent="0" marL="0">
              <a:lnSpc>
                <a:spcPts val="1823"/>
              </a:lnSpc>
              <a:buNone/>
            </a:pPr>
            <a:r>
              <a:rPr lang="en-US" sz="1350" dirty="0">
                <a:solidFill>
                  <a:srgbClr val="1A1A1A"/>
                </a:solidFill>
                <a:latin typeface="Source Sans 3" pitchFamily="34" charset="0"/>
                <a:ea typeface="Source Sans 3" pitchFamily="34" charset="-122"/>
                <a:cs typeface="Source Sans 3" pitchFamily="34" charset="-120"/>
              </a:rPr>
              <a:t>Articular simultáneamente las diferentes fuentes de discriminación</a:t>
            </a:r>
            <a:endParaRPr lang="en-US" sz="1350" dirty="0"/>
          </a:p>
        </p:txBody>
      </p:sp>
      <p:sp>
        <p:nvSpPr>
          <p:cNvPr id="16" name="Shape 14"/>
          <p:cNvSpPr/>
          <p:nvPr/>
        </p:nvSpPr>
        <p:spPr>
          <a:xfrm>
            <a:off x="7958666" y="3289957"/>
            <a:ext cx="3420566" cy="0"/>
          </a:xfrm>
          <a:prstGeom prst="line">
            <a:avLst/>
          </a:prstGeom>
          <a:noFill/>
          <a:ln w="38100">
            <a:solidFill>
              <a:srgbClr val="0C5837"/>
            </a:solidFill>
            <a:prstDash val="solid"/>
          </a:ln>
        </p:spPr>
      </p:sp>
      <p:sp>
        <p:nvSpPr>
          <p:cNvPr id="17" name="Text 15"/>
          <p:cNvSpPr/>
          <p:nvPr/>
        </p:nvSpPr>
        <p:spPr>
          <a:xfrm>
            <a:off x="812767" y="4510150"/>
            <a:ext cx="3420566" cy="855431"/>
          </a:xfrm>
          <a:prstGeom prst="rect">
            <a:avLst/>
          </a:prstGeom>
          <a:solidFill>
            <a:srgbClr val="F3F3F3"/>
          </a:solidFill>
          <a:ln/>
        </p:spPr>
        <p:txBody>
          <a:bodyPr wrap="square" lIns="177800" tIns="214842" rIns="85851" bIns="152400" rtlCol="0" anchor="t">
            <a:normAutofit/>
          </a:bodyPr>
          <a:lstStyle/>
          <a:p>
            <a:pPr algn="l" indent="0" marL="0">
              <a:lnSpc>
                <a:spcPts val="1823"/>
              </a:lnSpc>
              <a:buNone/>
            </a:pPr>
            <a:r>
              <a:rPr lang="en-US" sz="1350" dirty="0">
                <a:solidFill>
                  <a:srgbClr val="1A1A1A"/>
                </a:solidFill>
                <a:latin typeface="Source Sans 3" pitchFamily="34" charset="0"/>
                <a:ea typeface="Source Sans 3" pitchFamily="34" charset="-122"/>
                <a:cs typeface="Source Sans 3" pitchFamily="34" charset="-120"/>
              </a:rPr>
              <a:t>Erradicar las relaciones de poder que perpetúan la discriminación y la exclusión</a:t>
            </a:r>
            <a:endParaRPr lang="en-US" sz="1350" dirty="0"/>
          </a:p>
        </p:txBody>
      </p:sp>
      <p:sp>
        <p:nvSpPr>
          <p:cNvPr id="18" name="Shape 16"/>
          <p:cNvSpPr/>
          <p:nvPr/>
        </p:nvSpPr>
        <p:spPr>
          <a:xfrm>
            <a:off x="812767" y="4529200"/>
            <a:ext cx="3420566" cy="0"/>
          </a:xfrm>
          <a:prstGeom prst="line">
            <a:avLst/>
          </a:prstGeom>
          <a:noFill/>
          <a:ln w="38100">
            <a:solidFill>
              <a:srgbClr val="FC8400"/>
            </a:solidFill>
            <a:prstDash val="solid"/>
          </a:ln>
        </p:spPr>
      </p:sp>
      <p:sp>
        <p:nvSpPr>
          <p:cNvPr id="19" name="Text 17"/>
          <p:cNvSpPr/>
          <p:nvPr/>
        </p:nvSpPr>
        <p:spPr>
          <a:xfrm>
            <a:off x="4385717" y="4510150"/>
            <a:ext cx="3420566" cy="855431"/>
          </a:xfrm>
          <a:prstGeom prst="rect">
            <a:avLst/>
          </a:prstGeom>
          <a:solidFill>
            <a:srgbClr val="F3F3F3"/>
          </a:solidFill>
          <a:ln/>
        </p:spPr>
        <p:txBody>
          <a:bodyPr wrap="square" lIns="177800" tIns="214842" rIns="85851" bIns="152400" rtlCol="0" anchor="t">
            <a:normAutofit/>
          </a:bodyPr>
          <a:lstStyle/>
          <a:p>
            <a:pPr algn="l" indent="0" marL="0">
              <a:lnSpc>
                <a:spcPts val="1823"/>
              </a:lnSpc>
              <a:buNone/>
            </a:pPr>
            <a:r>
              <a:rPr lang="en-US" sz="1350" dirty="0">
                <a:solidFill>
                  <a:srgbClr val="1A1A1A"/>
                </a:solidFill>
                <a:latin typeface="Source Sans 3" pitchFamily="34" charset="0"/>
                <a:ea typeface="Source Sans 3" pitchFamily="34" charset="-122"/>
                <a:cs typeface="Source Sans 3" pitchFamily="34" charset="-120"/>
              </a:rPr>
              <a:t>Llenar vacíos con medidas y acciones afirmativas</a:t>
            </a:r>
            <a:endParaRPr lang="en-US" sz="1350" dirty="0"/>
          </a:p>
        </p:txBody>
      </p:sp>
      <p:sp>
        <p:nvSpPr>
          <p:cNvPr id="20" name="Shape 18"/>
          <p:cNvSpPr/>
          <p:nvPr/>
        </p:nvSpPr>
        <p:spPr>
          <a:xfrm>
            <a:off x="4385717" y="4529200"/>
            <a:ext cx="3420566" cy="0"/>
          </a:xfrm>
          <a:prstGeom prst="line">
            <a:avLst/>
          </a:prstGeom>
          <a:noFill/>
          <a:ln w="38100">
            <a:solidFill>
              <a:srgbClr val="FC8400"/>
            </a:solidFill>
            <a:prstDash val="solid"/>
          </a:ln>
        </p:spPr>
      </p:sp>
      <p:sp>
        <p:nvSpPr>
          <p:cNvPr id="21" name="Text 19"/>
          <p:cNvSpPr/>
          <p:nvPr/>
        </p:nvSpPr>
        <p:spPr>
          <a:xfrm>
            <a:off x="7958666" y="4510150"/>
            <a:ext cx="3420566" cy="855431"/>
          </a:xfrm>
          <a:prstGeom prst="rect">
            <a:avLst/>
          </a:prstGeom>
          <a:solidFill>
            <a:srgbClr val="F3F3F3"/>
          </a:solidFill>
          <a:ln/>
        </p:spPr>
        <p:txBody>
          <a:bodyPr wrap="square" lIns="177800" tIns="214842" rIns="85851" bIns="152400" rtlCol="0" anchor="t">
            <a:normAutofit/>
          </a:bodyPr>
          <a:lstStyle/>
          <a:p>
            <a:pPr algn="l" indent="0" marL="0">
              <a:lnSpc>
                <a:spcPts val="1823"/>
              </a:lnSpc>
              <a:buNone/>
            </a:pPr>
            <a:r>
              <a:rPr lang="en-US" sz="1350" dirty="0">
                <a:solidFill>
                  <a:srgbClr val="1A1A1A"/>
                </a:solidFill>
                <a:latin typeface="Source Sans 3" pitchFamily="34" charset="0"/>
                <a:ea typeface="Source Sans 3" pitchFamily="34" charset="-122"/>
                <a:cs typeface="Source Sans 3" pitchFamily="34" charset="-120"/>
              </a:rPr>
              <a:t>Eliminar barreras de acceso a los derechos</a:t>
            </a:r>
            <a:endParaRPr lang="en-US" sz="1350" dirty="0"/>
          </a:p>
        </p:txBody>
      </p:sp>
      <p:sp>
        <p:nvSpPr>
          <p:cNvPr id="22" name="Shape 20"/>
          <p:cNvSpPr/>
          <p:nvPr/>
        </p:nvSpPr>
        <p:spPr>
          <a:xfrm>
            <a:off x="7958666" y="4529200"/>
            <a:ext cx="3420566" cy="0"/>
          </a:xfrm>
          <a:prstGeom prst="line">
            <a:avLst/>
          </a:prstGeom>
          <a:noFill/>
          <a:ln w="38100">
            <a:solidFill>
              <a:srgbClr val="FC8400"/>
            </a:solidFill>
            <a:prstDash val="solid"/>
          </a:ln>
        </p:spPr>
      </p:sp>
      <p:sp>
        <p:nvSpPr>
          <p:cNvPr id="23" name="Text 21"/>
          <p:cNvSpPr/>
          <p:nvPr/>
        </p:nvSpPr>
        <p:spPr>
          <a:xfrm>
            <a:off x="812767" y="6238292"/>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Fuente: Jurisdicción Especial para la Paz (2023)</a:t>
            </a:r>
            <a:endParaRPr lang="en-US" sz="1200" dirty="0"/>
          </a:p>
        </p:txBody>
      </p:sp>
      <p:sp>
        <p:nvSpPr>
          <p:cNvPr id="24" name="Text 22"/>
          <p:cNvSpPr/>
          <p:nvPr/>
        </p:nvSpPr>
        <p:spPr>
          <a:xfrm>
            <a:off x="7454933" y="6238292"/>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Hinestroza Cuesta · UTCH</a:t>
            </a:r>
            <a:endParaRPr lang="en-US" sz="12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COLOMBIA</a:t>
            </a:r>
            <a:endParaRPr lang="en-US" sz="1200" dirty="0"/>
          </a:p>
        </p:txBody>
      </p:sp>
      <p:sp>
        <p:nvSpPr>
          <p:cNvPr id="3" name="Text 1"/>
          <p:cNvSpPr/>
          <p:nvPr>
            <p:ph type="title"/>
          </p:nvPr>
        </p:nvSpPr>
        <p:spPr>
          <a:xfrm>
            <a:off x="812767" y="112762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1A1A"/>
                </a:solidFill>
                <a:latin typeface="Source Sans 3" pitchFamily="34" charset="0"/>
                <a:ea typeface="Source Sans 3" pitchFamily="34" charset="-122"/>
                <a:cs typeface="Source Sans 3" pitchFamily="34" charset="-120"/>
              </a:rPr>
              <a:t>Jurisprudencia relevante</a:t>
            </a:r>
            <a:endParaRPr lang="en-US" sz="3200" dirty="0"/>
          </a:p>
        </p:txBody>
      </p:sp>
      <p:sp>
        <p:nvSpPr>
          <p:cNvPr id="4" name="Shape 2"/>
          <p:cNvSpPr/>
          <p:nvPr/>
        </p:nvSpPr>
        <p:spPr>
          <a:xfrm>
            <a:off x="812767" y="1676127"/>
            <a:ext cx="762000" cy="50767"/>
          </a:xfrm>
          <a:prstGeom prst="rect">
            <a:avLst/>
          </a:prstGeom>
          <a:solidFill>
            <a:srgbClr val="FC8400"/>
          </a:solidFill>
          <a:ln/>
        </p:spPr>
      </p:sp>
      <p:sp>
        <p:nvSpPr>
          <p:cNvPr id="5" name="Shape 3"/>
          <p:cNvSpPr/>
          <p:nvPr/>
        </p:nvSpPr>
        <p:spPr>
          <a:xfrm>
            <a:off x="812767" y="2082428"/>
            <a:ext cx="3386667" cy="2324034"/>
          </a:xfrm>
          <a:prstGeom prst="rect">
            <a:avLst/>
          </a:prstGeom>
          <a:solidFill>
            <a:srgbClr val="F3F3F3"/>
          </a:solidFill>
          <a:ln/>
        </p:spPr>
      </p:sp>
      <p:pic>
        <p:nvPicPr>
          <p:cNvPr id="6" name="Image 0" descr="Escudo de la Corte Constitucional de Colombia">    </p:cNvPr>
          <p:cNvPicPr>
            <a:picLocks noChangeAspect="1"/>
          </p:cNvPicPr>
          <p:nvPr/>
        </p:nvPicPr>
        <p:blipFill>
          <a:blip r:embed="rId1"/>
          <a:srcRect l="-1136" r="-1136" t="0" b="0"/>
          <a:stretch/>
        </p:blipFill>
        <p:spPr>
          <a:xfrm>
            <a:off x="1553600" y="2336428"/>
            <a:ext cx="1905000" cy="1397000"/>
          </a:xfrm>
          <a:prstGeom prst="rect">
            <a:avLst/>
          </a:prstGeom>
        </p:spPr>
      </p:pic>
      <p:sp>
        <p:nvSpPr>
          <p:cNvPr id="7" name="Text 4"/>
          <p:cNvSpPr/>
          <p:nvPr/>
        </p:nvSpPr>
        <p:spPr>
          <a:xfrm>
            <a:off x="1472142" y="3885816"/>
            <a:ext cx="2067917" cy="29205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A1A1A"/>
                </a:solidFill>
                <a:latin typeface="Source Sans 3" pitchFamily="34" charset="0"/>
                <a:ea typeface="Source Sans 3" pitchFamily="34" charset="-122"/>
                <a:cs typeface="Source Sans 3" pitchFamily="34" charset="-120"/>
              </a:rPr>
              <a:t>Corte Constitucional</a:t>
            </a:r>
            <a:endParaRPr lang="en-US" sz="1500" dirty="0"/>
          </a:p>
        </p:txBody>
      </p:sp>
      <p:sp>
        <p:nvSpPr>
          <p:cNvPr id="8" name="Shape 5"/>
          <p:cNvSpPr/>
          <p:nvPr/>
        </p:nvSpPr>
        <p:spPr>
          <a:xfrm>
            <a:off x="4402584" y="2082428"/>
            <a:ext cx="3386749" cy="2324034"/>
          </a:xfrm>
          <a:prstGeom prst="rect">
            <a:avLst/>
          </a:prstGeom>
          <a:solidFill>
            <a:srgbClr val="F3F3F3"/>
          </a:solidFill>
          <a:ln/>
        </p:spPr>
      </p:sp>
      <p:pic>
        <p:nvPicPr>
          <p:cNvPr id="9" name="Image 1" descr="Logo de la Corte Suprema de Justicia de Colombia">    </p:cNvPr>
          <p:cNvPicPr>
            <a:picLocks noChangeAspect="1"/>
          </p:cNvPicPr>
          <p:nvPr/>
        </p:nvPicPr>
        <p:blipFill>
          <a:blip r:embed="rId2"/>
          <a:srcRect l="0" r="0" t="-607" b="-607"/>
          <a:stretch/>
        </p:blipFill>
        <p:spPr>
          <a:xfrm>
            <a:off x="4698917" y="2336428"/>
            <a:ext cx="2794000" cy="1397000"/>
          </a:xfrm>
          <a:prstGeom prst="rect">
            <a:avLst/>
          </a:prstGeom>
        </p:spPr>
      </p:pic>
      <p:sp>
        <p:nvSpPr>
          <p:cNvPr id="10" name="Text 6"/>
          <p:cNvSpPr/>
          <p:nvPr/>
        </p:nvSpPr>
        <p:spPr>
          <a:xfrm>
            <a:off x="4778292" y="3885816"/>
            <a:ext cx="2635250" cy="29205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A1A1A"/>
                </a:solidFill>
                <a:latin typeface="Source Sans 3" pitchFamily="34" charset="0"/>
                <a:ea typeface="Source Sans 3" pitchFamily="34" charset="-122"/>
                <a:cs typeface="Source Sans 3" pitchFamily="34" charset="-120"/>
              </a:rPr>
              <a:t>Corte Suprema de Justicia</a:t>
            </a:r>
            <a:endParaRPr lang="en-US" sz="1500" dirty="0"/>
          </a:p>
        </p:txBody>
      </p:sp>
      <p:sp>
        <p:nvSpPr>
          <p:cNvPr id="11" name="Shape 7"/>
          <p:cNvSpPr/>
          <p:nvPr/>
        </p:nvSpPr>
        <p:spPr>
          <a:xfrm>
            <a:off x="7992483" y="2082428"/>
            <a:ext cx="3386749" cy="2324034"/>
          </a:xfrm>
          <a:prstGeom prst="rect">
            <a:avLst/>
          </a:prstGeom>
          <a:solidFill>
            <a:srgbClr val="F3F3F3"/>
          </a:solidFill>
          <a:ln/>
        </p:spPr>
      </p:sp>
      <p:pic>
        <p:nvPicPr>
          <p:cNvPr id="12" name="Image 2" descr="Logo de la Jurisdicción Especial para la Paz">    </p:cNvPr>
          <p:cNvPicPr>
            <a:picLocks noChangeAspect="1"/>
          </p:cNvPicPr>
          <p:nvPr/>
        </p:nvPicPr>
        <p:blipFill>
          <a:blip r:embed="rId3"/>
          <a:srcRect l="0" r="0" t="-169" b="-169"/>
          <a:stretch/>
        </p:blipFill>
        <p:spPr>
          <a:xfrm>
            <a:off x="8415817" y="2336428"/>
            <a:ext cx="2540000" cy="1397000"/>
          </a:xfrm>
          <a:prstGeom prst="rect">
            <a:avLst/>
          </a:prstGeom>
        </p:spPr>
      </p:pic>
      <p:sp>
        <p:nvSpPr>
          <p:cNvPr id="13" name="Text 8"/>
          <p:cNvSpPr/>
          <p:nvPr/>
        </p:nvSpPr>
        <p:spPr>
          <a:xfrm>
            <a:off x="8068948" y="3885816"/>
            <a:ext cx="3233738" cy="29205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A1A1A"/>
                </a:solidFill>
                <a:latin typeface="Source Sans 3" pitchFamily="34" charset="0"/>
                <a:ea typeface="Source Sans 3" pitchFamily="34" charset="-122"/>
                <a:cs typeface="Source Sans 3" pitchFamily="34" charset="-120"/>
              </a:rPr>
              <a:t>Jurisdicción Especial para la Paz</a:t>
            </a:r>
            <a:endParaRPr lang="en-US" sz="1500" dirty="0"/>
          </a:p>
        </p:txBody>
      </p:sp>
      <p:sp>
        <p:nvSpPr>
          <p:cNvPr id="14" name="Text 9"/>
          <p:cNvSpPr/>
          <p:nvPr/>
        </p:nvSpPr>
        <p:spPr>
          <a:xfrm>
            <a:off x="812767" y="4762004"/>
            <a:ext cx="11379233" cy="333970"/>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156082"/>
                </a:solidFill>
                <a:latin typeface="Source Sans 3" pitchFamily="34" charset="0"/>
                <a:ea typeface="Source Sans 3" pitchFamily="34" charset="-122"/>
                <a:cs typeface="Source Sans 3" pitchFamily="34" charset="-120"/>
              </a:rPr>
              <a:t>Hilo común: el sujeto de especial protección constitucional y el deber de juzgar con enfoque interseccional.</a:t>
            </a:r>
            <a:endParaRPr lang="en-US" sz="1800" dirty="0"/>
          </a:p>
        </p:txBody>
      </p:sp>
      <p:sp>
        <p:nvSpPr>
          <p:cNvPr id="15" name="Text 10"/>
          <p:cNvSpPr/>
          <p:nvPr/>
        </p:nvSpPr>
        <p:spPr>
          <a:xfrm>
            <a:off x="7454933" y="6238292"/>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Hinestroza Cuesta · UTCH</a:t>
            </a:r>
            <a:endParaRPr lang="en-US" sz="12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3F3F3"/>
        </a:solidFill>
      </p:bgPr>
    </p:bg>
    <p:spTree>
      <p:nvGrpSpPr>
        <p:cNvPr id="1" name=""/>
        <p:cNvGrpSpPr/>
        <p:nvPr/>
      </p:nvGrpSpPr>
      <p:grpSpPr>
        <a:xfrm>
          <a:off x="0" y="0"/>
          <a:ext cx="0" cy="0"/>
          <a:chOff x="0" y="0"/>
          <a:chExt cx="0" cy="0"/>
        </a:xfrm>
      </p:grpSpPr>
      <p:sp>
        <p:nvSpPr>
          <p:cNvPr id="2" name="Shape 0"/>
          <p:cNvSpPr/>
          <p:nvPr/>
        </p:nvSpPr>
        <p:spPr>
          <a:xfrm>
            <a:off x="838167" y="812763"/>
            <a:ext cx="0" cy="5029233"/>
          </a:xfrm>
          <a:prstGeom prst="line">
            <a:avLst/>
          </a:prstGeom>
          <a:noFill/>
          <a:ln w="50800">
            <a:solidFill>
              <a:srgbClr val="156082"/>
            </a:solidFill>
            <a:prstDash val="solid"/>
          </a:ln>
        </p:spPr>
      </p:sp>
      <p:sp>
        <p:nvSpPr>
          <p:cNvPr id="3" name="Text 1"/>
          <p:cNvSpPr/>
          <p:nvPr/>
        </p:nvSpPr>
        <p:spPr>
          <a:xfrm>
            <a:off x="1114392" y="812763"/>
            <a:ext cx="486943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CORTE SUPREMA DE JUSTICIA · SL3462-2021</a:t>
            </a:r>
            <a:endParaRPr lang="en-US" sz="1200" dirty="0"/>
          </a:p>
        </p:txBody>
      </p:sp>
      <p:sp>
        <p:nvSpPr>
          <p:cNvPr id="4" name="Text 2"/>
          <p:cNvSpPr/>
          <p:nvPr/>
        </p:nvSpPr>
        <p:spPr>
          <a:xfrm>
            <a:off x="1114392" y="1178471"/>
            <a:ext cx="4869436" cy="2464197"/>
          </a:xfrm>
          <a:prstGeom prst="rect">
            <a:avLst/>
          </a:prstGeom>
          <a:noFill/>
          <a:ln/>
        </p:spPr>
        <p:txBody>
          <a:bodyPr wrap="square" lIns="0" tIns="0" rIns="0" bIns="0" rtlCol="0" anchor="t">
            <a:normAutofit/>
          </a:bodyPr>
          <a:lstStyle/>
          <a:p>
            <a:pPr algn="l" indent="0" marL="0">
              <a:lnSpc>
                <a:spcPts val="2400"/>
              </a:lnSpc>
              <a:buNone/>
            </a:pPr>
            <a:r>
              <a:rPr lang="en-US" sz="1600" i="1" dirty="0">
                <a:solidFill>
                  <a:srgbClr val="1A1A1A"/>
                </a:solidFill>
                <a:latin typeface="Georgia" pitchFamily="18" charset="0"/>
                <a:ea typeface="Georgia" pitchFamily="18" charset="-122"/>
                <a:cs typeface="Georgia" pitchFamily="18" charset="-120"/>
              </a:rPr>
              <a:t>«Este deber de los jueces se encuentra irremediablemente atado al razonamiento probatorio […]. La apreciación de las pruebas debe responder a los contextos donde se obtuvieron y donde se desarrolla la vida de los grupos vulnerables. Por ello, el juzgador tiene que ser consciente del contexto y de la incidencia que tiene al momento de construir realidades.»</a:t>
            </a:r>
            <a:endParaRPr lang="en-US" sz="1600" dirty="0"/>
          </a:p>
        </p:txBody>
      </p:sp>
      <p:sp>
        <p:nvSpPr>
          <p:cNvPr id="5" name="Shape 3"/>
          <p:cNvSpPr/>
          <p:nvPr/>
        </p:nvSpPr>
        <p:spPr>
          <a:xfrm>
            <a:off x="6375400" y="812763"/>
            <a:ext cx="0" cy="5029233"/>
          </a:xfrm>
          <a:prstGeom prst="line">
            <a:avLst/>
          </a:prstGeom>
          <a:noFill/>
          <a:ln w="50800">
            <a:solidFill>
              <a:srgbClr val="FC8400"/>
            </a:solidFill>
            <a:prstDash val="solid"/>
          </a:ln>
        </p:spPr>
      </p:sp>
      <p:sp>
        <p:nvSpPr>
          <p:cNvPr id="6" name="Text 4"/>
          <p:cNvSpPr/>
          <p:nvPr/>
        </p:nvSpPr>
        <p:spPr>
          <a:xfrm>
            <a:off x="6651625" y="812763"/>
            <a:ext cx="486943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CORTE SUPREMA DE JUSTICIA</a:t>
            </a:r>
            <a:endParaRPr lang="en-US" sz="1200" dirty="0"/>
          </a:p>
        </p:txBody>
      </p:sp>
      <p:sp>
        <p:nvSpPr>
          <p:cNvPr id="7" name="Text 5"/>
          <p:cNvSpPr/>
          <p:nvPr/>
        </p:nvSpPr>
        <p:spPr>
          <a:xfrm>
            <a:off x="6651625" y="1178471"/>
            <a:ext cx="4869436" cy="2159347"/>
          </a:xfrm>
          <a:prstGeom prst="rect">
            <a:avLst/>
          </a:prstGeom>
          <a:noFill/>
          <a:ln/>
        </p:spPr>
        <p:txBody>
          <a:bodyPr wrap="square" lIns="0" tIns="0" rIns="0" bIns="0" rtlCol="0" anchor="t">
            <a:normAutofit/>
          </a:bodyPr>
          <a:lstStyle/>
          <a:p>
            <a:pPr algn="l" indent="0" marL="0">
              <a:lnSpc>
                <a:spcPts val="2400"/>
              </a:lnSpc>
              <a:buNone/>
            </a:pPr>
            <a:r>
              <a:rPr lang="en-US" sz="1600" i="1" dirty="0">
                <a:solidFill>
                  <a:srgbClr val="1A1A1A"/>
                </a:solidFill>
                <a:latin typeface="Georgia" pitchFamily="18" charset="0"/>
                <a:ea typeface="Georgia" pitchFamily="18" charset="-122"/>
                <a:cs typeface="Georgia" pitchFamily="18" charset="-120"/>
              </a:rPr>
              <a:t>«[…] analice los hechos, las pruebas y el derecho a partir de un elemento adicional de perspectiva interseccional, según la cual en un solo sujeto se pueden congregar distintas categorías históricamente vulnerables, que se traslapan e interactúan constantemente, creando nuevas realidades y sistemas de control.»</a:t>
            </a:r>
            <a:endParaRPr lang="en-US" sz="1600" dirty="0"/>
          </a:p>
        </p:txBody>
      </p:sp>
      <p:sp>
        <p:nvSpPr>
          <p:cNvPr id="8" name="Text 6"/>
          <p:cNvSpPr/>
          <p:nvPr/>
        </p:nvSpPr>
        <p:spPr>
          <a:xfrm>
            <a:off x="812767" y="6238292"/>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Fuente: Corte Suprema de Justicia de Colombia, SL3462-2021</a:t>
            </a:r>
            <a:endParaRPr lang="en-US" sz="12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583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6" r="-6" t="0" b="0"/>
          <a:stretch/>
        </p:blipFill>
        <p:spPr>
          <a:xfrm>
            <a:off x="7366000" y="0"/>
            <a:ext cx="4826000" cy="6858000"/>
          </a:xfrm>
          <a:prstGeom prst="rect">
            <a:avLst/>
          </a:prstGeom>
        </p:spPr>
      </p:pic>
      <p:sp>
        <p:nvSpPr>
          <p:cNvPr id="3" name="Text 0"/>
          <p:cNvSpPr/>
          <p:nvPr/>
        </p:nvSpPr>
        <p:spPr>
          <a:xfrm>
            <a:off x="812767" y="1596591"/>
            <a:ext cx="1088346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C8400"/>
                </a:solidFill>
                <a:latin typeface="Source Sans 3" pitchFamily="34" charset="0"/>
                <a:ea typeface="Source Sans 3" pitchFamily="34" charset="-122"/>
                <a:cs typeface="Source Sans 3" pitchFamily="34" charset="-120"/>
              </a:rPr>
              <a:t>04</a:t>
            </a:r>
            <a:endParaRPr lang="en-US" sz="8000" dirty="0"/>
          </a:p>
        </p:txBody>
      </p:sp>
      <p:sp>
        <p:nvSpPr>
          <p:cNvPr id="4" name="Text 1"/>
          <p:cNvSpPr/>
          <p:nvPr>
            <p:ph type="title"/>
          </p:nvPr>
        </p:nvSpPr>
        <p:spPr>
          <a:xfrm>
            <a:off x="812767" y="2815741"/>
            <a:ext cx="7194550" cy="1198662"/>
          </a:xfrm>
          <a:prstGeom prst="rect">
            <a:avLst/>
          </a:prstGeom>
          <a:noFill/>
          <a:ln/>
        </p:spPr>
        <p:txBody>
          <a:bodyPr wrap="square" lIns="0" tIns="0" rIns="0" bIns="0" rtlCol="0" anchor="t">
            <a:normAutofit/>
          </a:bodyPr>
          <a:lstStyle/>
          <a:p>
            <a:pPr algn="l" indent="0" marL="0">
              <a:lnSpc>
                <a:spcPts val="4620"/>
              </a:lnSpc>
              <a:buNone/>
            </a:pPr>
            <a:r>
              <a:rPr lang="en-US" sz="4400" b="1" i="0" spc="-50" kern="0" dirty="0">
                <a:solidFill>
                  <a:srgbClr val="FFFFFF"/>
                </a:solidFill>
                <a:latin typeface="Source Sans 3" pitchFamily="34" charset="0"/>
                <a:ea typeface="Source Sans 3" pitchFamily="34" charset="-122"/>
                <a:cs typeface="Source Sans 3" pitchFamily="34" charset="-120"/>
              </a:rPr>
              <a:t>Sujeto de especial protección constitucional</a:t>
            </a:r>
            <a:endParaRPr lang="en-US" sz="4400" dirty="0"/>
          </a:p>
        </p:txBody>
      </p:sp>
      <p:sp>
        <p:nvSpPr>
          <p:cNvPr id="5" name="Text 2"/>
          <p:cNvSpPr/>
          <p:nvPr/>
        </p:nvSpPr>
        <p:spPr>
          <a:xfrm>
            <a:off x="812767" y="4192153"/>
            <a:ext cx="65405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D9ECE1"/>
                </a:solidFill>
                <a:latin typeface="Source Sans 3" pitchFamily="34" charset="0"/>
                <a:ea typeface="Source Sans 3" pitchFamily="34" charset="-122"/>
                <a:cs typeface="Source Sans 3" pitchFamily="34" charset="-120"/>
              </a:rPr>
              <a:t>¿Una simple categoría constitucional? ¿Quiénes? ¿Por qué? ¿Para qué?</a:t>
            </a:r>
            <a:endParaRPr lang="en-US" sz="1800" dirty="0"/>
          </a:p>
        </p:txBody>
      </p:sp>
      <p:sp>
        <p:nvSpPr>
          <p:cNvPr id="6" name="Text 3"/>
          <p:cNvSpPr/>
          <p:nvPr/>
        </p:nvSpPr>
        <p:spPr>
          <a:xfrm>
            <a:off x="812767" y="5012444"/>
            <a:ext cx="10883460" cy="274274"/>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D9ECE1"/>
                </a:solidFill>
                <a:latin typeface="Source Sans 3" pitchFamily="34" charset="0"/>
                <a:ea typeface="Source Sans 3" pitchFamily="34" charset="-122"/>
                <a:cs typeface="Source Sans 3" pitchFamily="34" charset="-120"/>
              </a:rPr>
              <a:t>Sujeito de especial proteção constitucional</a:t>
            </a:r>
            <a:endParaRPr lang="en-US" sz="1400" dirty="0"/>
          </a:p>
        </p:txBody>
      </p:sp>
    </p:spTree>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CATEGORÍA DE PROTECCIÓN REFORZADA</a:t>
            </a:r>
            <a:endParaRPr lang="en-US" sz="1200" dirty="0"/>
          </a:p>
        </p:txBody>
      </p:sp>
      <p:sp>
        <p:nvSpPr>
          <p:cNvPr id="3" name="Text 1"/>
          <p:cNvSpPr/>
          <p:nvPr>
            <p:ph type="title"/>
          </p:nvPr>
        </p:nvSpPr>
        <p:spPr>
          <a:xfrm>
            <a:off x="812767" y="112762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1A1A"/>
                </a:solidFill>
                <a:latin typeface="Source Sans 3" pitchFamily="34" charset="0"/>
                <a:ea typeface="Source Sans 3" pitchFamily="34" charset="-122"/>
                <a:cs typeface="Source Sans 3" pitchFamily="34" charset="-120"/>
              </a:rPr>
              <a:t>Mujeres afrocolombianas: sujeto de especial protección</a:t>
            </a:r>
            <a:endParaRPr lang="en-US" sz="3200" dirty="0"/>
          </a:p>
        </p:txBody>
      </p:sp>
      <p:sp>
        <p:nvSpPr>
          <p:cNvPr id="4" name="Shape 2"/>
          <p:cNvSpPr/>
          <p:nvPr/>
        </p:nvSpPr>
        <p:spPr>
          <a:xfrm>
            <a:off x="812767" y="1676127"/>
            <a:ext cx="762000" cy="50767"/>
          </a:xfrm>
          <a:prstGeom prst="rect">
            <a:avLst/>
          </a:prstGeom>
          <a:solidFill>
            <a:srgbClr val="FC8400"/>
          </a:solidFill>
          <a:ln/>
        </p:spPr>
      </p:sp>
      <p:sp>
        <p:nvSpPr>
          <p:cNvPr id="5" name="Shape 3"/>
          <p:cNvSpPr/>
          <p:nvPr/>
        </p:nvSpPr>
        <p:spPr>
          <a:xfrm>
            <a:off x="812767" y="2031665"/>
            <a:ext cx="3937000" cy="1871679"/>
          </a:xfrm>
          <a:prstGeom prst="rect">
            <a:avLst/>
          </a:prstGeom>
          <a:solidFill>
            <a:srgbClr val="156082"/>
          </a:solidFill>
          <a:ln/>
        </p:spPr>
      </p:sp>
      <p:sp>
        <p:nvSpPr>
          <p:cNvPr id="6" name="Text 4"/>
          <p:cNvSpPr/>
          <p:nvPr/>
        </p:nvSpPr>
        <p:spPr>
          <a:xfrm>
            <a:off x="1117534" y="2336428"/>
            <a:ext cx="3427290"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CCC00"/>
                </a:solidFill>
                <a:latin typeface="Source Sans 3" pitchFamily="34" charset="0"/>
                <a:ea typeface="Source Sans 3" pitchFamily="34" charset="-122"/>
                <a:cs typeface="Source Sans 3" pitchFamily="34" charset="-120"/>
              </a:rPr>
              <a:t>Convergencia de discriminaciones</a:t>
            </a:r>
            <a:endParaRPr lang="en-US" sz="1500" dirty="0"/>
          </a:p>
        </p:txBody>
      </p:sp>
      <p:sp>
        <p:nvSpPr>
          <p:cNvPr id="7" name="Text 5"/>
          <p:cNvSpPr/>
          <p:nvPr/>
        </p:nvSpPr>
        <p:spPr>
          <a:xfrm>
            <a:off x="1117534" y="2704616"/>
            <a:ext cx="3427290" cy="919361"/>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FFFFF"/>
                </a:solidFill>
                <a:latin typeface="Source Sans 3" pitchFamily="34" charset="0"/>
                <a:ea typeface="Source Sans 3" pitchFamily="34" charset="-122"/>
                <a:cs typeface="Source Sans 3" pitchFamily="34" charset="-120"/>
              </a:rPr>
              <a:t>No es una sumatoria.</a:t>
            </a:r>
            <a:endParaRPr lang="en-US" sz="3200" dirty="0"/>
          </a:p>
        </p:txBody>
      </p:sp>
      <p:pic>
        <p:nvPicPr>
          <p:cNvPr id="8" name="Image 0" descr="Warning">    </p:cNvPr>
          <p:cNvPicPr>
            <a:picLocks noChangeAspect="1"/>
          </p:cNvPicPr>
          <p:nvPr/>
        </p:nvPicPr>
        <p:blipFill>
          <a:blip r:embed="rId1"/>
          <a:srcRect l="0" r="0" t="0" b="0"/>
          <a:stretch/>
        </p:blipFill>
        <p:spPr>
          <a:xfrm>
            <a:off x="5156150" y="2175036"/>
            <a:ext cx="304767" cy="304767"/>
          </a:xfrm>
          <a:prstGeom prst="rect">
            <a:avLst/>
          </a:prstGeom>
        </p:spPr>
      </p:pic>
      <p:sp>
        <p:nvSpPr>
          <p:cNvPr id="9" name="Text 6"/>
          <p:cNvSpPr/>
          <p:nvPr/>
        </p:nvSpPr>
        <p:spPr>
          <a:xfrm>
            <a:off x="5613301" y="2175036"/>
            <a:ext cx="5938910" cy="30991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A1A1A"/>
                </a:solidFill>
                <a:latin typeface="Source Sans 3" pitchFamily="34" charset="0"/>
                <a:ea typeface="Source Sans 3" pitchFamily="34" charset="-122"/>
                <a:cs typeface="Source Sans 3" pitchFamily="34" charset="-120"/>
              </a:rPr>
              <a:t>Barreras agravadas:</a:t>
            </a:r>
            <a:r>
              <a:rPr lang="en-US" sz="1600" dirty="0">
                <a:solidFill>
                  <a:srgbClr val="1A1A1A"/>
                </a:solidFill>
                <a:latin typeface="Source Sans 3" pitchFamily="34" charset="0"/>
                <a:ea typeface="Source Sans 3" pitchFamily="34" charset="-122"/>
                <a:cs typeface="Source Sans 3" pitchFamily="34" charset="-120"/>
              </a:rPr>
              <a:t> racismo estructural e inequidad de género.</a:t>
            </a:r>
            <a:endParaRPr lang="en-US" sz="1600" dirty="0"/>
          </a:p>
        </p:txBody>
      </p:sp>
      <p:pic>
        <p:nvPicPr>
          <p:cNvPr id="10" name="Image 1" descr="Warning">    </p:cNvPr>
          <p:cNvPicPr>
            <a:picLocks noChangeAspect="1"/>
          </p:cNvPicPr>
          <p:nvPr/>
        </p:nvPicPr>
        <p:blipFill>
          <a:blip r:embed="rId2"/>
          <a:srcRect l="0" r="0" t="0" b="0"/>
          <a:stretch/>
        </p:blipFill>
        <p:spPr>
          <a:xfrm>
            <a:off x="5156150" y="2682949"/>
            <a:ext cx="304767" cy="304767"/>
          </a:xfrm>
          <a:prstGeom prst="rect">
            <a:avLst/>
          </a:prstGeom>
        </p:spPr>
      </p:pic>
      <p:sp>
        <p:nvSpPr>
          <p:cNvPr id="11" name="Text 7"/>
          <p:cNvSpPr/>
          <p:nvPr/>
        </p:nvSpPr>
        <p:spPr>
          <a:xfrm>
            <a:off x="5613301" y="2682949"/>
            <a:ext cx="5938910" cy="5944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A1A1A"/>
                </a:solidFill>
                <a:latin typeface="Source Sans 3" pitchFamily="34" charset="0"/>
                <a:ea typeface="Source Sans 3" pitchFamily="34" charset="-122"/>
                <a:cs typeface="Source Sans 3" pitchFamily="34" charset="-120"/>
              </a:rPr>
              <a:t>Otras condiciones de vulnerabilidad:</a:t>
            </a:r>
            <a:r>
              <a:rPr lang="en-US" sz="1600" dirty="0">
                <a:solidFill>
                  <a:srgbClr val="1A1A1A"/>
                </a:solidFill>
                <a:latin typeface="Source Sans 3" pitchFamily="34" charset="0"/>
                <a:ea typeface="Source Sans 3" pitchFamily="34" charset="-122"/>
                <a:cs typeface="Source Sans 3" pitchFamily="34" charset="-120"/>
              </a:rPr>
              <a:t> riesgo de exterminio físico y cultural, individual y colectivo.</a:t>
            </a:r>
            <a:endParaRPr lang="en-US" sz="1600" dirty="0"/>
          </a:p>
        </p:txBody>
      </p:sp>
      <p:pic>
        <p:nvPicPr>
          <p:cNvPr id="12" name="Image 2" descr="Warning">    </p:cNvPr>
          <p:cNvPicPr>
            <a:picLocks noChangeAspect="1"/>
          </p:cNvPicPr>
          <p:nvPr/>
        </p:nvPicPr>
        <p:blipFill>
          <a:blip r:embed="rId3"/>
          <a:srcRect l="0" r="0" t="0" b="0"/>
          <a:stretch/>
        </p:blipFill>
        <p:spPr>
          <a:xfrm>
            <a:off x="5156150" y="3455119"/>
            <a:ext cx="304767" cy="304767"/>
          </a:xfrm>
          <a:prstGeom prst="rect">
            <a:avLst/>
          </a:prstGeom>
        </p:spPr>
      </p:pic>
      <p:sp>
        <p:nvSpPr>
          <p:cNvPr id="13" name="Text 8"/>
          <p:cNvSpPr/>
          <p:nvPr/>
        </p:nvSpPr>
        <p:spPr>
          <a:xfrm>
            <a:off x="5613301" y="3455119"/>
            <a:ext cx="5938910" cy="30991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A1A1A"/>
                </a:solidFill>
                <a:latin typeface="Source Sans 3" pitchFamily="34" charset="0"/>
                <a:ea typeface="Source Sans 3" pitchFamily="34" charset="-122"/>
                <a:cs typeface="Source Sans 3" pitchFamily="34" charset="-120"/>
              </a:rPr>
              <a:t>Conflicto armado</a:t>
            </a:r>
            <a:r>
              <a:rPr lang="en-US" sz="1600" dirty="0">
                <a:solidFill>
                  <a:srgbClr val="1A1A1A"/>
                </a:solidFill>
                <a:latin typeface="Source Sans 3" pitchFamily="34" charset="0"/>
                <a:ea typeface="Source Sans 3" pitchFamily="34" charset="-122"/>
                <a:cs typeface="Source Sans 3" pitchFamily="34" charset="-120"/>
              </a:rPr>
              <a:t> y sus impactos diferenciados.</a:t>
            </a:r>
            <a:endParaRPr lang="en-US" sz="1600" dirty="0"/>
          </a:p>
        </p:txBody>
      </p:sp>
      <p:sp>
        <p:nvSpPr>
          <p:cNvPr id="14" name="Text 9"/>
          <p:cNvSpPr/>
          <p:nvPr/>
        </p:nvSpPr>
        <p:spPr>
          <a:xfrm>
            <a:off x="7454933" y="6238292"/>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Hinestroza Cuesta · UTCH</a:t>
            </a:r>
            <a:endParaRPr lang="en-US" sz="12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3F3F3"/>
        </a:solidFill>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¿QUIÉNES SON?</a:t>
            </a:r>
            <a:endParaRPr lang="en-US" sz="1200" dirty="0"/>
          </a:p>
        </p:txBody>
      </p:sp>
      <p:sp>
        <p:nvSpPr>
          <p:cNvPr id="3" name="Text 1"/>
          <p:cNvSpPr/>
          <p:nvPr>
            <p:ph type="title"/>
          </p:nvPr>
        </p:nvSpPr>
        <p:spPr>
          <a:xfrm>
            <a:off x="812767" y="112762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1A1A"/>
                </a:solidFill>
                <a:latin typeface="Source Sans 3" pitchFamily="34" charset="0"/>
                <a:ea typeface="Source Sans 3" pitchFamily="34" charset="-122"/>
                <a:cs typeface="Source Sans 3" pitchFamily="34" charset="-120"/>
              </a:rPr>
              <a:t>Sujetos de especial protección constitucional</a:t>
            </a:r>
            <a:endParaRPr lang="en-US" sz="3200" dirty="0"/>
          </a:p>
        </p:txBody>
      </p:sp>
      <p:sp>
        <p:nvSpPr>
          <p:cNvPr id="4" name="Shape 2"/>
          <p:cNvSpPr/>
          <p:nvPr/>
        </p:nvSpPr>
        <p:spPr>
          <a:xfrm>
            <a:off x="812767" y="1676127"/>
            <a:ext cx="762000" cy="50767"/>
          </a:xfrm>
          <a:prstGeom prst="rect">
            <a:avLst/>
          </a:prstGeom>
          <a:solidFill>
            <a:srgbClr val="FC8400"/>
          </a:solidFill>
          <a:ln/>
        </p:spPr>
      </p:sp>
      <p:sp>
        <p:nvSpPr>
          <p:cNvPr id="5" name="Shape 3"/>
          <p:cNvSpPr/>
          <p:nvPr/>
        </p:nvSpPr>
        <p:spPr>
          <a:xfrm>
            <a:off x="838167" y="1980902"/>
            <a:ext cx="0" cy="1925505"/>
          </a:xfrm>
          <a:prstGeom prst="line">
            <a:avLst/>
          </a:prstGeom>
          <a:noFill/>
          <a:ln w="50800">
            <a:solidFill>
              <a:srgbClr val="156082"/>
            </a:solidFill>
            <a:prstDash val="solid"/>
          </a:ln>
        </p:spPr>
      </p:sp>
      <p:sp>
        <p:nvSpPr>
          <p:cNvPr id="6" name="Text 4"/>
          <p:cNvSpPr/>
          <p:nvPr/>
        </p:nvSpPr>
        <p:spPr>
          <a:xfrm>
            <a:off x="1114392" y="1980902"/>
            <a:ext cx="10572786" cy="1549648"/>
          </a:xfrm>
          <a:prstGeom prst="rect">
            <a:avLst/>
          </a:prstGeom>
          <a:noFill/>
          <a:ln/>
        </p:spPr>
        <p:txBody>
          <a:bodyPr wrap="square" lIns="0" tIns="0" rIns="0" bIns="0" rtlCol="0" anchor="t">
            <a:normAutofit/>
          </a:bodyPr>
          <a:lstStyle/>
          <a:p>
            <a:pPr algn="l" indent="0" marL="0">
              <a:lnSpc>
                <a:spcPts val="2400"/>
              </a:lnSpc>
              <a:buNone/>
            </a:pPr>
            <a:r>
              <a:rPr lang="en-US" sz="1600" i="1" dirty="0">
                <a:solidFill>
                  <a:srgbClr val="1A1A1A"/>
                </a:solidFill>
                <a:latin typeface="Georgia" pitchFamily="18" charset="0"/>
                <a:ea typeface="Georgia" pitchFamily="18" charset="-122"/>
                <a:cs typeface="Georgia" pitchFamily="18" charset="-120"/>
              </a:rPr>
              <a:t>«Niños y niñas, madres cabeza de familia, personas en situación de discapacidad, población desplazada, adultos mayores, y todas aquellas personas que por su situación de debilidad manifiesta se ubican en una posición de desigualdad material con respecto al resto de la población […]. Las condiciones de debilidad manifiesta obligan a un tratamiento preferencial en términos de acceso a los mecanismos judiciales de protección de derechos, a fin de garantizar la igualdad material a través de discriminaciones afirmativas.»</a:t>
            </a:r>
            <a:endParaRPr lang="en-US" sz="1600" dirty="0"/>
          </a:p>
        </p:txBody>
      </p:sp>
      <p:sp>
        <p:nvSpPr>
          <p:cNvPr id="7" name="Text 5"/>
          <p:cNvSpPr/>
          <p:nvPr/>
        </p:nvSpPr>
        <p:spPr>
          <a:xfrm>
            <a:off x="1114392" y="3657526"/>
            <a:ext cx="10572786" cy="27427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85757"/>
                </a:solidFill>
                <a:latin typeface="Source Sans 3" pitchFamily="34" charset="0"/>
                <a:ea typeface="Source Sans 3" pitchFamily="34" charset="-122"/>
                <a:cs typeface="Source Sans 3" pitchFamily="34" charset="-120"/>
              </a:rPr>
              <a:t>Corte Constitucional, Sentencia T-136 de 2013. M.P. Alberto Rojas Ríos</a:t>
            </a:r>
            <a:endParaRPr lang="en-US" sz="1400" dirty="0"/>
          </a:p>
        </p:txBody>
      </p:sp>
      <p:sp>
        <p:nvSpPr>
          <p:cNvPr id="8" name="Text 6"/>
          <p:cNvSpPr/>
          <p:nvPr/>
        </p:nvSpPr>
        <p:spPr>
          <a:xfrm>
            <a:off x="7454933" y="6238292"/>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Hinestroza Cuesta · UTCH</a:t>
            </a:r>
            <a:endParaRPr lang="en-US" sz="12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767" y="812763"/>
            <a:ext cx="4445000" cy="5029233"/>
          </a:xfrm>
          <a:prstGeom prst="rect">
            <a:avLst/>
          </a:prstGeom>
          <a:solidFill>
            <a:srgbClr val="156082"/>
          </a:solidFill>
          <a:ln/>
        </p:spPr>
      </p:sp>
      <p:sp>
        <p:nvSpPr>
          <p:cNvPr id="3" name="Text 1"/>
          <p:cNvSpPr/>
          <p:nvPr/>
        </p:nvSpPr>
        <p:spPr>
          <a:xfrm>
            <a:off x="1219150" y="1877132"/>
            <a:ext cx="37412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CCC00"/>
                </a:solidFill>
                <a:latin typeface="Source Sans 3" pitchFamily="34" charset="0"/>
                <a:ea typeface="Source Sans 3" pitchFamily="34" charset="-122"/>
                <a:cs typeface="Source Sans 3" pitchFamily="34" charset="-120"/>
              </a:rPr>
              <a:t>CORTE CONSTITUCIONAL</a:t>
            </a:r>
            <a:endParaRPr lang="en-US" sz="1200" dirty="0"/>
          </a:p>
        </p:txBody>
      </p:sp>
      <p:sp>
        <p:nvSpPr>
          <p:cNvPr id="4" name="Text 2"/>
          <p:cNvSpPr/>
          <p:nvPr/>
        </p:nvSpPr>
        <p:spPr>
          <a:xfrm>
            <a:off x="1219150" y="2217452"/>
            <a:ext cx="3741200" cy="416487"/>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FFFF"/>
                </a:solidFill>
                <a:latin typeface="Source Sans 3" pitchFamily="34" charset="0"/>
                <a:ea typeface="Source Sans 3" pitchFamily="34" charset="-122"/>
                <a:cs typeface="Source Sans 3" pitchFamily="34" charset="-120"/>
              </a:rPr>
              <a:t>Sentencia</a:t>
            </a:r>
            <a:endParaRPr lang="en-US" sz="2200" dirty="0"/>
          </a:p>
        </p:txBody>
      </p:sp>
      <p:sp>
        <p:nvSpPr>
          <p:cNvPr id="5" name="Text 3"/>
          <p:cNvSpPr/>
          <p:nvPr/>
        </p:nvSpPr>
        <p:spPr>
          <a:xfrm>
            <a:off x="1219150" y="2735535"/>
            <a:ext cx="3741200" cy="977900"/>
          </a:xfrm>
          <a:prstGeom prst="rect">
            <a:avLst/>
          </a:prstGeom>
          <a:noFill/>
          <a:ln/>
        </p:spPr>
        <p:txBody>
          <a:bodyPr wrap="square" lIns="0" tIns="0" rIns="0" bIns="0" rtlCol="0" anchor="t">
            <a:normAutofit/>
          </a:bodyPr>
          <a:lstStyle/>
          <a:p>
            <a:pPr algn="l" indent="0" marL="0">
              <a:lnSpc>
                <a:spcPts val="7500"/>
              </a:lnSpc>
              <a:buNone/>
            </a:pPr>
            <a:r>
              <a:rPr lang="en-US" sz="7500" b="1" spc="-200" kern="0" dirty="0">
                <a:solidFill>
                  <a:srgbClr val="FFFFFF"/>
                </a:solidFill>
                <a:latin typeface="Source Sans 3" pitchFamily="34" charset="0"/>
                <a:ea typeface="Source Sans 3" pitchFamily="34" charset="-122"/>
                <a:cs typeface="Source Sans 3" pitchFamily="34" charset="-120"/>
              </a:rPr>
              <a:t>T-410</a:t>
            </a:r>
            <a:endParaRPr lang="en-US" sz="7500" dirty="0"/>
          </a:p>
        </p:txBody>
      </p:sp>
      <p:sp>
        <p:nvSpPr>
          <p:cNvPr id="6" name="Text 4"/>
          <p:cNvSpPr/>
          <p:nvPr/>
        </p:nvSpPr>
        <p:spPr>
          <a:xfrm>
            <a:off x="1219150" y="3815035"/>
            <a:ext cx="3741200" cy="416487"/>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FFFF"/>
                </a:solidFill>
                <a:latin typeface="Source Sans 3" pitchFamily="34" charset="0"/>
                <a:ea typeface="Source Sans 3" pitchFamily="34" charset="-122"/>
                <a:cs typeface="Source Sans 3" pitchFamily="34" charset="-120"/>
              </a:rPr>
              <a:t>de 2021</a:t>
            </a:r>
            <a:endParaRPr lang="en-US" sz="2200" dirty="0"/>
          </a:p>
        </p:txBody>
      </p:sp>
      <p:sp>
        <p:nvSpPr>
          <p:cNvPr id="7" name="Shape 5"/>
          <p:cNvSpPr/>
          <p:nvPr/>
        </p:nvSpPr>
        <p:spPr>
          <a:xfrm>
            <a:off x="1219150" y="4333131"/>
            <a:ext cx="762000" cy="50767"/>
          </a:xfrm>
          <a:prstGeom prst="rect">
            <a:avLst/>
          </a:prstGeom>
          <a:solidFill>
            <a:srgbClr val="FC8400"/>
          </a:solidFill>
          <a:ln/>
        </p:spPr>
      </p:sp>
      <p:sp>
        <p:nvSpPr>
          <p:cNvPr id="8" name="Text 6"/>
          <p:cNvSpPr/>
          <p:nvPr/>
        </p:nvSpPr>
        <p:spPr>
          <a:xfrm>
            <a:off x="1219150" y="4510881"/>
            <a:ext cx="3741200" cy="29205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FFFFF"/>
                </a:solidFill>
                <a:latin typeface="Source Sans 3" pitchFamily="34" charset="0"/>
                <a:ea typeface="Source Sans 3" pitchFamily="34" charset="-122"/>
                <a:cs typeface="Source Sans 3" pitchFamily="34" charset="-120"/>
              </a:rPr>
              <a:t>M.P. Diana Fajardo Rivera</a:t>
            </a:r>
            <a:endParaRPr lang="en-US" sz="1500" dirty="0"/>
          </a:p>
        </p:txBody>
      </p:sp>
      <p:sp>
        <p:nvSpPr>
          <p:cNvPr id="9" name="Text 7"/>
          <p:cNvSpPr/>
          <p:nvPr/>
        </p:nvSpPr>
        <p:spPr>
          <a:xfrm>
            <a:off x="5765767" y="2085330"/>
            <a:ext cx="578187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HECHOS</a:t>
            </a:r>
            <a:endParaRPr lang="en-US" sz="1200" dirty="0"/>
          </a:p>
        </p:txBody>
      </p:sp>
      <p:sp>
        <p:nvSpPr>
          <p:cNvPr id="10" name="Text 8"/>
          <p:cNvSpPr/>
          <p:nvPr/>
        </p:nvSpPr>
        <p:spPr>
          <a:xfrm>
            <a:off x="5765767" y="2374801"/>
            <a:ext cx="5781870" cy="985589"/>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A1A1A"/>
                </a:solidFill>
                <a:latin typeface="Source Sans 3" pitchFamily="34" charset="0"/>
                <a:ea typeface="Source Sans 3" pitchFamily="34" charset="-122"/>
                <a:cs typeface="Source Sans 3" pitchFamily="34" charset="-120"/>
              </a:rPr>
              <a:t>Mujer afrocolombiana en situación de discapacidad, víctima de abuso sexual, privada de los derechos sobre su hija menor de edad.</a:t>
            </a:r>
            <a:endParaRPr lang="en-US" sz="1800" dirty="0"/>
          </a:p>
        </p:txBody>
      </p:sp>
      <p:sp>
        <p:nvSpPr>
          <p:cNvPr id="11" name="Text 9"/>
          <p:cNvSpPr/>
          <p:nvPr/>
        </p:nvSpPr>
        <p:spPr>
          <a:xfrm>
            <a:off x="5765767" y="3639741"/>
            <a:ext cx="578187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ACCIÓN</a:t>
            </a:r>
            <a:endParaRPr lang="en-US" sz="1200" dirty="0"/>
          </a:p>
        </p:txBody>
      </p:sp>
      <p:sp>
        <p:nvSpPr>
          <p:cNvPr id="12" name="Text 10"/>
          <p:cNvSpPr/>
          <p:nvPr/>
        </p:nvSpPr>
        <p:spPr>
          <a:xfrm>
            <a:off x="5765767" y="3929211"/>
            <a:ext cx="5781870" cy="665526"/>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A1A1A"/>
                </a:solidFill>
                <a:latin typeface="Source Sans 3" pitchFamily="34" charset="0"/>
                <a:ea typeface="Source Sans 3" pitchFamily="34" charset="-122"/>
                <a:cs typeface="Source Sans 3" pitchFamily="34" charset="-120"/>
              </a:rPr>
              <a:t>Tutela para la protección y el restablecimiento de sus derechos fundamentales.</a:t>
            </a:r>
            <a:endParaRPr lang="en-US" sz="1800" dirty="0"/>
          </a:p>
        </p:txBody>
      </p:sp>
      <p:sp>
        <p:nvSpPr>
          <p:cNvPr id="13" name="Text 11"/>
          <p:cNvSpPr/>
          <p:nvPr/>
        </p:nvSpPr>
        <p:spPr>
          <a:xfrm>
            <a:off x="7454933" y="6238280"/>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Hinestroza Cuesta · UTCH</a:t>
            </a:r>
            <a:endParaRPr lang="en-US" sz="12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7" y="812750"/>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SENTENCIA T-410 DE 2021</a:t>
            </a:r>
            <a:endParaRPr lang="en-US" sz="1200" dirty="0"/>
          </a:p>
        </p:txBody>
      </p:sp>
      <p:sp>
        <p:nvSpPr>
          <p:cNvPr id="3" name="Text 1"/>
          <p:cNvSpPr/>
          <p:nvPr>
            <p:ph type="title"/>
          </p:nvPr>
        </p:nvSpPr>
        <p:spPr>
          <a:xfrm>
            <a:off x="812767" y="112762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1A1A"/>
                </a:solidFill>
                <a:latin typeface="Source Sans 3" pitchFamily="34" charset="0"/>
                <a:ea typeface="Source Sans 3" pitchFamily="34" charset="-122"/>
                <a:cs typeface="Source Sans 3" pitchFamily="34" charset="-120"/>
              </a:rPr>
              <a:t>Aspectos relevantes</a:t>
            </a:r>
            <a:endParaRPr lang="en-US" sz="3200" dirty="0"/>
          </a:p>
        </p:txBody>
      </p:sp>
      <p:sp>
        <p:nvSpPr>
          <p:cNvPr id="4" name="Shape 2"/>
          <p:cNvSpPr/>
          <p:nvPr/>
        </p:nvSpPr>
        <p:spPr>
          <a:xfrm>
            <a:off x="812767" y="1676127"/>
            <a:ext cx="762000" cy="50767"/>
          </a:xfrm>
          <a:prstGeom prst="rect">
            <a:avLst/>
          </a:prstGeom>
          <a:solidFill>
            <a:srgbClr val="FC8400"/>
          </a:solidFill>
          <a:ln/>
        </p:spPr>
      </p:sp>
      <p:sp>
        <p:nvSpPr>
          <p:cNvPr id="5" name="Shape 3"/>
          <p:cNvSpPr/>
          <p:nvPr/>
        </p:nvSpPr>
        <p:spPr>
          <a:xfrm>
            <a:off x="831817" y="2031653"/>
            <a:ext cx="0" cy="479888"/>
          </a:xfrm>
          <a:prstGeom prst="line">
            <a:avLst/>
          </a:prstGeom>
          <a:noFill/>
          <a:ln w="38100">
            <a:solidFill>
              <a:srgbClr val="156082"/>
            </a:solidFill>
            <a:prstDash val="solid"/>
          </a:ln>
        </p:spPr>
      </p:sp>
      <p:sp>
        <p:nvSpPr>
          <p:cNvPr id="6" name="Text 4"/>
          <p:cNvSpPr/>
          <p:nvPr/>
        </p:nvSpPr>
        <p:spPr>
          <a:xfrm>
            <a:off x="1002209" y="2031653"/>
            <a:ext cx="5769845" cy="50528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A1A1A"/>
                </a:solidFill>
                <a:latin typeface="Source Sans 3" pitchFamily="34" charset="0"/>
                <a:ea typeface="Source Sans 3" pitchFamily="34" charset="-122"/>
                <a:cs typeface="Source Sans 3" pitchFamily="34" charset="-120"/>
              </a:rPr>
              <a:t>Protección constitucional del derecho a la no discriminación por razones de género</a:t>
            </a:r>
            <a:endParaRPr lang="en-US" sz="1400" dirty="0"/>
          </a:p>
        </p:txBody>
      </p:sp>
      <p:sp>
        <p:nvSpPr>
          <p:cNvPr id="7" name="Shape 5"/>
          <p:cNvSpPr/>
          <p:nvPr/>
        </p:nvSpPr>
        <p:spPr>
          <a:xfrm>
            <a:off x="831817" y="2638549"/>
            <a:ext cx="0" cy="479888"/>
          </a:xfrm>
          <a:prstGeom prst="line">
            <a:avLst/>
          </a:prstGeom>
          <a:noFill/>
          <a:ln w="38100">
            <a:solidFill>
              <a:srgbClr val="156082"/>
            </a:solidFill>
            <a:prstDash val="solid"/>
          </a:ln>
        </p:spPr>
      </p:sp>
      <p:sp>
        <p:nvSpPr>
          <p:cNvPr id="8" name="Text 6"/>
          <p:cNvSpPr/>
          <p:nvPr/>
        </p:nvSpPr>
        <p:spPr>
          <a:xfrm>
            <a:off x="1002209" y="2638549"/>
            <a:ext cx="5769845" cy="50528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A1A1A"/>
                </a:solidFill>
                <a:latin typeface="Source Sans 3" pitchFamily="34" charset="0"/>
                <a:ea typeface="Source Sans 3" pitchFamily="34" charset="-122"/>
                <a:cs typeface="Source Sans 3" pitchFamily="34" charset="-120"/>
              </a:rPr>
              <a:t>Obligación del Estado de eliminar los estereotipos de género hacia las mujeres</a:t>
            </a:r>
            <a:endParaRPr lang="en-US" sz="1400" dirty="0"/>
          </a:p>
        </p:txBody>
      </p:sp>
      <p:sp>
        <p:nvSpPr>
          <p:cNvPr id="9" name="Shape 7"/>
          <p:cNvSpPr/>
          <p:nvPr/>
        </p:nvSpPr>
        <p:spPr>
          <a:xfrm>
            <a:off x="831817" y="3245445"/>
            <a:ext cx="0" cy="479888"/>
          </a:xfrm>
          <a:prstGeom prst="line">
            <a:avLst/>
          </a:prstGeom>
          <a:noFill/>
          <a:ln w="38100">
            <a:solidFill>
              <a:srgbClr val="156082"/>
            </a:solidFill>
            <a:prstDash val="solid"/>
          </a:ln>
        </p:spPr>
      </p:sp>
      <p:sp>
        <p:nvSpPr>
          <p:cNvPr id="10" name="Text 8"/>
          <p:cNvSpPr/>
          <p:nvPr/>
        </p:nvSpPr>
        <p:spPr>
          <a:xfrm>
            <a:off x="1002209" y="3245445"/>
            <a:ext cx="5769845" cy="50528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A1A1A"/>
                </a:solidFill>
                <a:latin typeface="Source Sans 3" pitchFamily="34" charset="0"/>
                <a:ea typeface="Source Sans 3" pitchFamily="34" charset="-122"/>
                <a:cs typeface="Source Sans 3" pitchFamily="34" charset="-120"/>
              </a:rPr>
              <a:t>Deber constitucional y legal de todos los jueces de administrar justicia con enfoque de género</a:t>
            </a:r>
            <a:endParaRPr lang="en-US" sz="1400" dirty="0"/>
          </a:p>
        </p:txBody>
      </p:sp>
      <p:sp>
        <p:nvSpPr>
          <p:cNvPr id="11" name="Shape 9"/>
          <p:cNvSpPr/>
          <p:nvPr/>
        </p:nvSpPr>
        <p:spPr>
          <a:xfrm>
            <a:off x="831817" y="3852317"/>
            <a:ext cx="0" cy="479888"/>
          </a:xfrm>
          <a:prstGeom prst="line">
            <a:avLst/>
          </a:prstGeom>
          <a:noFill/>
          <a:ln w="38100">
            <a:solidFill>
              <a:srgbClr val="C8102E"/>
            </a:solidFill>
            <a:prstDash val="solid"/>
          </a:ln>
        </p:spPr>
      </p:sp>
      <p:sp>
        <p:nvSpPr>
          <p:cNvPr id="12" name="Text 10"/>
          <p:cNvSpPr/>
          <p:nvPr/>
        </p:nvSpPr>
        <p:spPr>
          <a:xfrm>
            <a:off x="1002209" y="3852317"/>
            <a:ext cx="5769845" cy="505288"/>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A1A1A"/>
                </a:solidFill>
                <a:latin typeface="Source Sans 3" pitchFamily="34" charset="0"/>
                <a:ea typeface="Source Sans 3" pitchFamily="34" charset="-122"/>
                <a:cs typeface="Source Sans 3" pitchFamily="34" charset="-120"/>
              </a:rPr>
              <a:t>Igualdad y prohibición de discriminación racial:</a:t>
            </a:r>
            <a:r>
              <a:rPr lang="en-US" sz="1400" dirty="0">
                <a:solidFill>
                  <a:srgbClr val="1A1A1A"/>
                </a:solidFill>
                <a:latin typeface="Source Sans 3" pitchFamily="34" charset="0"/>
                <a:ea typeface="Source Sans 3" pitchFamily="34" charset="-122"/>
                <a:cs typeface="Source Sans 3" pitchFamily="34" charset="-120"/>
              </a:rPr>
              <a:t> estereotipos de género contra la mujer afrodescendiente</a:t>
            </a:r>
            <a:endParaRPr lang="en-US" sz="1400" dirty="0"/>
          </a:p>
        </p:txBody>
      </p:sp>
      <p:sp>
        <p:nvSpPr>
          <p:cNvPr id="13" name="Shape 11"/>
          <p:cNvSpPr/>
          <p:nvPr/>
        </p:nvSpPr>
        <p:spPr>
          <a:xfrm>
            <a:off x="831817" y="4459213"/>
            <a:ext cx="0" cy="479888"/>
          </a:xfrm>
          <a:prstGeom prst="line">
            <a:avLst/>
          </a:prstGeom>
          <a:noFill/>
          <a:ln w="38100">
            <a:solidFill>
              <a:srgbClr val="156082"/>
            </a:solidFill>
            <a:prstDash val="solid"/>
          </a:ln>
        </p:spPr>
      </p:sp>
      <p:sp>
        <p:nvSpPr>
          <p:cNvPr id="14" name="Text 12"/>
          <p:cNvSpPr/>
          <p:nvPr/>
        </p:nvSpPr>
        <p:spPr>
          <a:xfrm>
            <a:off x="1002209" y="4459213"/>
            <a:ext cx="5769845" cy="50528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A1A1A"/>
                </a:solidFill>
                <a:latin typeface="Source Sans 3" pitchFamily="34" charset="0"/>
                <a:ea typeface="Source Sans 3" pitchFamily="34" charset="-122"/>
                <a:cs typeface="Source Sans 3" pitchFamily="34" charset="-120"/>
              </a:rPr>
              <a:t>El concepto de discriminación interseccional o múltiple y la aplicación del enfoque de interseccionalidad</a:t>
            </a:r>
            <a:endParaRPr lang="en-US" sz="1400" dirty="0"/>
          </a:p>
        </p:txBody>
      </p:sp>
      <p:sp>
        <p:nvSpPr>
          <p:cNvPr id="15" name="Shape 13"/>
          <p:cNvSpPr/>
          <p:nvPr/>
        </p:nvSpPr>
        <p:spPr>
          <a:xfrm>
            <a:off x="7010383" y="2031653"/>
            <a:ext cx="4368850" cy="2907440"/>
          </a:xfrm>
          <a:prstGeom prst="rect">
            <a:avLst/>
          </a:prstGeom>
          <a:solidFill>
            <a:srgbClr val="F3F3F3"/>
          </a:solidFill>
          <a:ln/>
        </p:spPr>
      </p:sp>
      <p:sp>
        <p:nvSpPr>
          <p:cNvPr id="16" name="Shape 14"/>
          <p:cNvSpPr/>
          <p:nvPr/>
        </p:nvSpPr>
        <p:spPr>
          <a:xfrm>
            <a:off x="7010383" y="2057053"/>
            <a:ext cx="4368850" cy="0"/>
          </a:xfrm>
          <a:prstGeom prst="line">
            <a:avLst/>
          </a:prstGeom>
          <a:noFill/>
          <a:ln w="50800">
            <a:solidFill>
              <a:srgbClr val="0C5837"/>
            </a:solidFill>
            <a:prstDash val="solid"/>
          </a:ln>
        </p:spPr>
      </p:sp>
      <p:sp>
        <p:nvSpPr>
          <p:cNvPr id="17" name="Text 15"/>
          <p:cNvSpPr/>
          <p:nvPr/>
        </p:nvSpPr>
        <p:spPr>
          <a:xfrm>
            <a:off x="7264383" y="2333278"/>
            <a:ext cx="397667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EN MATERIA PROBATORIA</a:t>
            </a:r>
            <a:endParaRPr lang="en-US" sz="1200" dirty="0"/>
          </a:p>
        </p:txBody>
      </p:sp>
      <p:sp>
        <p:nvSpPr>
          <p:cNvPr id="18" name="Text 16"/>
          <p:cNvSpPr/>
          <p:nvPr/>
        </p:nvSpPr>
        <p:spPr>
          <a:xfrm>
            <a:off x="7264383" y="2698998"/>
            <a:ext cx="3976675" cy="77202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A1A1A"/>
                </a:solidFill>
                <a:latin typeface="Source Sans 3" pitchFamily="34" charset="0"/>
                <a:ea typeface="Source Sans 3" pitchFamily="34" charset="-122"/>
                <a:cs typeface="Source Sans 3" pitchFamily="34" charset="-120"/>
              </a:rPr>
              <a:t>Primacía de la realidad:</a:t>
            </a:r>
            <a:r>
              <a:rPr lang="en-US" sz="1400" dirty="0">
                <a:solidFill>
                  <a:srgbClr val="1A1A1A"/>
                </a:solidFill>
                <a:latin typeface="Source Sans 3" pitchFamily="34" charset="0"/>
                <a:ea typeface="Source Sans 3" pitchFamily="34" charset="-122"/>
                <a:cs typeface="Source Sans 3" pitchFamily="34" charset="-120"/>
              </a:rPr>
              <a:t> está proscrito exigir tarifas legales o pruebas solemnes para demostrar la condición de discapacidad.</a:t>
            </a:r>
            <a:endParaRPr lang="en-US" sz="1400" dirty="0"/>
          </a:p>
        </p:txBody>
      </p:sp>
      <p:sp>
        <p:nvSpPr>
          <p:cNvPr id="19" name="Text 17"/>
          <p:cNvSpPr/>
          <p:nvPr/>
        </p:nvSpPr>
        <p:spPr>
          <a:xfrm>
            <a:off x="7264383" y="3597994"/>
            <a:ext cx="3976675" cy="77202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A1A1A"/>
                </a:solidFill>
                <a:latin typeface="Source Sans 3" pitchFamily="34" charset="0"/>
                <a:ea typeface="Source Sans 3" pitchFamily="34" charset="-122"/>
                <a:cs typeface="Source Sans 3" pitchFamily="34" charset="-120"/>
              </a:rPr>
              <a:t>Libertad probatoria:</a:t>
            </a:r>
            <a:r>
              <a:rPr lang="en-US" sz="1400" dirty="0">
                <a:solidFill>
                  <a:srgbClr val="1A1A1A"/>
                </a:solidFill>
                <a:latin typeface="Source Sans 3" pitchFamily="34" charset="0"/>
                <a:ea typeface="Source Sans 3" pitchFamily="34" charset="-122"/>
                <a:cs typeface="Source Sans 3" pitchFamily="34" charset="-120"/>
              </a:rPr>
              <a:t> el juez puede acudir a incapacidades médicas, historia clínica o cualquier otro medio de prueba.</a:t>
            </a:r>
            <a:endParaRPr lang="en-US" sz="1400" dirty="0"/>
          </a:p>
        </p:txBody>
      </p:sp>
      <p:sp>
        <p:nvSpPr>
          <p:cNvPr id="20" name="Text 18"/>
          <p:cNvSpPr/>
          <p:nvPr/>
        </p:nvSpPr>
        <p:spPr>
          <a:xfrm>
            <a:off x="7454933" y="6238280"/>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Hinestroza Cuesta · UTCH</a:t>
            </a:r>
            <a:endParaRPr lang="en-US" sz="120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3F3F3"/>
        </a:solidFill>
      </p:bgPr>
    </p:bg>
    <p:spTree>
      <p:nvGrpSpPr>
        <p:cNvPr id="1" name=""/>
        <p:cNvGrpSpPr/>
        <p:nvPr/>
      </p:nvGrpSpPr>
      <p:grpSpPr>
        <a:xfrm>
          <a:off x="0" y="0"/>
          <a:ext cx="0" cy="0"/>
          <a:chOff x="0" y="0"/>
          <a:chExt cx="0" cy="0"/>
        </a:xfrm>
      </p:grpSpPr>
      <p:sp>
        <p:nvSpPr>
          <p:cNvPr id="2" name="Text 0"/>
          <p:cNvSpPr/>
          <p:nvPr/>
        </p:nvSpPr>
        <p:spPr>
          <a:xfrm>
            <a:off x="812767" y="1889869"/>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LA CORTE DEFINE LA INTERSECCIONALIDAD</a:t>
            </a:r>
            <a:endParaRPr lang="en-US" sz="1200" dirty="0"/>
          </a:p>
        </p:txBody>
      </p:sp>
      <p:sp>
        <p:nvSpPr>
          <p:cNvPr id="3" name="Shape 1"/>
          <p:cNvSpPr/>
          <p:nvPr/>
        </p:nvSpPr>
        <p:spPr>
          <a:xfrm>
            <a:off x="838167" y="2306340"/>
            <a:ext cx="0" cy="2458558"/>
          </a:xfrm>
          <a:prstGeom prst="line">
            <a:avLst/>
          </a:prstGeom>
          <a:noFill/>
          <a:ln w="50800">
            <a:solidFill>
              <a:srgbClr val="156082"/>
            </a:solidFill>
            <a:prstDash val="solid"/>
          </a:ln>
        </p:spPr>
      </p:sp>
      <p:sp>
        <p:nvSpPr>
          <p:cNvPr id="4" name="Text 2"/>
          <p:cNvSpPr/>
          <p:nvPr/>
        </p:nvSpPr>
        <p:spPr>
          <a:xfrm>
            <a:off x="1114392" y="2306340"/>
            <a:ext cx="10572786" cy="2082701"/>
          </a:xfrm>
          <a:prstGeom prst="rect">
            <a:avLst/>
          </a:prstGeom>
          <a:noFill/>
          <a:ln/>
        </p:spPr>
        <p:txBody>
          <a:bodyPr wrap="square" lIns="0" tIns="0" rIns="0" bIns="0" rtlCol="0" anchor="t">
            <a:normAutofit/>
          </a:bodyPr>
          <a:lstStyle/>
          <a:p>
            <a:pPr algn="l" indent="0" marL="0">
              <a:lnSpc>
                <a:spcPts val="2700"/>
              </a:lnSpc>
              <a:buNone/>
            </a:pPr>
            <a:r>
              <a:rPr lang="en-US" sz="1800" i="1" dirty="0">
                <a:solidFill>
                  <a:srgbClr val="1A1A1A"/>
                </a:solidFill>
                <a:latin typeface="Georgia" pitchFamily="18" charset="0"/>
                <a:ea typeface="Georgia" pitchFamily="18" charset="-122"/>
                <a:cs typeface="Georgia" pitchFamily="18" charset="-120"/>
              </a:rPr>
              <a:t>«La interseccionalidad es una forma de análisis que parte de reconocer que una misma persona puede estar atravesada por diferentes identidades que generan situaciones únicas. Este marco conceptual va más allá del género como único factor opresor de la mujer; el análisis interseccional tiene en cuenta asuntos económicos, sociales, políticos, culturales, psíquicos, subjetivos y experienciales, que a su vez se presentan en contextos específicos, generando modos de relaciones jerárquicas y desiguales.»</a:t>
            </a:r>
            <a:endParaRPr lang="en-US" sz="1800" dirty="0"/>
          </a:p>
        </p:txBody>
      </p:sp>
      <p:sp>
        <p:nvSpPr>
          <p:cNvPr id="5" name="Text 3"/>
          <p:cNvSpPr/>
          <p:nvPr/>
        </p:nvSpPr>
        <p:spPr>
          <a:xfrm>
            <a:off x="1114392" y="4516016"/>
            <a:ext cx="10572786" cy="27427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85757"/>
                </a:solidFill>
                <a:latin typeface="Source Sans 3" pitchFamily="34" charset="0"/>
                <a:ea typeface="Source Sans 3" pitchFamily="34" charset="-122"/>
                <a:cs typeface="Source Sans 3" pitchFamily="34" charset="-120"/>
              </a:rPr>
              <a:t>Corte Constitucional, Sentencia T-410 de 2021</a:t>
            </a:r>
            <a:endParaRPr lang="en-US" sz="140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56082"/>
        </a:solidFill>
      </p:bgPr>
    </p:bg>
    <p:spTree>
      <p:nvGrpSpPr>
        <p:cNvPr id="1" name=""/>
        <p:cNvGrpSpPr/>
        <p:nvPr/>
      </p:nvGrpSpPr>
      <p:grpSpPr>
        <a:xfrm>
          <a:off x="0" y="0"/>
          <a:ext cx="0" cy="0"/>
          <a:chOff x="0" y="0"/>
          <a:chExt cx="0" cy="0"/>
        </a:xfrm>
      </p:grpSpPr>
      <p:sp>
        <p:nvSpPr>
          <p:cNvPr id="2" name="Text 0"/>
          <p:cNvSpPr/>
          <p:nvPr/>
        </p:nvSpPr>
        <p:spPr>
          <a:xfrm>
            <a:off x="812767" y="2061344"/>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CCC00"/>
                </a:solidFill>
                <a:latin typeface="Source Sans 3" pitchFamily="34" charset="0"/>
                <a:ea typeface="Source Sans 3" pitchFamily="34" charset="-122"/>
                <a:cs typeface="Source Sans 3" pitchFamily="34" charset="-120"/>
              </a:rPr>
              <a:t>EN SUMA</a:t>
            </a:r>
            <a:endParaRPr lang="en-US" sz="1200" dirty="0"/>
          </a:p>
        </p:txBody>
      </p:sp>
      <p:sp>
        <p:nvSpPr>
          <p:cNvPr id="3" name="Text 1"/>
          <p:cNvSpPr/>
          <p:nvPr/>
        </p:nvSpPr>
        <p:spPr>
          <a:xfrm>
            <a:off x="812767" y="2579439"/>
            <a:ext cx="10203180" cy="1671108"/>
          </a:xfrm>
          <a:prstGeom prst="rect">
            <a:avLst/>
          </a:prstGeom>
          <a:noFill/>
          <a:ln/>
        </p:spPr>
        <p:txBody>
          <a:bodyPr wrap="square" lIns="0" tIns="0" rIns="0" bIns="0" rtlCol="0" anchor="t">
            <a:normAutofit/>
          </a:bodyPr>
          <a:lstStyle/>
          <a:p>
            <a:pPr algn="l" indent="0" marL="0">
              <a:lnSpc>
                <a:spcPts val="3240"/>
              </a:lnSpc>
              <a:buNone/>
            </a:pPr>
            <a:r>
              <a:rPr lang="en-US" sz="2400" b="1" dirty="0">
                <a:solidFill>
                  <a:srgbClr val="FFFFFF"/>
                </a:solidFill>
                <a:latin typeface="Source Sans 3" pitchFamily="34" charset="0"/>
                <a:ea typeface="Source Sans 3" pitchFamily="34" charset="-122"/>
                <a:cs typeface="Source Sans 3" pitchFamily="34" charset="-120"/>
              </a:rPr>
              <a:t>Las mujeres afrodescendientes están expuestas a mayores índices de violencia y abusos, explicados en gran medida por </a:t>
            </a:r>
            <a:r>
              <a:rPr lang="en-US" sz="2400" b="1" dirty="0">
                <a:solidFill>
                  <a:srgbClr val="FCCC00"/>
                </a:solidFill>
                <a:latin typeface="Source Sans 3" pitchFamily="34" charset="0"/>
                <a:ea typeface="Source Sans 3" pitchFamily="34" charset="-122"/>
                <a:cs typeface="Source Sans 3" pitchFamily="34" charset="-120"/>
              </a:rPr>
              <a:t>tradiciones racistas y patriarcales</a:t>
            </a:r>
            <a:r>
              <a:rPr lang="en-US" sz="2400" b="1" dirty="0">
                <a:solidFill>
                  <a:srgbClr val="FFFFFF"/>
                </a:solidFill>
                <a:latin typeface="Source Sans 3" pitchFamily="34" charset="0"/>
                <a:ea typeface="Source Sans 3" pitchFamily="34" charset="-122"/>
                <a:cs typeface="Source Sans 3" pitchFamily="34" charset="-120"/>
              </a:rPr>
              <a:t> que siguen vigentes. Esas violencias se intensifican cuando a género, raza, clase y nivel escolar se suma la discapacidad.</a:t>
            </a:r>
            <a:endParaRPr lang="en-US" sz="2400" dirty="0"/>
          </a:p>
        </p:txBody>
      </p:sp>
      <p:sp>
        <p:nvSpPr>
          <p:cNvPr id="4" name="Shape 2"/>
          <p:cNvSpPr/>
          <p:nvPr/>
        </p:nvSpPr>
        <p:spPr>
          <a:xfrm>
            <a:off x="812767" y="4650532"/>
            <a:ext cx="406383" cy="25383"/>
          </a:xfrm>
          <a:prstGeom prst="rect">
            <a:avLst/>
          </a:prstGeom>
          <a:solidFill>
            <a:srgbClr val="FC8400"/>
          </a:solidFill>
          <a:ln/>
        </p:spPr>
      </p:sp>
      <p:sp>
        <p:nvSpPr>
          <p:cNvPr id="5" name="Text 3"/>
          <p:cNvSpPr/>
          <p:nvPr/>
        </p:nvSpPr>
        <p:spPr>
          <a:xfrm>
            <a:off x="1371534" y="4529906"/>
            <a:ext cx="4482207"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D6E6EE"/>
                </a:solidFill>
                <a:latin typeface="Source Sans 3" pitchFamily="34" charset="0"/>
                <a:ea typeface="Source Sans 3" pitchFamily="34" charset="-122"/>
                <a:cs typeface="Source Sans 3" pitchFamily="34" charset="-120"/>
              </a:rPr>
              <a:t>Corte Constitucional, Sentencia T-410 de 2021</a:t>
            </a:r>
            <a:endParaRPr lang="en-US" sz="150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E171B"/>
        </a:solidFill>
      </p:bgPr>
    </p:bg>
    <p:spTree>
      <p:nvGrpSpPr>
        <p:cNvPr id="1" name=""/>
        <p:cNvGrpSpPr/>
        <p:nvPr/>
      </p:nvGrpSpPr>
      <p:grpSpPr>
        <a:xfrm>
          <a:off x="0" y="0"/>
          <a:ext cx="0" cy="0"/>
          <a:chOff x="0" y="0"/>
          <a:chExt cx="0" cy="0"/>
        </a:xfrm>
      </p:grpSpPr>
      <p:sp>
        <p:nvSpPr>
          <p:cNvPr id="2" name="Text 0"/>
          <p:cNvSpPr/>
          <p:nvPr/>
        </p:nvSpPr>
        <p:spPr>
          <a:xfrm>
            <a:off x="812767" y="812750"/>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C8400"/>
                </a:solidFill>
                <a:latin typeface="Source Sans 3" pitchFamily="34" charset="0"/>
                <a:ea typeface="Source Sans 3" pitchFamily="34" charset="-122"/>
                <a:cs typeface="Source Sans 3" pitchFamily="34" charset="-120"/>
              </a:rPr>
              <a:t>CORTE CONSTITUCIONAL · SENTENCIA T-128 DE 2022 · M.P. DIANA FAJARDO RIVERA</a:t>
            </a:r>
            <a:endParaRPr lang="en-US" sz="1200" dirty="0"/>
          </a:p>
        </p:txBody>
      </p:sp>
      <p:sp>
        <p:nvSpPr>
          <p:cNvPr id="3" name="Text 1"/>
          <p:cNvSpPr/>
          <p:nvPr>
            <p:ph type="title"/>
          </p:nvPr>
        </p:nvSpPr>
        <p:spPr>
          <a:xfrm>
            <a:off x="812767" y="112762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2F2F2"/>
                </a:solidFill>
                <a:latin typeface="Source Sans 3" pitchFamily="34" charset="0"/>
                <a:ea typeface="Source Sans 3" pitchFamily="34" charset="-122"/>
                <a:cs typeface="Source Sans 3" pitchFamily="34" charset="-120"/>
              </a:rPr>
              <a:t>Las parteras del Pacífico</a:t>
            </a:r>
            <a:endParaRPr lang="en-US" sz="3200" dirty="0"/>
          </a:p>
        </p:txBody>
      </p:sp>
      <p:sp>
        <p:nvSpPr>
          <p:cNvPr id="4" name="Shape 2"/>
          <p:cNvSpPr/>
          <p:nvPr/>
        </p:nvSpPr>
        <p:spPr>
          <a:xfrm>
            <a:off x="812767" y="1676127"/>
            <a:ext cx="762000" cy="50767"/>
          </a:xfrm>
          <a:prstGeom prst="rect">
            <a:avLst/>
          </a:prstGeom>
          <a:solidFill>
            <a:srgbClr val="FC8400"/>
          </a:solidFill>
          <a:ln/>
        </p:spPr>
      </p:sp>
      <p:pic>
        <p:nvPicPr>
          <p:cNvPr id="5" name="Image 0" descr="Partera del Chocó atiende a una mujer embarazada en una casa de madera">    </p:cNvPr>
          <p:cNvPicPr>
            <a:picLocks noChangeAspect="1"/>
          </p:cNvPicPr>
          <p:nvPr/>
        </p:nvPicPr>
        <p:blipFill>
          <a:blip r:embed="rId1"/>
          <a:srcRect l="9201" r="9201" t="0" b="0"/>
          <a:stretch/>
        </p:blipFill>
        <p:spPr>
          <a:xfrm>
            <a:off x="812767" y="2031653"/>
            <a:ext cx="5181534" cy="3175000"/>
          </a:xfrm>
          <a:prstGeom prst="roundRect">
            <a:avLst>
              <a:gd name="adj" fmla="val 800"/>
            </a:avLst>
          </a:prstGeom>
        </p:spPr>
      </p:pic>
      <p:sp>
        <p:nvSpPr>
          <p:cNvPr id="6" name="Text 3"/>
          <p:cNvSpPr/>
          <p:nvPr/>
        </p:nvSpPr>
        <p:spPr>
          <a:xfrm>
            <a:off x="812767" y="5282803"/>
            <a:ext cx="53370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CBE"/>
                </a:solidFill>
                <a:latin typeface="Source Sans 3" pitchFamily="34" charset="0"/>
                <a:ea typeface="Source Sans 3" pitchFamily="34" charset="-122"/>
                <a:cs typeface="Source Sans 3" pitchFamily="34" charset="-120"/>
              </a:rPr>
              <a:t>Foto: El Tiempo</a:t>
            </a:r>
            <a:endParaRPr lang="en-US" sz="1200" dirty="0"/>
          </a:p>
        </p:txBody>
      </p:sp>
      <p:pic>
        <p:nvPicPr>
          <p:cNvPr id="7" name="Image 1" descr="Partera tradicional con turbante blanco examina el vientre de una mujer embarazada">    </p:cNvPr>
          <p:cNvPicPr>
            <a:picLocks noChangeAspect="1"/>
          </p:cNvPicPr>
          <p:nvPr/>
        </p:nvPicPr>
        <p:blipFill>
          <a:blip r:embed="rId2"/>
          <a:srcRect l="0" r="0" t="4020" b="4020"/>
          <a:stretch/>
        </p:blipFill>
        <p:spPr>
          <a:xfrm>
            <a:off x="6197534" y="2031653"/>
            <a:ext cx="5181534" cy="3175000"/>
          </a:xfrm>
          <a:prstGeom prst="roundRect">
            <a:avLst>
              <a:gd name="adj" fmla="val 800"/>
            </a:avLst>
          </a:prstGeom>
        </p:spPr>
      </p:pic>
      <p:sp>
        <p:nvSpPr>
          <p:cNvPr id="8" name="Text 4"/>
          <p:cNvSpPr/>
          <p:nvPr/>
        </p:nvSpPr>
        <p:spPr>
          <a:xfrm>
            <a:off x="6197534" y="5282803"/>
            <a:ext cx="5337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CBE"/>
                </a:solidFill>
                <a:latin typeface="Source Sans 3" pitchFamily="34" charset="0"/>
                <a:ea typeface="Source Sans 3" pitchFamily="34" charset="-122"/>
                <a:cs typeface="Source Sans 3" pitchFamily="34" charset="-120"/>
              </a:rPr>
              <a:t>Foto: Infobae</a:t>
            </a:r>
            <a:endParaRPr lang="en-US" sz="120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7" y="812750"/>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CORTE CONSTITUCIONAL</a:t>
            </a:r>
            <a:endParaRPr lang="en-US" sz="1200" dirty="0"/>
          </a:p>
        </p:txBody>
      </p:sp>
      <p:sp>
        <p:nvSpPr>
          <p:cNvPr id="3" name="Text 1"/>
          <p:cNvSpPr/>
          <p:nvPr>
            <p:ph type="title"/>
          </p:nvPr>
        </p:nvSpPr>
        <p:spPr>
          <a:xfrm>
            <a:off x="812767" y="112762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1A1A"/>
                </a:solidFill>
                <a:latin typeface="Source Sans 3" pitchFamily="34" charset="0"/>
                <a:ea typeface="Source Sans 3" pitchFamily="34" charset="-122"/>
                <a:cs typeface="Source Sans 3" pitchFamily="34" charset="-120"/>
              </a:rPr>
              <a:t>Otros casos</a:t>
            </a:r>
            <a:endParaRPr lang="en-US" sz="3200" dirty="0"/>
          </a:p>
        </p:txBody>
      </p:sp>
      <p:sp>
        <p:nvSpPr>
          <p:cNvPr id="4" name="Shape 2"/>
          <p:cNvSpPr/>
          <p:nvPr/>
        </p:nvSpPr>
        <p:spPr>
          <a:xfrm>
            <a:off x="812767" y="1676127"/>
            <a:ext cx="762000" cy="50767"/>
          </a:xfrm>
          <a:prstGeom prst="rect">
            <a:avLst/>
          </a:prstGeom>
          <a:solidFill>
            <a:srgbClr val="FC8400"/>
          </a:solidFill>
          <a:ln/>
        </p:spPr>
      </p:sp>
      <p:sp>
        <p:nvSpPr>
          <p:cNvPr id="5" name="Shape 3"/>
          <p:cNvSpPr/>
          <p:nvPr/>
        </p:nvSpPr>
        <p:spPr>
          <a:xfrm>
            <a:off x="812767" y="2159000"/>
            <a:ext cx="3384517" cy="2540000"/>
          </a:xfrm>
          <a:prstGeom prst="rect">
            <a:avLst/>
          </a:prstGeom>
          <a:solidFill>
            <a:srgbClr val="F3F3F3"/>
          </a:solidFill>
          <a:ln/>
        </p:spPr>
      </p:sp>
      <p:sp>
        <p:nvSpPr>
          <p:cNvPr id="6" name="Shape 4"/>
          <p:cNvSpPr/>
          <p:nvPr/>
        </p:nvSpPr>
        <p:spPr>
          <a:xfrm>
            <a:off x="812767" y="2184400"/>
            <a:ext cx="3384517" cy="0"/>
          </a:xfrm>
          <a:prstGeom prst="line">
            <a:avLst/>
          </a:prstGeom>
          <a:noFill/>
          <a:ln w="50800">
            <a:solidFill>
              <a:srgbClr val="156082"/>
            </a:solidFill>
            <a:prstDash val="solid"/>
          </a:ln>
        </p:spPr>
      </p:sp>
      <p:sp>
        <p:nvSpPr>
          <p:cNvPr id="7" name="Text 5"/>
          <p:cNvSpPr/>
          <p:nvPr/>
        </p:nvSpPr>
        <p:spPr>
          <a:xfrm>
            <a:off x="1117534" y="2511375"/>
            <a:ext cx="2858232" cy="27427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85757"/>
                </a:solidFill>
                <a:latin typeface="Source Sans 3" pitchFamily="34" charset="0"/>
                <a:ea typeface="Source Sans 3" pitchFamily="34" charset="-122"/>
                <a:cs typeface="Source Sans 3" pitchFamily="34" charset="-120"/>
              </a:rPr>
              <a:t>Sentencia</a:t>
            </a:r>
            <a:endParaRPr lang="en-US" sz="1400" dirty="0"/>
          </a:p>
        </p:txBody>
      </p:sp>
      <p:sp>
        <p:nvSpPr>
          <p:cNvPr id="8" name="Text 6"/>
          <p:cNvSpPr/>
          <p:nvPr/>
        </p:nvSpPr>
        <p:spPr>
          <a:xfrm>
            <a:off x="1117534" y="2861791"/>
            <a:ext cx="2858232"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156082"/>
                </a:solidFill>
                <a:latin typeface="Source Sans 3" pitchFamily="34" charset="0"/>
                <a:ea typeface="Source Sans 3" pitchFamily="34" charset="-122"/>
                <a:cs typeface="Source Sans 3" pitchFamily="34" charset="-120"/>
              </a:rPr>
              <a:t>SU-067</a:t>
            </a:r>
            <a:endParaRPr lang="en-US" sz="4000" dirty="0"/>
          </a:p>
        </p:txBody>
      </p:sp>
      <p:sp>
        <p:nvSpPr>
          <p:cNvPr id="9" name="Text 7"/>
          <p:cNvSpPr/>
          <p:nvPr/>
        </p:nvSpPr>
        <p:spPr>
          <a:xfrm>
            <a:off x="1117534" y="3471317"/>
            <a:ext cx="2858232" cy="34546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A1A1A"/>
                </a:solidFill>
                <a:latin typeface="Source Sans 3" pitchFamily="34" charset="0"/>
                <a:ea typeface="Source Sans 3" pitchFamily="34" charset="-122"/>
                <a:cs typeface="Source Sans 3" pitchFamily="34" charset="-120"/>
              </a:rPr>
              <a:t>de 2023</a:t>
            </a:r>
            <a:endParaRPr lang="en-US" sz="1800" dirty="0"/>
          </a:p>
        </p:txBody>
      </p:sp>
      <p:sp>
        <p:nvSpPr>
          <p:cNvPr id="10" name="Text 8"/>
          <p:cNvSpPr/>
          <p:nvPr/>
        </p:nvSpPr>
        <p:spPr>
          <a:xfrm>
            <a:off x="1117534" y="3892922"/>
            <a:ext cx="2858232" cy="202836"/>
          </a:xfrm>
          <a:prstGeom prst="rect">
            <a:avLst/>
          </a:prstGeom>
          <a:noFill/>
          <a:ln/>
        </p:spPr>
        <p:txBody>
          <a:bodyPr wrap="square" lIns="0" tIns="0" rIns="0" bIns="0" rtlCol="0" anchor="t">
            <a:normAutofit/>
          </a:bodyPr>
          <a:lstStyle/>
          <a:p>
            <a:pPr algn="l" indent="0" marL="0">
              <a:lnSpc>
                <a:spcPts val="1397"/>
              </a:lnSpc>
              <a:buNone/>
            </a:pPr>
            <a:r>
              <a:rPr lang="en-US" sz="1100" b="1" dirty="0">
                <a:solidFill>
                  <a:srgbClr val="585757"/>
                </a:solidFill>
                <a:latin typeface="Source Sans 3" pitchFamily="34" charset="0"/>
                <a:ea typeface="Source Sans 3" pitchFamily="34" charset="-122"/>
                <a:cs typeface="Source Sans 3" pitchFamily="34" charset="-120"/>
              </a:rPr>
              <a:t>M.P. Paola Andrea  Meneses  Mosquera</a:t>
            </a:r>
            <a:endParaRPr lang="en-US" sz="1100" dirty="0"/>
          </a:p>
        </p:txBody>
      </p:sp>
      <p:sp>
        <p:nvSpPr>
          <p:cNvPr id="11" name="Shape 9"/>
          <p:cNvSpPr/>
          <p:nvPr/>
        </p:nvSpPr>
        <p:spPr>
          <a:xfrm>
            <a:off x="4400517" y="2159000"/>
            <a:ext cx="3384517" cy="2540000"/>
          </a:xfrm>
          <a:prstGeom prst="rect">
            <a:avLst/>
          </a:prstGeom>
          <a:solidFill>
            <a:srgbClr val="F3F3F3"/>
          </a:solidFill>
          <a:ln/>
        </p:spPr>
      </p:sp>
      <p:sp>
        <p:nvSpPr>
          <p:cNvPr id="12" name="Shape 10"/>
          <p:cNvSpPr/>
          <p:nvPr/>
        </p:nvSpPr>
        <p:spPr>
          <a:xfrm>
            <a:off x="4400517" y="2184400"/>
            <a:ext cx="3384517" cy="0"/>
          </a:xfrm>
          <a:prstGeom prst="line">
            <a:avLst/>
          </a:prstGeom>
          <a:noFill/>
          <a:ln w="50800">
            <a:solidFill>
              <a:srgbClr val="156082"/>
            </a:solidFill>
            <a:prstDash val="solid"/>
          </a:ln>
        </p:spPr>
      </p:sp>
      <p:sp>
        <p:nvSpPr>
          <p:cNvPr id="13" name="Text 11"/>
          <p:cNvSpPr/>
          <p:nvPr/>
        </p:nvSpPr>
        <p:spPr>
          <a:xfrm>
            <a:off x="4705284" y="2511375"/>
            <a:ext cx="2858232" cy="27427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85757"/>
                </a:solidFill>
                <a:latin typeface="Source Sans 3" pitchFamily="34" charset="0"/>
                <a:ea typeface="Source Sans 3" pitchFamily="34" charset="-122"/>
                <a:cs typeface="Source Sans 3" pitchFamily="34" charset="-120"/>
              </a:rPr>
              <a:t>Sentencia</a:t>
            </a:r>
            <a:endParaRPr lang="en-US" sz="1400" dirty="0"/>
          </a:p>
        </p:txBody>
      </p:sp>
      <p:sp>
        <p:nvSpPr>
          <p:cNvPr id="14" name="Text 12"/>
          <p:cNvSpPr/>
          <p:nvPr/>
        </p:nvSpPr>
        <p:spPr>
          <a:xfrm>
            <a:off x="4705284" y="2861791"/>
            <a:ext cx="2858232"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156082"/>
                </a:solidFill>
                <a:latin typeface="Source Sans 3" pitchFamily="34" charset="0"/>
                <a:ea typeface="Source Sans 3" pitchFamily="34" charset="-122"/>
                <a:cs typeface="Source Sans 3" pitchFamily="34" charset="-120"/>
              </a:rPr>
              <a:t>T-510</a:t>
            </a:r>
            <a:endParaRPr lang="en-US" sz="4000" dirty="0"/>
          </a:p>
        </p:txBody>
      </p:sp>
      <p:sp>
        <p:nvSpPr>
          <p:cNvPr id="15" name="Text 13"/>
          <p:cNvSpPr/>
          <p:nvPr/>
        </p:nvSpPr>
        <p:spPr>
          <a:xfrm>
            <a:off x="4705284" y="3471317"/>
            <a:ext cx="2858232" cy="34546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A1A1A"/>
                </a:solidFill>
                <a:latin typeface="Source Sans 3" pitchFamily="34" charset="0"/>
                <a:ea typeface="Source Sans 3" pitchFamily="34" charset="-122"/>
                <a:cs typeface="Source Sans 3" pitchFamily="34" charset="-120"/>
              </a:rPr>
              <a:t>de 2025</a:t>
            </a:r>
            <a:endParaRPr lang="en-US" sz="1800" dirty="0"/>
          </a:p>
        </p:txBody>
      </p:sp>
      <p:sp>
        <p:nvSpPr>
          <p:cNvPr id="16" name="Text 14"/>
          <p:cNvSpPr/>
          <p:nvPr/>
        </p:nvSpPr>
        <p:spPr>
          <a:xfrm>
            <a:off x="4705284" y="3892922"/>
            <a:ext cx="2858232" cy="202836"/>
          </a:xfrm>
          <a:prstGeom prst="rect">
            <a:avLst/>
          </a:prstGeom>
          <a:noFill/>
          <a:ln/>
        </p:spPr>
        <p:txBody>
          <a:bodyPr wrap="square" lIns="0" tIns="0" rIns="0" bIns="0" rtlCol="0" anchor="t">
            <a:normAutofit/>
          </a:bodyPr>
          <a:lstStyle/>
          <a:p>
            <a:pPr algn="l" indent="0" marL="0">
              <a:lnSpc>
                <a:spcPts val="1397"/>
              </a:lnSpc>
              <a:buNone/>
            </a:pPr>
            <a:r>
              <a:rPr lang="en-US" sz="1100" b="1" dirty="0">
                <a:solidFill>
                  <a:srgbClr val="585757"/>
                </a:solidFill>
                <a:latin typeface="Source Sans 3" pitchFamily="34" charset="0"/>
                <a:ea typeface="Source Sans 3" pitchFamily="34" charset="-122"/>
                <a:cs typeface="Source Sans 3" pitchFamily="34" charset="-120"/>
              </a:rPr>
              <a:t>M.P. Lina Marcela Escobar Martínez</a:t>
            </a:r>
            <a:endParaRPr lang="en-US" sz="1100" dirty="0"/>
          </a:p>
        </p:txBody>
      </p:sp>
      <p:sp>
        <p:nvSpPr>
          <p:cNvPr id="17" name="Shape 15"/>
          <p:cNvSpPr/>
          <p:nvPr/>
        </p:nvSpPr>
        <p:spPr>
          <a:xfrm>
            <a:off x="7988267" y="2159000"/>
            <a:ext cx="3390883" cy="2540000"/>
          </a:xfrm>
          <a:prstGeom prst="rect">
            <a:avLst/>
          </a:prstGeom>
          <a:solidFill>
            <a:srgbClr val="F3F3F3"/>
          </a:solidFill>
          <a:ln/>
        </p:spPr>
      </p:sp>
      <p:sp>
        <p:nvSpPr>
          <p:cNvPr id="18" name="Shape 16"/>
          <p:cNvSpPr/>
          <p:nvPr/>
        </p:nvSpPr>
        <p:spPr>
          <a:xfrm>
            <a:off x="7988267" y="2184400"/>
            <a:ext cx="3390883" cy="0"/>
          </a:xfrm>
          <a:prstGeom prst="line">
            <a:avLst/>
          </a:prstGeom>
          <a:noFill/>
          <a:ln w="50800">
            <a:solidFill>
              <a:srgbClr val="FC8400"/>
            </a:solidFill>
            <a:prstDash val="solid"/>
          </a:ln>
        </p:spPr>
      </p:sp>
      <p:sp>
        <p:nvSpPr>
          <p:cNvPr id="19" name="Text 17"/>
          <p:cNvSpPr/>
          <p:nvPr/>
        </p:nvSpPr>
        <p:spPr>
          <a:xfrm>
            <a:off x="8293033" y="2511375"/>
            <a:ext cx="2864790" cy="27427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85757"/>
                </a:solidFill>
                <a:latin typeface="Source Sans 3" pitchFamily="34" charset="0"/>
                <a:ea typeface="Source Sans 3" pitchFamily="34" charset="-122"/>
                <a:cs typeface="Source Sans 3" pitchFamily="34" charset="-120"/>
              </a:rPr>
              <a:t>Sentencia</a:t>
            </a:r>
            <a:endParaRPr lang="en-US" sz="1400" dirty="0"/>
          </a:p>
        </p:txBody>
      </p:sp>
      <p:sp>
        <p:nvSpPr>
          <p:cNvPr id="20" name="Text 18"/>
          <p:cNvSpPr/>
          <p:nvPr/>
        </p:nvSpPr>
        <p:spPr>
          <a:xfrm>
            <a:off x="8293033" y="2861791"/>
            <a:ext cx="2864790"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156082"/>
                </a:solidFill>
                <a:latin typeface="Source Sans 3" pitchFamily="34" charset="0"/>
                <a:ea typeface="Source Sans 3" pitchFamily="34" charset="-122"/>
                <a:cs typeface="Source Sans 3" pitchFamily="34" charset="-120"/>
              </a:rPr>
              <a:t>T-110</a:t>
            </a:r>
            <a:endParaRPr lang="en-US" sz="4000" dirty="0"/>
          </a:p>
        </p:txBody>
      </p:sp>
      <p:sp>
        <p:nvSpPr>
          <p:cNvPr id="21" name="Text 19"/>
          <p:cNvSpPr/>
          <p:nvPr/>
        </p:nvSpPr>
        <p:spPr>
          <a:xfrm>
            <a:off x="8293033" y="3471317"/>
            <a:ext cx="2864790" cy="34546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A1A1A"/>
                </a:solidFill>
                <a:latin typeface="Source Sans 3" pitchFamily="34" charset="0"/>
                <a:ea typeface="Source Sans 3" pitchFamily="34" charset="-122"/>
                <a:cs typeface="Source Sans 3" pitchFamily="34" charset="-120"/>
              </a:rPr>
              <a:t>de 2026</a:t>
            </a:r>
            <a:endParaRPr lang="en-US" sz="1800" dirty="0"/>
          </a:p>
        </p:txBody>
      </p:sp>
      <p:sp>
        <p:nvSpPr>
          <p:cNvPr id="22" name="Text 20"/>
          <p:cNvSpPr/>
          <p:nvPr/>
        </p:nvSpPr>
        <p:spPr>
          <a:xfrm>
            <a:off x="8293033" y="3892922"/>
            <a:ext cx="2864790" cy="202836"/>
          </a:xfrm>
          <a:prstGeom prst="rect">
            <a:avLst/>
          </a:prstGeom>
          <a:noFill/>
          <a:ln/>
        </p:spPr>
        <p:txBody>
          <a:bodyPr wrap="square" lIns="0" tIns="0" rIns="0" bIns="0" rtlCol="0" anchor="t">
            <a:normAutofit/>
          </a:bodyPr>
          <a:lstStyle/>
          <a:p>
            <a:pPr algn="l" indent="0" marL="0">
              <a:lnSpc>
                <a:spcPts val="1397"/>
              </a:lnSpc>
              <a:buNone/>
            </a:pPr>
            <a:r>
              <a:rPr lang="en-US" sz="1100" b="1" dirty="0">
                <a:solidFill>
                  <a:srgbClr val="585757"/>
                </a:solidFill>
                <a:latin typeface="Source Sans 3" pitchFamily="34" charset="0"/>
                <a:ea typeface="Source Sans 3" pitchFamily="34" charset="-122"/>
                <a:cs typeface="Source Sans 3" pitchFamily="34" charset="-120"/>
              </a:rPr>
              <a:t>M.P. Carlos Camargo Asís</a:t>
            </a:r>
            <a:endParaRPr lang="en-US" sz="1100" dirty="0"/>
          </a:p>
        </p:txBody>
      </p:sp>
      <p:sp>
        <p:nvSpPr>
          <p:cNvPr id="23" name="Text 21"/>
          <p:cNvSpPr/>
          <p:nvPr/>
        </p:nvSpPr>
        <p:spPr>
          <a:xfrm>
            <a:off x="7454933" y="6238280"/>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Hinestroza Cuesta · UTCH</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7" presetID="42" presetClass="entr" presetSubtype="0"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600"/>
                                        <p:tgtEl>
                                          <p:spTgt spid="5"/>
                                        </p:tgtEl>
                                      </p:cBhvr>
                                    </p:animEffect>
                                    <p:anim calcmode="lin" valueType="num">
                                      <p:cBhvr>
                                        <p:cTn id="5" dur="600" decel="100000" fill="hold"/>
                                        <p:tgtEl>
                                          <p:spTgt spid="5"/>
                                        </p:tgtEl>
                                        <p:attrNameLst>
                                          <p:attrName>ppt_x</p:attrName>
                                        </p:attrNameLst>
                                      </p:cBhvr>
                                      <p:tavLst>
                                        <p:tav tm="0">
                                          <p:val>
                                            <p:strVal val="#ppt_x"/>
                                          </p:val>
                                        </p:tav>
                                        <p:tav tm="100000">
                                          <p:val>
                                            <p:strVal val="#ppt_x"/>
                                          </p:val>
                                        </p:tav>
                                      </p:tavLst>
                                    </p:anim>
                                    <p:anim calcmode="lin" valueType="num">
                                      <p:cBhvr>
                                        <p:cTn id="6" dur="600" decel="100000" fill="hold"/>
                                        <p:tgtEl>
                                          <p:spTgt spid="5"/>
                                        </p:tgtEl>
                                        <p:attrNameLst>
                                          <p:attrName>ppt_y</p:attrName>
                                        </p:attrNameLst>
                                      </p:cBhvr>
                                      <p:tavLst>
                                        <p:tav tm="0">
                                          <p:val>
                                            <p:strVal val="#ppt_y+.06"/>
                                          </p:val>
                                        </p:tav>
                                        <p:tav tm="100000">
                                          <p:val>
                                            <p:strVal val="#ppt_y"/>
                                          </p:val>
                                        </p:tav>
                                      </p:tavLst>
                                    </p:anim>
                                  </p:childTnLst>
                                </p:cTn>
                              </p:par>
                              <p:par>
                                <p:cTn id="12" presetID="42"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600"/>
                                        <p:tgtEl>
                                          <p:spTgt spid="6"/>
                                        </p:tgtEl>
                                      </p:cBhvr>
                                    </p:animEffect>
                                    <p:anim calcmode="lin" valueType="num">
                                      <p:cBhvr>
                                        <p:cTn id="10" dur="600" decel="100000" fill="hold"/>
                                        <p:tgtEl>
                                          <p:spTgt spid="6"/>
                                        </p:tgtEl>
                                        <p:attrNameLst>
                                          <p:attrName>ppt_x</p:attrName>
                                        </p:attrNameLst>
                                      </p:cBhvr>
                                      <p:tavLst>
                                        <p:tav tm="0">
                                          <p:val>
                                            <p:strVal val="#ppt_x"/>
                                          </p:val>
                                        </p:tav>
                                        <p:tav tm="100000">
                                          <p:val>
                                            <p:strVal val="#ppt_x"/>
                                          </p:val>
                                        </p:tav>
                                      </p:tavLst>
                                    </p:anim>
                                    <p:anim calcmode="lin" valueType="num">
                                      <p:cBhvr>
                                        <p:cTn id="11" dur="600" decel="100000" fill="hold"/>
                                        <p:tgtEl>
                                          <p:spTgt spid="6"/>
                                        </p:tgtEl>
                                        <p:attrNameLst>
                                          <p:attrName>ppt_y</p:attrName>
                                        </p:attrNameLst>
                                      </p:cBhvr>
                                      <p:tavLst>
                                        <p:tav tm="0">
                                          <p:val>
                                            <p:strVal val="#ppt_y+.06"/>
                                          </p:val>
                                        </p:tav>
                                        <p:tav tm="100000">
                                          <p:val>
                                            <p:strVal val="#ppt_y"/>
                                          </p:val>
                                        </p:tav>
                                      </p:tavLst>
                                    </p:anim>
                                  </p:childTnLst>
                                </p:cTn>
                              </p:par>
                              <p:par>
                                <p:cTn id="17" presetID="42"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600"/>
                                        <p:tgtEl>
                                          <p:spTgt spid="7"/>
                                        </p:tgtEl>
                                      </p:cBhvr>
                                    </p:animEffect>
                                    <p:anim calcmode="lin" valueType="num">
                                      <p:cBhvr>
                                        <p:cTn id="15" dur="600" decel="100000" fill="hold"/>
                                        <p:tgtEl>
                                          <p:spTgt spid="7"/>
                                        </p:tgtEl>
                                        <p:attrNameLst>
                                          <p:attrName>ppt_x</p:attrName>
                                        </p:attrNameLst>
                                      </p:cBhvr>
                                      <p:tavLst>
                                        <p:tav tm="0">
                                          <p:val>
                                            <p:strVal val="#ppt_x"/>
                                          </p:val>
                                        </p:tav>
                                        <p:tav tm="100000">
                                          <p:val>
                                            <p:strVal val="#ppt_x"/>
                                          </p:val>
                                        </p:tav>
                                      </p:tavLst>
                                    </p:anim>
                                    <p:anim calcmode="lin" valueType="num">
                                      <p:cBhvr>
                                        <p:cTn id="16" dur="600" decel="100000" fill="hold"/>
                                        <p:tgtEl>
                                          <p:spTgt spid="7"/>
                                        </p:tgtEl>
                                        <p:attrNameLst>
                                          <p:attrName>ppt_y</p:attrName>
                                        </p:attrNameLst>
                                      </p:cBhvr>
                                      <p:tavLst>
                                        <p:tav tm="0">
                                          <p:val>
                                            <p:strVal val="#ppt_y+.06"/>
                                          </p:val>
                                        </p:tav>
                                        <p:tav tm="100000">
                                          <p:val>
                                            <p:strVal val="#ppt_y"/>
                                          </p:val>
                                        </p:tav>
                                      </p:tavLst>
                                    </p:anim>
                                  </p:childTnLst>
                                </p:cTn>
                              </p:par>
                              <p:par>
                                <p:cTn id="22" presetID="42"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anim calcmode="lin" valueType="num">
                                      <p:cBhvr>
                                        <p:cTn id="20" dur="600" decel="100000" fill="hold"/>
                                        <p:tgtEl>
                                          <p:spTgt spid="8"/>
                                        </p:tgtEl>
                                        <p:attrNameLst>
                                          <p:attrName>ppt_x</p:attrName>
                                        </p:attrNameLst>
                                      </p:cBhvr>
                                      <p:tavLst>
                                        <p:tav tm="0">
                                          <p:val>
                                            <p:strVal val="#ppt_x"/>
                                          </p:val>
                                        </p:tav>
                                        <p:tav tm="100000">
                                          <p:val>
                                            <p:strVal val="#ppt_x"/>
                                          </p:val>
                                        </p:tav>
                                      </p:tavLst>
                                    </p:anim>
                                    <p:anim calcmode="lin" valueType="num">
                                      <p:cBhvr>
                                        <p:cTn id="21" dur="600" decel="100000" fill="hold"/>
                                        <p:tgtEl>
                                          <p:spTgt spid="8"/>
                                        </p:tgtEl>
                                        <p:attrNameLst>
                                          <p:attrName>ppt_y</p:attrName>
                                        </p:attrNameLst>
                                      </p:cBhvr>
                                      <p:tavLst>
                                        <p:tav tm="0">
                                          <p:val>
                                            <p:strVal val="#ppt_y+.06"/>
                                          </p:val>
                                        </p:tav>
                                        <p:tav tm="100000">
                                          <p:val>
                                            <p:strVal val="#ppt_y"/>
                                          </p:val>
                                        </p:tav>
                                      </p:tavLst>
                                    </p:anim>
                                  </p:childTnLst>
                                </p:cTn>
                              </p:par>
                              <p:par>
                                <p:cTn id="27" presetID="42"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anim calcmode="lin" valueType="num">
                                      <p:cBhvr>
                                        <p:cTn id="25" dur="600" decel="100000" fill="hold"/>
                                        <p:tgtEl>
                                          <p:spTgt spid="9"/>
                                        </p:tgtEl>
                                        <p:attrNameLst>
                                          <p:attrName>ppt_x</p:attrName>
                                        </p:attrNameLst>
                                      </p:cBhvr>
                                      <p:tavLst>
                                        <p:tav tm="0">
                                          <p:val>
                                            <p:strVal val="#ppt_x"/>
                                          </p:val>
                                        </p:tav>
                                        <p:tav tm="100000">
                                          <p:val>
                                            <p:strVal val="#ppt_x"/>
                                          </p:val>
                                        </p:tav>
                                      </p:tavLst>
                                    </p:anim>
                                    <p:anim calcmode="lin" valueType="num">
                                      <p:cBhvr>
                                        <p:cTn id="26" dur="600" decel="100000" fill="hold"/>
                                        <p:tgtEl>
                                          <p:spTgt spid="9"/>
                                        </p:tgtEl>
                                        <p:attrNameLst>
                                          <p:attrName>ppt_y</p:attrName>
                                        </p:attrNameLst>
                                      </p:cBhvr>
                                      <p:tavLst>
                                        <p:tav tm="0">
                                          <p:val>
                                            <p:strVal val="#ppt_y+.06"/>
                                          </p:val>
                                        </p:tav>
                                        <p:tav tm="100000">
                                          <p:val>
                                            <p:strVal val="#ppt_y"/>
                                          </p:val>
                                        </p:tav>
                                      </p:tavLst>
                                    </p:anim>
                                  </p:childTnLst>
                                </p:cTn>
                              </p:par>
                              <p:par>
                                <p:cTn id="32" presetID="42"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600"/>
                                        <p:tgtEl>
                                          <p:spTgt spid="10"/>
                                        </p:tgtEl>
                                      </p:cBhvr>
                                    </p:animEffect>
                                    <p:anim calcmode="lin" valueType="num">
                                      <p:cBhvr>
                                        <p:cTn id="30" dur="600" decel="100000" fill="hold"/>
                                        <p:tgtEl>
                                          <p:spTgt spid="10"/>
                                        </p:tgtEl>
                                        <p:attrNameLst>
                                          <p:attrName>ppt_x</p:attrName>
                                        </p:attrNameLst>
                                      </p:cBhvr>
                                      <p:tavLst>
                                        <p:tav tm="0">
                                          <p:val>
                                            <p:strVal val="#ppt_x"/>
                                          </p:val>
                                        </p:tav>
                                        <p:tav tm="100000">
                                          <p:val>
                                            <p:strVal val="#ppt_x"/>
                                          </p:val>
                                        </p:tav>
                                      </p:tavLst>
                                    </p:anim>
                                    <p:anim calcmode="lin" valueType="num">
                                      <p:cBhvr>
                                        <p:cTn id="31" dur="600" decel="100000" fill="hold"/>
                                        <p:tgtEl>
                                          <p:spTgt spid="10"/>
                                        </p:tgtEl>
                                        <p:attrNameLst>
                                          <p:attrName>ppt_y</p:attrName>
                                        </p:attrNameLst>
                                      </p:cBhvr>
                                      <p:tavLst>
                                        <p:tav tm="0">
                                          <p:val>
                                            <p:strVal val="#ppt_y+.06"/>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39" presetID="42" presetClass="entr" presetSubtype="0"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600"/>
                                        <p:tgtEl>
                                          <p:spTgt spid="11"/>
                                        </p:tgtEl>
                                      </p:cBhvr>
                                    </p:animEffect>
                                    <p:anim calcmode="lin" valueType="num">
                                      <p:cBhvr>
                                        <p:cTn id="37" dur="600" decel="100000" fill="hold"/>
                                        <p:tgtEl>
                                          <p:spTgt spid="11"/>
                                        </p:tgtEl>
                                        <p:attrNameLst>
                                          <p:attrName>ppt_x</p:attrName>
                                        </p:attrNameLst>
                                      </p:cBhvr>
                                      <p:tavLst>
                                        <p:tav tm="0">
                                          <p:val>
                                            <p:strVal val="#ppt_x"/>
                                          </p:val>
                                        </p:tav>
                                        <p:tav tm="100000">
                                          <p:val>
                                            <p:strVal val="#ppt_x"/>
                                          </p:val>
                                        </p:tav>
                                      </p:tavLst>
                                    </p:anim>
                                    <p:anim calcmode="lin" valueType="num">
                                      <p:cBhvr>
                                        <p:cTn id="38" dur="600" decel="100000" fill="hold"/>
                                        <p:tgtEl>
                                          <p:spTgt spid="11"/>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600"/>
                                        <p:tgtEl>
                                          <p:spTgt spid="12"/>
                                        </p:tgtEl>
                                      </p:cBhvr>
                                    </p:animEffect>
                                    <p:anim calcmode="lin" valueType="num">
                                      <p:cBhvr>
                                        <p:cTn id="42" dur="600" decel="100000" fill="hold"/>
                                        <p:tgtEl>
                                          <p:spTgt spid="12"/>
                                        </p:tgtEl>
                                        <p:attrNameLst>
                                          <p:attrName>ppt_x</p:attrName>
                                        </p:attrNameLst>
                                      </p:cBhvr>
                                      <p:tavLst>
                                        <p:tav tm="0">
                                          <p:val>
                                            <p:strVal val="#ppt_x"/>
                                          </p:val>
                                        </p:tav>
                                        <p:tav tm="100000">
                                          <p:val>
                                            <p:strVal val="#ppt_x"/>
                                          </p:val>
                                        </p:tav>
                                      </p:tavLst>
                                    </p:anim>
                                    <p:anim calcmode="lin" valueType="num">
                                      <p:cBhvr>
                                        <p:cTn id="43" dur="600" decel="100000" fill="hold"/>
                                        <p:tgtEl>
                                          <p:spTgt spid="12"/>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600"/>
                                        <p:tgtEl>
                                          <p:spTgt spid="13"/>
                                        </p:tgtEl>
                                      </p:cBhvr>
                                    </p:animEffect>
                                    <p:anim calcmode="lin" valueType="num">
                                      <p:cBhvr>
                                        <p:cTn id="47" dur="600" decel="100000" fill="hold"/>
                                        <p:tgtEl>
                                          <p:spTgt spid="13"/>
                                        </p:tgtEl>
                                        <p:attrNameLst>
                                          <p:attrName>ppt_x</p:attrName>
                                        </p:attrNameLst>
                                      </p:cBhvr>
                                      <p:tavLst>
                                        <p:tav tm="0">
                                          <p:val>
                                            <p:strVal val="#ppt_x"/>
                                          </p:val>
                                        </p:tav>
                                        <p:tav tm="100000">
                                          <p:val>
                                            <p:strVal val="#ppt_x"/>
                                          </p:val>
                                        </p:tav>
                                      </p:tavLst>
                                    </p:anim>
                                    <p:anim calcmode="lin" valueType="num">
                                      <p:cBhvr>
                                        <p:cTn id="48" dur="600" decel="100000" fill="hold"/>
                                        <p:tgtEl>
                                          <p:spTgt spid="13"/>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600"/>
                                        <p:tgtEl>
                                          <p:spTgt spid="14"/>
                                        </p:tgtEl>
                                      </p:cBhvr>
                                    </p:animEffect>
                                    <p:anim calcmode="lin" valueType="num">
                                      <p:cBhvr>
                                        <p:cTn id="52" dur="600" decel="100000" fill="hold"/>
                                        <p:tgtEl>
                                          <p:spTgt spid="14"/>
                                        </p:tgtEl>
                                        <p:attrNameLst>
                                          <p:attrName>ppt_x</p:attrName>
                                        </p:attrNameLst>
                                      </p:cBhvr>
                                      <p:tavLst>
                                        <p:tav tm="0">
                                          <p:val>
                                            <p:strVal val="#ppt_x"/>
                                          </p:val>
                                        </p:tav>
                                        <p:tav tm="100000">
                                          <p:val>
                                            <p:strVal val="#ppt_x"/>
                                          </p:val>
                                        </p:tav>
                                      </p:tavLst>
                                    </p:anim>
                                    <p:anim calcmode="lin" valueType="num">
                                      <p:cBhvr>
                                        <p:cTn id="53" dur="600" decel="100000" fill="hold"/>
                                        <p:tgtEl>
                                          <p:spTgt spid="14"/>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600"/>
                                        <p:tgtEl>
                                          <p:spTgt spid="15"/>
                                        </p:tgtEl>
                                      </p:cBhvr>
                                    </p:animEffect>
                                    <p:anim calcmode="lin" valueType="num">
                                      <p:cBhvr>
                                        <p:cTn id="57" dur="600" decel="100000" fill="hold"/>
                                        <p:tgtEl>
                                          <p:spTgt spid="15"/>
                                        </p:tgtEl>
                                        <p:attrNameLst>
                                          <p:attrName>ppt_x</p:attrName>
                                        </p:attrNameLst>
                                      </p:cBhvr>
                                      <p:tavLst>
                                        <p:tav tm="0">
                                          <p:val>
                                            <p:strVal val="#ppt_x"/>
                                          </p:val>
                                        </p:tav>
                                        <p:tav tm="100000">
                                          <p:val>
                                            <p:strVal val="#ppt_x"/>
                                          </p:val>
                                        </p:tav>
                                      </p:tavLst>
                                    </p:anim>
                                    <p:anim calcmode="lin" valueType="num">
                                      <p:cBhvr>
                                        <p:cTn id="58" dur="600" decel="100000" fill="hold"/>
                                        <p:tgtEl>
                                          <p:spTgt spid="15"/>
                                        </p:tgtEl>
                                        <p:attrNameLst>
                                          <p:attrName>ppt_y</p:attrName>
                                        </p:attrNameLst>
                                      </p:cBhvr>
                                      <p:tavLst>
                                        <p:tav tm="0">
                                          <p:val>
                                            <p:strVal val="#ppt_y+.06"/>
                                          </p:val>
                                        </p:tav>
                                        <p:tav tm="100000">
                                          <p:val>
                                            <p:strVal val="#ppt_y"/>
                                          </p:val>
                                        </p:tav>
                                      </p:tavLst>
                                    </p:anim>
                                  </p:childTnLst>
                                </p:cTn>
                              </p:par>
                              <p:par>
                                <p:cTn id="64" presetID="42" presetClass="entr" presetSubtype="0"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600"/>
                                        <p:tgtEl>
                                          <p:spTgt spid="16"/>
                                        </p:tgtEl>
                                      </p:cBhvr>
                                    </p:animEffect>
                                    <p:anim calcmode="lin" valueType="num">
                                      <p:cBhvr>
                                        <p:cTn id="62" dur="600" decel="100000" fill="hold"/>
                                        <p:tgtEl>
                                          <p:spTgt spid="16"/>
                                        </p:tgtEl>
                                        <p:attrNameLst>
                                          <p:attrName>ppt_x</p:attrName>
                                        </p:attrNameLst>
                                      </p:cBhvr>
                                      <p:tavLst>
                                        <p:tav tm="0">
                                          <p:val>
                                            <p:strVal val="#ppt_x"/>
                                          </p:val>
                                        </p:tav>
                                        <p:tav tm="100000">
                                          <p:val>
                                            <p:strVal val="#ppt_x"/>
                                          </p:val>
                                        </p:tav>
                                      </p:tavLst>
                                    </p:anim>
                                    <p:anim calcmode="lin" valueType="num">
                                      <p:cBhvr>
                                        <p:cTn id="63" dur="600" decel="100000" fill="hold"/>
                                        <p:tgtEl>
                                          <p:spTgt spid="16"/>
                                        </p:tgtEl>
                                        <p:attrNameLst>
                                          <p:attrName>ppt_y</p:attrName>
                                        </p:attrNameLst>
                                      </p:cBhvr>
                                      <p:tavLst>
                                        <p:tav tm="0">
                                          <p:val>
                                            <p:strVal val="#ppt_y+.06"/>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71" presetID="42" presetClass="entr" presetSubtype="0" fill="hold" grpId="0" nodeType="click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600"/>
                                        <p:tgtEl>
                                          <p:spTgt spid="17"/>
                                        </p:tgtEl>
                                      </p:cBhvr>
                                    </p:animEffect>
                                    <p:anim calcmode="lin" valueType="num">
                                      <p:cBhvr>
                                        <p:cTn id="69" dur="600" decel="100000" fill="hold"/>
                                        <p:tgtEl>
                                          <p:spTgt spid="17"/>
                                        </p:tgtEl>
                                        <p:attrNameLst>
                                          <p:attrName>ppt_x</p:attrName>
                                        </p:attrNameLst>
                                      </p:cBhvr>
                                      <p:tavLst>
                                        <p:tav tm="0">
                                          <p:val>
                                            <p:strVal val="#ppt_x"/>
                                          </p:val>
                                        </p:tav>
                                        <p:tav tm="100000">
                                          <p:val>
                                            <p:strVal val="#ppt_x"/>
                                          </p:val>
                                        </p:tav>
                                      </p:tavLst>
                                    </p:anim>
                                    <p:anim calcmode="lin" valueType="num">
                                      <p:cBhvr>
                                        <p:cTn id="70" dur="600" decel="100000" fill="hold"/>
                                        <p:tgtEl>
                                          <p:spTgt spid="17"/>
                                        </p:tgtEl>
                                        <p:attrNameLst>
                                          <p:attrName>ppt_y</p:attrName>
                                        </p:attrNameLst>
                                      </p:cBhvr>
                                      <p:tavLst>
                                        <p:tav tm="0">
                                          <p:val>
                                            <p:strVal val="#ppt_y+.06"/>
                                          </p:val>
                                        </p:tav>
                                        <p:tav tm="100000">
                                          <p:val>
                                            <p:strVal val="#ppt_y"/>
                                          </p:val>
                                        </p:tav>
                                      </p:tavLst>
                                    </p:anim>
                                  </p:childTnLst>
                                </p:cTn>
                              </p:par>
                              <p:par>
                                <p:cTn id="76" presetID="42" presetClass="entr" presetSubtype="0"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600"/>
                                        <p:tgtEl>
                                          <p:spTgt spid="18"/>
                                        </p:tgtEl>
                                      </p:cBhvr>
                                    </p:animEffect>
                                    <p:anim calcmode="lin" valueType="num">
                                      <p:cBhvr>
                                        <p:cTn id="74" dur="600" decel="100000" fill="hold"/>
                                        <p:tgtEl>
                                          <p:spTgt spid="18"/>
                                        </p:tgtEl>
                                        <p:attrNameLst>
                                          <p:attrName>ppt_x</p:attrName>
                                        </p:attrNameLst>
                                      </p:cBhvr>
                                      <p:tavLst>
                                        <p:tav tm="0">
                                          <p:val>
                                            <p:strVal val="#ppt_x"/>
                                          </p:val>
                                        </p:tav>
                                        <p:tav tm="100000">
                                          <p:val>
                                            <p:strVal val="#ppt_x"/>
                                          </p:val>
                                        </p:tav>
                                      </p:tavLst>
                                    </p:anim>
                                    <p:anim calcmode="lin" valueType="num">
                                      <p:cBhvr>
                                        <p:cTn id="75" dur="600" decel="100000" fill="hold"/>
                                        <p:tgtEl>
                                          <p:spTgt spid="18"/>
                                        </p:tgtEl>
                                        <p:attrNameLst>
                                          <p:attrName>ppt_y</p:attrName>
                                        </p:attrNameLst>
                                      </p:cBhvr>
                                      <p:tavLst>
                                        <p:tav tm="0">
                                          <p:val>
                                            <p:strVal val="#ppt_y+.06"/>
                                          </p:val>
                                        </p:tav>
                                        <p:tav tm="100000">
                                          <p:val>
                                            <p:strVal val="#ppt_y"/>
                                          </p:val>
                                        </p:tav>
                                      </p:tavLst>
                                    </p:anim>
                                  </p:childTnLst>
                                </p:cTn>
                              </p:par>
                              <p:par>
                                <p:cTn id="81" presetID="42" presetClass="entr" presetSubtype="0" fill="hold" grpId="0" nodeType="with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600"/>
                                        <p:tgtEl>
                                          <p:spTgt spid="19"/>
                                        </p:tgtEl>
                                      </p:cBhvr>
                                    </p:animEffect>
                                    <p:anim calcmode="lin" valueType="num">
                                      <p:cBhvr>
                                        <p:cTn id="79" dur="600" decel="100000" fill="hold"/>
                                        <p:tgtEl>
                                          <p:spTgt spid="19"/>
                                        </p:tgtEl>
                                        <p:attrNameLst>
                                          <p:attrName>ppt_x</p:attrName>
                                        </p:attrNameLst>
                                      </p:cBhvr>
                                      <p:tavLst>
                                        <p:tav tm="0">
                                          <p:val>
                                            <p:strVal val="#ppt_x"/>
                                          </p:val>
                                        </p:tav>
                                        <p:tav tm="100000">
                                          <p:val>
                                            <p:strVal val="#ppt_x"/>
                                          </p:val>
                                        </p:tav>
                                      </p:tavLst>
                                    </p:anim>
                                    <p:anim calcmode="lin" valueType="num">
                                      <p:cBhvr>
                                        <p:cTn id="80" dur="600" decel="100000" fill="hold"/>
                                        <p:tgtEl>
                                          <p:spTgt spid="19"/>
                                        </p:tgtEl>
                                        <p:attrNameLst>
                                          <p:attrName>ppt_y</p:attrName>
                                        </p:attrNameLst>
                                      </p:cBhvr>
                                      <p:tavLst>
                                        <p:tav tm="0">
                                          <p:val>
                                            <p:strVal val="#ppt_y+.06"/>
                                          </p:val>
                                        </p:tav>
                                        <p:tav tm="100000">
                                          <p:val>
                                            <p:strVal val="#ppt_y"/>
                                          </p:val>
                                        </p:tav>
                                      </p:tavLst>
                                    </p:anim>
                                  </p:childTnLst>
                                </p:cTn>
                              </p:par>
                              <p:par>
                                <p:cTn id="86" presetID="42" presetClass="entr" presetSubtype="0" fill="hold" grpId="0" nodeType="with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600"/>
                                        <p:tgtEl>
                                          <p:spTgt spid="20"/>
                                        </p:tgtEl>
                                      </p:cBhvr>
                                    </p:animEffect>
                                    <p:anim calcmode="lin" valueType="num">
                                      <p:cBhvr>
                                        <p:cTn id="84" dur="600" decel="100000" fill="hold"/>
                                        <p:tgtEl>
                                          <p:spTgt spid="20"/>
                                        </p:tgtEl>
                                        <p:attrNameLst>
                                          <p:attrName>ppt_x</p:attrName>
                                        </p:attrNameLst>
                                      </p:cBhvr>
                                      <p:tavLst>
                                        <p:tav tm="0">
                                          <p:val>
                                            <p:strVal val="#ppt_x"/>
                                          </p:val>
                                        </p:tav>
                                        <p:tav tm="100000">
                                          <p:val>
                                            <p:strVal val="#ppt_x"/>
                                          </p:val>
                                        </p:tav>
                                      </p:tavLst>
                                    </p:anim>
                                    <p:anim calcmode="lin" valueType="num">
                                      <p:cBhvr>
                                        <p:cTn id="85" dur="600" decel="100000" fill="hold"/>
                                        <p:tgtEl>
                                          <p:spTgt spid="20"/>
                                        </p:tgtEl>
                                        <p:attrNameLst>
                                          <p:attrName>ppt_y</p:attrName>
                                        </p:attrNameLst>
                                      </p:cBhvr>
                                      <p:tavLst>
                                        <p:tav tm="0">
                                          <p:val>
                                            <p:strVal val="#ppt_y+.06"/>
                                          </p:val>
                                        </p:tav>
                                        <p:tav tm="100000">
                                          <p:val>
                                            <p:strVal val="#ppt_y"/>
                                          </p:val>
                                        </p:tav>
                                      </p:tavLst>
                                    </p:anim>
                                  </p:childTnLst>
                                </p:cTn>
                              </p:par>
                              <p:par>
                                <p:cTn id="91" presetID="42" presetClass="entr" presetSubtype="0" fill="hold" grpId="0" nodeType="withEffect">
                                  <p:stCondLst>
                                    <p:cond delay="0"/>
                                  </p:stCondLst>
                                  <p:childTnLst>
                                    <p:set>
                                      <p:cBhvr>
                                        <p:cTn id="87" dur="1" fill="hold">
                                          <p:stCondLst>
                                            <p:cond delay="0"/>
                                          </p:stCondLst>
                                        </p:cTn>
                                        <p:tgtEl>
                                          <p:spTgt spid="21"/>
                                        </p:tgtEl>
                                        <p:attrNameLst>
                                          <p:attrName>style.visibility</p:attrName>
                                        </p:attrNameLst>
                                      </p:cBhvr>
                                      <p:to>
                                        <p:strVal val="visible"/>
                                      </p:to>
                                    </p:set>
                                    <p:animEffect transition="in" filter="fade">
                                      <p:cBhvr>
                                        <p:cTn id="88" dur="600"/>
                                        <p:tgtEl>
                                          <p:spTgt spid="21"/>
                                        </p:tgtEl>
                                      </p:cBhvr>
                                    </p:animEffect>
                                    <p:anim calcmode="lin" valueType="num">
                                      <p:cBhvr>
                                        <p:cTn id="89" dur="600" decel="100000" fill="hold"/>
                                        <p:tgtEl>
                                          <p:spTgt spid="21"/>
                                        </p:tgtEl>
                                        <p:attrNameLst>
                                          <p:attrName>ppt_x</p:attrName>
                                        </p:attrNameLst>
                                      </p:cBhvr>
                                      <p:tavLst>
                                        <p:tav tm="0">
                                          <p:val>
                                            <p:strVal val="#ppt_x"/>
                                          </p:val>
                                        </p:tav>
                                        <p:tav tm="100000">
                                          <p:val>
                                            <p:strVal val="#ppt_x"/>
                                          </p:val>
                                        </p:tav>
                                      </p:tavLst>
                                    </p:anim>
                                    <p:anim calcmode="lin" valueType="num">
                                      <p:cBhvr>
                                        <p:cTn id="90" dur="600" decel="100000" fill="hold"/>
                                        <p:tgtEl>
                                          <p:spTgt spid="21"/>
                                        </p:tgtEl>
                                        <p:attrNameLst>
                                          <p:attrName>ppt_y</p:attrName>
                                        </p:attrNameLst>
                                      </p:cBhvr>
                                      <p:tavLst>
                                        <p:tav tm="0">
                                          <p:val>
                                            <p:strVal val="#ppt_y+.06"/>
                                          </p:val>
                                        </p:tav>
                                        <p:tav tm="100000">
                                          <p:val>
                                            <p:strVal val="#ppt_y"/>
                                          </p:val>
                                        </p:tav>
                                      </p:tavLst>
                                    </p:anim>
                                  </p:childTnLst>
                                </p:cTn>
                              </p:par>
                              <p:par>
                                <p:cTn id="96" presetID="42" presetClass="entr" presetSubtype="0" fill="hold" grpId="0" nodeType="withEffect">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fade">
                                      <p:cBhvr>
                                        <p:cTn id="93" dur="600"/>
                                        <p:tgtEl>
                                          <p:spTgt spid="22"/>
                                        </p:tgtEl>
                                      </p:cBhvr>
                                    </p:animEffect>
                                    <p:anim calcmode="lin" valueType="num">
                                      <p:cBhvr>
                                        <p:cTn id="94" dur="600" decel="100000" fill="hold"/>
                                        <p:tgtEl>
                                          <p:spTgt spid="22"/>
                                        </p:tgtEl>
                                        <p:attrNameLst>
                                          <p:attrName>ppt_x</p:attrName>
                                        </p:attrNameLst>
                                      </p:cBhvr>
                                      <p:tavLst>
                                        <p:tav tm="0">
                                          <p:val>
                                            <p:strVal val="#ppt_x"/>
                                          </p:val>
                                        </p:tav>
                                        <p:tav tm="100000">
                                          <p:val>
                                            <p:strVal val="#ppt_x"/>
                                          </p:val>
                                        </p:tav>
                                      </p:tavLst>
                                    </p:anim>
                                    <p:anim calcmode="lin" valueType="num">
                                      <p:cBhvr>
                                        <p:cTn id="95" dur="600" decel="100000" fill="hold"/>
                                        <p:tgtEl>
                                          <p:spTgt spid="22"/>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5608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6" r="-6" t="0" b="0"/>
          <a:stretch/>
        </p:blipFill>
        <p:spPr>
          <a:xfrm>
            <a:off x="7366000" y="0"/>
            <a:ext cx="4826000" cy="6858000"/>
          </a:xfrm>
          <a:prstGeom prst="rect">
            <a:avLst/>
          </a:prstGeom>
        </p:spPr>
      </p:pic>
      <p:sp>
        <p:nvSpPr>
          <p:cNvPr id="3" name="Text 0"/>
          <p:cNvSpPr/>
          <p:nvPr/>
        </p:nvSpPr>
        <p:spPr>
          <a:xfrm>
            <a:off x="812767" y="1915244"/>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CCC00"/>
                </a:solidFill>
                <a:latin typeface="Source Sans 3" pitchFamily="34" charset="0"/>
                <a:ea typeface="Source Sans 3" pitchFamily="34" charset="-122"/>
                <a:cs typeface="Source Sans 3" pitchFamily="34" charset="-120"/>
              </a:rPr>
              <a:t>ASPECTO ESTRUCTURAL</a:t>
            </a:r>
            <a:endParaRPr lang="en-US" sz="1200" dirty="0"/>
          </a:p>
        </p:txBody>
      </p:sp>
      <p:sp>
        <p:nvSpPr>
          <p:cNvPr id="4" name="Text 1"/>
          <p:cNvSpPr/>
          <p:nvPr>
            <p:ph type="title"/>
          </p:nvPr>
        </p:nvSpPr>
        <p:spPr>
          <a:xfrm>
            <a:off x="812767" y="2433340"/>
            <a:ext cx="8502650" cy="1945531"/>
          </a:xfrm>
          <a:prstGeom prst="rect">
            <a:avLst/>
          </a:prstGeom>
          <a:noFill/>
          <a:ln/>
        </p:spPr>
        <p:txBody>
          <a:bodyPr wrap="square" lIns="0" tIns="0" rIns="0" bIns="0" rtlCol="0" anchor="t">
            <a:normAutofit/>
          </a:bodyPr>
          <a:lstStyle/>
          <a:p>
            <a:pPr algn="l" indent="0" marL="0">
              <a:lnSpc>
                <a:spcPts val="5040"/>
              </a:lnSpc>
              <a:buNone/>
            </a:pPr>
            <a:r>
              <a:rPr lang="en-US" sz="4800" b="1" i="0" spc="-50" kern="0" dirty="0">
                <a:solidFill>
                  <a:srgbClr val="FFFFFF"/>
                </a:solidFill>
                <a:latin typeface="Source Sans 3" pitchFamily="34" charset="0"/>
                <a:ea typeface="Source Sans 3" pitchFamily="34" charset="-122"/>
                <a:cs typeface="Source Sans 3" pitchFamily="34" charset="-120"/>
              </a:rPr>
              <a:t>La interseccionalidad: principio constitucional y herramienta hermenéutica</a:t>
            </a:r>
            <a:endParaRPr lang="en-US" sz="4800" dirty="0"/>
          </a:p>
        </p:txBody>
      </p:sp>
      <p:sp>
        <p:nvSpPr>
          <p:cNvPr id="5" name="Text 2"/>
          <p:cNvSpPr/>
          <p:nvPr/>
        </p:nvSpPr>
        <p:spPr>
          <a:xfrm>
            <a:off x="812767" y="4658221"/>
            <a:ext cx="10883460" cy="309910"/>
          </a:xfrm>
          <a:prstGeom prst="rect">
            <a:avLst/>
          </a:prstGeom>
          <a:noFill/>
          <a:ln/>
        </p:spPr>
        <p:txBody>
          <a:bodyPr wrap="square" lIns="0" tIns="0" rIns="0" bIns="0" rtlCol="0" anchor="t">
            <a:normAutofit/>
          </a:bodyPr>
          <a:lstStyle/>
          <a:p>
            <a:pPr algn="l" indent="0" marL="0">
              <a:lnSpc>
                <a:spcPts val="2240"/>
              </a:lnSpc>
              <a:buNone/>
            </a:pPr>
            <a:r>
              <a:rPr lang="en-US" sz="1600" i="1" dirty="0">
                <a:solidFill>
                  <a:srgbClr val="D6E6EE"/>
                </a:solidFill>
                <a:latin typeface="Source Sans 3" pitchFamily="34" charset="0"/>
                <a:ea typeface="Source Sans 3" pitchFamily="34" charset="-122"/>
                <a:cs typeface="Source Sans 3" pitchFamily="34" charset="-120"/>
              </a:rPr>
              <a:t>A interseccionalidade: princípio constitucional e ferramenta hermenêutica</a:t>
            </a:r>
            <a:endParaRPr lang="en-US" sz="1600" dirty="0"/>
          </a:p>
        </p:txBody>
      </p:sp>
    </p:spTree>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767" y="812750"/>
            <a:ext cx="108834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C5837"/>
                </a:solidFill>
                <a:latin typeface="Source Sans 3" pitchFamily="34" charset="0"/>
                <a:ea typeface="Source Sans 3" pitchFamily="34" charset="-122"/>
                <a:cs typeface="Source Sans 3" pitchFamily="34" charset="-120"/>
              </a:rPr>
              <a:t>BIBLIOGRAFÍA</a:t>
            </a:r>
            <a:endParaRPr lang="en-US" sz="1200" dirty="0"/>
          </a:p>
        </p:txBody>
      </p:sp>
      <p:sp>
        <p:nvSpPr>
          <p:cNvPr id="3" name="Text 1"/>
          <p:cNvSpPr/>
          <p:nvPr>
            <p:ph type="title"/>
          </p:nvPr>
        </p:nvSpPr>
        <p:spPr>
          <a:xfrm>
            <a:off x="812767" y="1127621"/>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A1A1A"/>
                </a:solidFill>
                <a:latin typeface="Source Sans 3" pitchFamily="34" charset="0"/>
                <a:ea typeface="Source Sans 3" pitchFamily="34" charset="-122"/>
                <a:cs typeface="Source Sans 3" pitchFamily="34" charset="-120"/>
              </a:rPr>
              <a:t>Referencias</a:t>
            </a:r>
            <a:endParaRPr lang="en-US" sz="3200" dirty="0"/>
          </a:p>
        </p:txBody>
      </p:sp>
      <p:sp>
        <p:nvSpPr>
          <p:cNvPr id="4" name="Shape 2"/>
          <p:cNvSpPr/>
          <p:nvPr/>
        </p:nvSpPr>
        <p:spPr>
          <a:xfrm>
            <a:off x="812767" y="1676127"/>
            <a:ext cx="762000" cy="50767"/>
          </a:xfrm>
          <a:prstGeom prst="rect">
            <a:avLst/>
          </a:prstGeom>
          <a:solidFill>
            <a:srgbClr val="FC8400"/>
          </a:solidFill>
          <a:ln/>
        </p:spPr>
      </p:sp>
      <p:sp>
        <p:nvSpPr>
          <p:cNvPr id="5" name="Shape 3"/>
          <p:cNvSpPr/>
          <p:nvPr/>
        </p:nvSpPr>
        <p:spPr>
          <a:xfrm>
            <a:off x="825467" y="2031653"/>
            <a:ext cx="0" cy="239365"/>
          </a:xfrm>
          <a:prstGeom prst="line">
            <a:avLst/>
          </a:prstGeom>
          <a:noFill/>
          <a:ln w="25400">
            <a:solidFill>
              <a:srgbClr val="C9CFD2"/>
            </a:solidFill>
            <a:prstDash val="solid"/>
          </a:ln>
        </p:spPr>
      </p:sp>
      <p:sp>
        <p:nvSpPr>
          <p:cNvPr id="6" name="Text 4"/>
          <p:cNvSpPr/>
          <p:nvPr/>
        </p:nvSpPr>
        <p:spPr>
          <a:xfrm>
            <a:off x="986334" y="2031653"/>
            <a:ext cx="10704686"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A1A1A"/>
                </a:solidFill>
                <a:latin typeface="Source Sans 3" pitchFamily="34" charset="0"/>
                <a:ea typeface="Source Sans 3" pitchFamily="34" charset="-122"/>
                <a:cs typeface="Source Sans 3" pitchFamily="34" charset="-120"/>
              </a:rPr>
              <a:t>Viveros, M. (2016). La interseccionalidad: una aproximación situada a la dominación. </a:t>
            </a:r>
            <a:r>
              <a:rPr lang="en-US" sz="1300" i="1" dirty="0">
                <a:solidFill>
                  <a:srgbClr val="1A1A1A"/>
                </a:solidFill>
                <a:latin typeface="Source Sans 3" pitchFamily="34" charset="0"/>
                <a:ea typeface="Source Sans 3" pitchFamily="34" charset="-122"/>
                <a:cs typeface="Source Sans 3" pitchFamily="34" charset="-120"/>
              </a:rPr>
              <a:t>Debate Feminista</a:t>
            </a:r>
            <a:r>
              <a:rPr lang="en-US" sz="1300" dirty="0">
                <a:solidFill>
                  <a:srgbClr val="1A1A1A"/>
                </a:solidFill>
                <a:latin typeface="Source Sans 3" pitchFamily="34" charset="0"/>
                <a:ea typeface="Source Sans 3" pitchFamily="34" charset="-122"/>
                <a:cs typeface="Source Sans 3" pitchFamily="34" charset="-120"/>
              </a:rPr>
              <a:t>, 52, 1-17. </a:t>
            </a:r>
            <a:r>
              <a:rPr lang="en-US" sz="1300" u="sng" dirty="0">
                <a:solidFill>
                  <a:srgbClr val="00549C"/>
                </a:solidFill>
                <a:latin typeface="Source Sans 3" pitchFamily="34" charset="0"/>
                <a:ea typeface="Source Sans 3" pitchFamily="34" charset="-122"/>
                <a:cs typeface="Source Sans 3" pitchFamily="34" charset="-120"/>
                <a:hlinkClick r:id="rId1" invalidUrl="" action="" tgtFrame="" tooltip="" history="1" highlightClick="0" endSnd="0">
                  <a:extLst>
                    <a:ext uri="{A12FA001-AC4F-418D-AE19-62706E023703}">
                      <ahyp:hlinkClr xmlns:ahyp="http://schemas.microsoft.com/office/drawing/2018/hyperlinkcolor" val="tx"/>
                    </a:ext>
                  </a:extLst>
                </a:hlinkClick>
              </a:rPr>
              <a:t>doi.org/10.1016/j.df.2016.09.005</a:t>
            </a:r>
            <a:endParaRPr lang="en-US" sz="1300" dirty="0"/>
          </a:p>
        </p:txBody>
      </p:sp>
      <p:sp>
        <p:nvSpPr>
          <p:cNvPr id="7" name="Shape 5"/>
          <p:cNvSpPr/>
          <p:nvPr/>
        </p:nvSpPr>
        <p:spPr>
          <a:xfrm>
            <a:off x="825467" y="2448793"/>
            <a:ext cx="0" cy="478730"/>
          </a:xfrm>
          <a:prstGeom prst="line">
            <a:avLst/>
          </a:prstGeom>
          <a:noFill/>
          <a:ln w="25400">
            <a:solidFill>
              <a:srgbClr val="C9CFD2"/>
            </a:solidFill>
            <a:prstDash val="solid"/>
          </a:ln>
        </p:spPr>
      </p:sp>
      <p:sp>
        <p:nvSpPr>
          <p:cNvPr id="8" name="Text 6"/>
          <p:cNvSpPr/>
          <p:nvPr/>
        </p:nvSpPr>
        <p:spPr>
          <a:xfrm>
            <a:off x="986334" y="2448793"/>
            <a:ext cx="10704686"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A1A1A"/>
                </a:solidFill>
                <a:latin typeface="Source Sans 3" pitchFamily="34" charset="0"/>
                <a:ea typeface="Source Sans 3" pitchFamily="34" charset="-122"/>
                <a:cs typeface="Source Sans 3" pitchFamily="34" charset="-120"/>
              </a:rPr>
              <a:t>León Díaz, R. E. (2020). El enfoque diferencial étnico-racial para personas, colectivos, comunidades y pueblos negros, afrocolombianos, raizales y palenqueros. Reflexiones para la práctica. </a:t>
            </a:r>
            <a:r>
              <a:rPr lang="en-US" sz="1300" i="1" dirty="0">
                <a:solidFill>
                  <a:srgbClr val="1A1A1A"/>
                </a:solidFill>
                <a:latin typeface="Source Sans 3" pitchFamily="34" charset="0"/>
                <a:ea typeface="Source Sans 3" pitchFamily="34" charset="-122"/>
                <a:cs typeface="Source Sans 3" pitchFamily="34" charset="-120"/>
              </a:rPr>
              <a:t>Trabajo Social</a:t>
            </a:r>
            <a:r>
              <a:rPr lang="en-US" sz="1300" dirty="0">
                <a:solidFill>
                  <a:srgbClr val="1A1A1A"/>
                </a:solidFill>
                <a:latin typeface="Source Sans 3" pitchFamily="34" charset="0"/>
                <a:ea typeface="Source Sans 3" pitchFamily="34" charset="-122"/>
                <a:cs typeface="Source Sans 3" pitchFamily="34" charset="-120"/>
              </a:rPr>
              <a:t>, 22(1), 33-63. Universidad Nacional de Colombia. </a:t>
            </a:r>
            <a:r>
              <a:rPr lang="en-US" sz="1300" u="sng" dirty="0">
                <a:solidFill>
                  <a:srgbClr val="00549C"/>
                </a:solidFill>
                <a:latin typeface="Source Sans 3" pitchFamily="34" charset="0"/>
                <a:ea typeface="Source Sans 3" pitchFamily="34" charset="-122"/>
                <a:cs typeface="Source Sans 3"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doi.org/10.15446/ts.v22n1.78887</a:t>
            </a:r>
            <a:endParaRPr lang="en-US" sz="1300" dirty="0"/>
          </a:p>
        </p:txBody>
      </p:sp>
      <p:sp>
        <p:nvSpPr>
          <p:cNvPr id="9" name="Shape 7"/>
          <p:cNvSpPr/>
          <p:nvPr/>
        </p:nvSpPr>
        <p:spPr>
          <a:xfrm>
            <a:off x="825467" y="3105299"/>
            <a:ext cx="0" cy="478730"/>
          </a:xfrm>
          <a:prstGeom prst="line">
            <a:avLst/>
          </a:prstGeom>
          <a:noFill/>
          <a:ln w="25400">
            <a:solidFill>
              <a:srgbClr val="C9CFD2"/>
            </a:solidFill>
            <a:prstDash val="solid"/>
          </a:ln>
        </p:spPr>
      </p:sp>
      <p:sp>
        <p:nvSpPr>
          <p:cNvPr id="10" name="Text 8"/>
          <p:cNvSpPr/>
          <p:nvPr/>
        </p:nvSpPr>
        <p:spPr>
          <a:xfrm>
            <a:off x="986334" y="3105299"/>
            <a:ext cx="10704686"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A1A1A"/>
                </a:solidFill>
                <a:latin typeface="Source Sans 3" pitchFamily="34" charset="0"/>
                <a:ea typeface="Source Sans 3" pitchFamily="34" charset="-122"/>
                <a:cs typeface="Source Sans 3" pitchFamily="34" charset="-120"/>
              </a:rPr>
              <a:t>CEPAL y UNFPA (2020) · CEPAL (2018) · Comisión Interamericana de Derechos Humanos (2023) · Naciones Unidas y RCP LAC (2024) · Jurisdicción Especial para la Paz (2023) · Ávila, L. (2023)</a:t>
            </a:r>
            <a:endParaRPr lang="en-US" sz="1300" dirty="0"/>
          </a:p>
        </p:txBody>
      </p:sp>
      <p:sp>
        <p:nvSpPr>
          <p:cNvPr id="11" name="Shape 9"/>
          <p:cNvSpPr/>
          <p:nvPr/>
        </p:nvSpPr>
        <p:spPr>
          <a:xfrm>
            <a:off x="825467" y="3761780"/>
            <a:ext cx="0" cy="478730"/>
          </a:xfrm>
          <a:prstGeom prst="line">
            <a:avLst/>
          </a:prstGeom>
          <a:noFill/>
          <a:ln w="25400">
            <a:solidFill>
              <a:srgbClr val="C9CFD2"/>
            </a:solidFill>
            <a:prstDash val="solid"/>
          </a:ln>
        </p:spPr>
      </p:sp>
      <p:sp>
        <p:nvSpPr>
          <p:cNvPr id="12" name="Text 10"/>
          <p:cNvSpPr/>
          <p:nvPr/>
        </p:nvSpPr>
        <p:spPr>
          <a:xfrm>
            <a:off x="986334" y="3761780"/>
            <a:ext cx="10704686"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A1A1A"/>
                </a:solidFill>
                <a:latin typeface="Source Sans 3" pitchFamily="34" charset="0"/>
                <a:ea typeface="Source Sans 3" pitchFamily="34" charset="-122"/>
                <a:cs typeface="Source Sans 3" pitchFamily="34" charset="-120"/>
              </a:rPr>
              <a:t>Corte Constitucional de Colombia: T-136 de 2013, T-410 de 2021, T-128 de 2022, SU-067 de 2023, T-510 de 2025, T-110 de 2026 · Corte Suprema de Justicia: SL3462-2021 · Constitución Federal del Brasil (1988) · Ley 12.711 de 2012</a:t>
            </a:r>
            <a:endParaRPr lang="en-US" sz="1300" dirty="0"/>
          </a:p>
        </p:txBody>
      </p:sp>
      <p:sp>
        <p:nvSpPr>
          <p:cNvPr id="13" name="Text 11"/>
          <p:cNvSpPr/>
          <p:nvPr/>
        </p:nvSpPr>
        <p:spPr>
          <a:xfrm>
            <a:off x="7454933" y="6238280"/>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85757"/>
                </a:solidFill>
                <a:latin typeface="Source Sans 3" pitchFamily="34" charset="0"/>
                <a:ea typeface="Source Sans 3" pitchFamily="34" charset="-122"/>
                <a:cs typeface="Source Sans 3" pitchFamily="34" charset="-120"/>
              </a:rPr>
              <a:t>Hinestroza Cuesta · UTCH</a:t>
            </a:r>
            <a:endParaRPr lang="en-US" sz="1200" dirty="0"/>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E171B"/>
        </a:solidFill>
      </p:bgPr>
    </p:bg>
    <p:spTree>
      <p:nvGrpSpPr>
        <p:cNvPr id="1" name=""/>
        <p:cNvGrpSpPr/>
        <p:nvPr/>
      </p:nvGrpSpPr>
      <p:grpSpPr>
        <a:xfrm>
          <a:off x="0" y="0"/>
          <a:ext cx="0" cy="0"/>
          <a:chOff x="0" y="0"/>
          <a:chExt cx="0" cy="0"/>
        </a:xfrm>
      </p:grpSpPr>
      <p:pic>
        <p:nvPicPr>
          <p:cNvPr id="2" name="Image 0" descr="Malecón de Quibdó y la Catedral de San Francisco de Asís vistos desde el río Atrato">    </p:cNvPr>
          <p:cNvPicPr>
            <a:picLocks noChangeAspect="1"/>
          </p:cNvPicPr>
          <p:nvPr/>
        </p:nvPicPr>
        <p:blipFill>
          <a:blip r:embed="rId1"/>
          <a:srcRect l="0" r="0" t="28906" b="28906"/>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0E171B">
                  <a:alpha val="92000"/>
                </a:srgbClr>
              </a:gs>
              <a:gs pos="45000">
                <a:srgbClr val="0E171B">
                  <a:alpha val="55000"/>
                </a:srgbClr>
              </a:gs>
              <a:gs pos="100000">
                <a:srgbClr val="0E171B">
                  <a:alpha val="5000"/>
                </a:srgbClr>
              </a:gs>
            </a:gsLst>
            <a:lin ang="16200000" scaled="0"/>
          </a:gradFill>
          <a:ln/>
        </p:spPr>
      </p:sp>
      <p:sp>
        <p:nvSpPr>
          <p:cNvPr id="4" name="Text 1"/>
          <p:cNvSpPr/>
          <p:nvPr>
            <p:ph type="title"/>
          </p:nvPr>
        </p:nvSpPr>
        <p:spPr>
          <a:xfrm>
            <a:off x="812767" y="3302000"/>
            <a:ext cx="9156700" cy="1041400"/>
          </a:xfrm>
          <a:prstGeom prst="rect">
            <a:avLst/>
          </a:prstGeom>
          <a:noFill/>
          <a:ln/>
        </p:spPr>
        <p:txBody>
          <a:bodyPr wrap="square" lIns="0" tIns="0" rIns="0" bIns="0" rtlCol="0" anchor="t">
            <a:normAutofit/>
          </a:bodyPr>
          <a:lstStyle/>
          <a:p>
            <a:pPr algn="l" indent="0" marL="0">
              <a:lnSpc>
                <a:spcPts val="8000"/>
              </a:lnSpc>
              <a:buNone/>
            </a:pPr>
            <a:r>
              <a:rPr lang="en-US" sz="8000" b="1" i="0" spc="-150" kern="0" dirty="0">
                <a:solidFill>
                  <a:srgbClr val="FFFFFF"/>
                </a:solidFill>
                <a:latin typeface="Source Sans 3" pitchFamily="34" charset="0"/>
                <a:ea typeface="Source Sans 3" pitchFamily="34" charset="-122"/>
                <a:cs typeface="Source Sans 3" pitchFamily="34" charset="-120"/>
              </a:rPr>
              <a:t>Gracias</a:t>
            </a:r>
            <a:endParaRPr lang="en-US" sz="8000" dirty="0"/>
          </a:p>
        </p:txBody>
      </p:sp>
      <p:sp>
        <p:nvSpPr>
          <p:cNvPr id="5" name="Text 2"/>
          <p:cNvSpPr/>
          <p:nvPr/>
        </p:nvSpPr>
        <p:spPr>
          <a:xfrm>
            <a:off x="812767" y="4445000"/>
            <a:ext cx="9156700" cy="523230"/>
          </a:xfrm>
          <a:prstGeom prst="rect">
            <a:avLst/>
          </a:prstGeom>
          <a:noFill/>
          <a:ln/>
        </p:spPr>
        <p:txBody>
          <a:bodyPr wrap="square" lIns="0" tIns="0" rIns="0" bIns="0" rtlCol="0" anchor="t">
            <a:normAutofit/>
          </a:bodyPr>
          <a:lstStyle/>
          <a:p>
            <a:pPr algn="l" indent="0" marL="0">
              <a:lnSpc>
                <a:spcPts val="3920"/>
              </a:lnSpc>
              <a:buNone/>
            </a:pPr>
            <a:r>
              <a:rPr lang="en-US" sz="2800" i="1" dirty="0">
                <a:solidFill>
                  <a:srgbClr val="FCCC00"/>
                </a:solidFill>
                <a:latin typeface="Source Sans 3" pitchFamily="34" charset="0"/>
                <a:ea typeface="Source Sans 3" pitchFamily="34" charset="-122"/>
                <a:cs typeface="Source Sans 3" pitchFamily="34" charset="-120"/>
              </a:rPr>
              <a:t>Obrigada</a:t>
            </a:r>
            <a:endParaRPr lang="en-US" sz="2800" dirty="0"/>
          </a:p>
        </p:txBody>
      </p:sp>
      <p:sp>
        <p:nvSpPr>
          <p:cNvPr id="6" name="Shape 3"/>
          <p:cNvSpPr/>
          <p:nvPr/>
        </p:nvSpPr>
        <p:spPr>
          <a:xfrm>
            <a:off x="812767" y="5080000"/>
            <a:ext cx="762000" cy="50767"/>
          </a:xfrm>
          <a:prstGeom prst="rect">
            <a:avLst/>
          </a:prstGeom>
          <a:solidFill>
            <a:srgbClr val="FC8400"/>
          </a:solidFill>
          <a:ln/>
        </p:spPr>
      </p:sp>
      <p:sp>
        <p:nvSpPr>
          <p:cNvPr id="7" name="Text 4"/>
          <p:cNvSpPr/>
          <p:nvPr/>
        </p:nvSpPr>
        <p:spPr>
          <a:xfrm>
            <a:off x="812767" y="5308526"/>
            <a:ext cx="9156700" cy="558701"/>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2F2F2"/>
                </a:solidFill>
                <a:latin typeface="Source Sans 3" pitchFamily="34" charset="0"/>
                <a:ea typeface="Source Sans 3" pitchFamily="34" charset="-122"/>
                <a:cs typeface="Source Sans 3" pitchFamily="34" charset="-120"/>
              </a:rPr>
              <a:t>Lisneider Hinestroza Cuesta · Grupo GIDSMA</a:t>
            </a:r>
            <a:endParaRPr lang="en-US" sz="1500" dirty="0"/>
          </a:p>
          <a:p>
            <a:pPr algn="l" indent="0" marL="0">
              <a:lnSpc>
                <a:spcPts val="2100"/>
              </a:lnSpc>
              <a:buNone/>
            </a:pPr>
            <a:r>
              <a:rPr lang="en-US" sz="1500" dirty="0">
                <a:solidFill>
                  <a:srgbClr val="F2F2F2"/>
                </a:solidFill>
                <a:latin typeface="Source Sans 3" pitchFamily="34" charset="0"/>
                <a:ea typeface="Source Sans 3" pitchFamily="34" charset="-122"/>
                <a:cs typeface="Source Sans 3" pitchFamily="34" charset="-120"/>
              </a:rPr>
              <a:t>Universidad Tecnológica del Chocó «Diego Luis Córdoba»</a:t>
            </a:r>
            <a:endParaRPr lang="en-US" sz="1500" dirty="0"/>
          </a:p>
        </p:txBody>
      </p:sp>
      <p:sp>
        <p:nvSpPr>
          <p:cNvPr id="8" name="Text 5"/>
          <p:cNvSpPr/>
          <p:nvPr/>
        </p:nvSpPr>
        <p:spPr>
          <a:xfrm>
            <a:off x="7454933" y="6238280"/>
            <a:ext cx="3924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D0D4D6"/>
                </a:solidFill>
                <a:latin typeface="Source Sans 3" pitchFamily="34" charset="0"/>
                <a:ea typeface="Source Sans 3" pitchFamily="34" charset="-122"/>
                <a:cs typeface="Source Sans 3" pitchFamily="34" charset="-120"/>
              </a:rPr>
              <a:t>Quibdó, Chocó · río Atrato</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cond evt="onBegin" delay="0">
                          <p:tn val="2"/>
                        </p:cond>
                      </p:stCondLst>
                      <p:childTnLst>
                        <p:par>
                          <p:cTn id="9" fill="hold">
                            <p:stCondLst>
                              <p:cond delay="0"/>
                            </p:stCondLst>
                            <p:childTnLst>
                              <p:par>
                                <p:cTn id="7" presetID="42" presetClass="entr" presetSubtype="0" fill="hold" grpId="0" nodeType="afterEffect">
                                  <p:stCondLst>
                                    <p:cond delay="30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600"/>
                                        <p:tgtEl>
                                          <p:spTgt spid="4"/>
                                        </p:tgtEl>
                                      </p:cBhvr>
                                    </p:animEffect>
                                    <p:anim calcmode="lin" valueType="num">
                                      <p:cBhvr>
                                        <p:cTn id="5" dur="600" decel="100000" fill="hold"/>
                                        <p:tgtEl>
                                          <p:spTgt spid="4"/>
                                        </p:tgtEl>
                                        <p:attrNameLst>
                                          <p:attrName>ppt_x</p:attrName>
                                        </p:attrNameLst>
                                      </p:cBhvr>
                                      <p:tavLst>
                                        <p:tav tm="0">
                                          <p:val>
                                            <p:strVal val="#ppt_x"/>
                                          </p:val>
                                        </p:tav>
                                        <p:tav tm="100000">
                                          <p:val>
                                            <p:strVal val="#ppt_x"/>
                                          </p:val>
                                        </p:tav>
                                      </p:tavLst>
                                    </p:anim>
                                    <p:anim calcmode="lin" valueType="num">
                                      <p:cBhvr>
                                        <p:cTn id="6" dur="600" decel="100000" fill="hold"/>
                                        <p:tgtEl>
                                          <p:spTgt spid="4"/>
                                        </p:tgtEl>
                                        <p:attrNameLst>
                                          <p:attrName>ppt_y</p:attrName>
                                        </p:attrNameLst>
                                      </p:cBhvr>
                                      <p:tavLst>
                                        <p:tav tm="0">
                                          <p:val>
                                            <p:strVal val="#ppt_y+.06"/>
                                          </p:val>
                                        </p:tav>
                                        <p:tav tm="100000">
                                          <p:val>
                                            <p:strVal val="#ppt_y"/>
                                          </p:val>
                                        </p:tav>
                                      </p:tavLst>
                                    </p:anim>
                                  </p:childTnLst>
                                </p:cTn>
                              </p:par>
                            </p:childTnLst>
                          </p:cTn>
                        </p:par>
                      </p:childTnLst>
                    </p:cTn>
                  </p:par>
                  <p:par>
                    <p:cTn id="15" fill="hold">
                      <p:stCondLst>
                        <p:cond delay="indefinite"/>
                        <p:cond evt="onBegin" delay="0">
                          <p:tn val="2"/>
                        </p:cond>
                      </p:stCondLst>
                      <p:childTnLst>
                        <p:par>
                          <p:cTn id="16" fill="hold">
                            <p:stCondLst>
                              <p:cond delay="0"/>
                            </p:stCondLst>
                            <p:childTnLst>
                              <p:par>
                                <p:cTn id="14" presetID="42" presetClass="entr" presetSubtype="0" fill="hold" grpId="0" nodeType="afterEffect">
                                  <p:stCondLst>
                                    <p:cond delay="80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600"/>
                                        <p:tgtEl>
                                          <p:spTgt spid="5"/>
                                        </p:tgtEl>
                                      </p:cBhvr>
                                    </p:animEffect>
                                    <p:anim calcmode="lin" valueType="num">
                                      <p:cBhvr>
                                        <p:cTn id="12" dur="600" decel="100000" fill="hold"/>
                                        <p:tgtEl>
                                          <p:spTgt spid="5"/>
                                        </p:tgtEl>
                                        <p:attrNameLst>
                                          <p:attrName>ppt_x</p:attrName>
                                        </p:attrNameLst>
                                      </p:cBhvr>
                                      <p:tavLst>
                                        <p:tav tm="0">
                                          <p:val>
                                            <p:strVal val="#ppt_x"/>
                                          </p:val>
                                        </p:tav>
                                        <p:tav tm="100000">
                                          <p:val>
                                            <p:strVal val="#ppt_x"/>
                                          </p:val>
                                        </p:tav>
                                      </p:tavLst>
                                    </p:anim>
                                    <p:anim calcmode="lin" valueType="num">
                                      <p:cBhvr>
                                        <p:cTn id="13" dur="600" decel="100000" fill="hold"/>
                                        <p:tgtEl>
                                          <p:spTgt spid="5"/>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theme/theme1.xml><?xml version="1.0" encoding="utf-8"?>
<a:theme xmlns:a="http://schemas.openxmlformats.org/drawingml/2006/main" name="La interseccionalidad como principio constitucional y deber judicial">
  <a:themeElements>
    <a:clrScheme name="La interseccionalidad como principio constitucional y deber judicial">
      <a:dk1>
        <a:srgbClr val="1A1A1A"/>
      </a:dk1>
      <a:lt1>
        <a:srgbClr val="FFFFFF"/>
      </a:lt1>
      <a:dk2>
        <a:srgbClr val="535353"/>
      </a:dk2>
      <a:lt2>
        <a:srgbClr val="E8E8E8"/>
      </a:lt2>
      <a:accent1>
        <a:srgbClr val="FC8400"/>
      </a:accent1>
      <a:accent2>
        <a:srgbClr val="0C5837"/>
      </a:accent2>
      <a:accent3>
        <a:srgbClr val="156082"/>
      </a:accent3>
      <a:accent4>
        <a:srgbClr val="FCCC00"/>
      </a:accent4>
      <a:accent5>
        <a:srgbClr val="C8102E"/>
      </a:accent5>
      <a:accent6>
        <a:srgbClr val="585757"/>
      </a:accent6>
      <a:hlink>
        <a:srgbClr val="0563C1"/>
      </a:hlink>
      <a:folHlink>
        <a:srgbClr val="954F72"/>
      </a:folHlink>
    </a:clrScheme>
    <a:fontScheme name="La interseccionalidad como principio constitucional y deber judicial">
      <a:majorFont>
        <a:latin typeface="Source Sans 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ource Sans 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interseccionalidad como principio constitucional y deber judicial</dc:title>
  <dc:subject/>
  <dc:creator/>
  <cp:lastModifiedBy/>
  <cp:revision>1</cp:revision>
  <dcterms:created xsi:type="dcterms:W3CDTF">2026-10-15T19:10:29Z</dcterms:created>
  <dcterms:modified xsi:type="dcterms:W3CDTF">2026-10-15T19:10:29Z</dcterms:modified>
</cp:coreProperties>
</file>